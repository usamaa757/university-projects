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805" r:id="rId1"/>
  </p:sldMasterIdLst>
  <p:sldIdLst>
    <p:sldId id="336" r:id="rId2"/>
    <p:sldId id="256" r:id="rId3"/>
    <p:sldId id="337" r:id="rId4"/>
    <p:sldId id="338" r:id="rId5"/>
    <p:sldId id="346" r:id="rId6"/>
    <p:sldId id="341" r:id="rId7"/>
    <p:sldId id="260" r:id="rId8"/>
    <p:sldId id="404" r:id="rId9"/>
    <p:sldId id="273" r:id="rId10"/>
    <p:sldId id="344" r:id="rId11"/>
    <p:sldId id="278" r:id="rId12"/>
    <p:sldId id="284" r:id="rId13"/>
    <p:sldId id="371" r:id="rId14"/>
    <p:sldId id="372" r:id="rId15"/>
    <p:sldId id="373" r:id="rId16"/>
    <p:sldId id="405" r:id="rId17"/>
    <p:sldId id="406" r:id="rId18"/>
    <p:sldId id="407" r:id="rId19"/>
    <p:sldId id="408" r:id="rId20"/>
    <p:sldId id="409" r:id="rId21"/>
    <p:sldId id="410" r:id="rId22"/>
    <p:sldId id="403" r:id="rId23"/>
    <p:sldId id="285" r:id="rId24"/>
    <p:sldId id="286" r:id="rId25"/>
    <p:sldId id="345" r:id="rId26"/>
    <p:sldId id="368" r:id="rId27"/>
    <p:sldId id="369" r:id="rId28"/>
    <p:sldId id="370" r:id="rId29"/>
    <p:sldId id="290" r:id="rId30"/>
    <p:sldId id="367"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26" autoAdjust="0"/>
  </p:normalViewPr>
  <p:slideViewPr>
    <p:cSldViewPr snapToGrid="0">
      <p:cViewPr>
        <p:scale>
          <a:sx n="33" d="100"/>
          <a:sy n="33" d="100"/>
        </p:scale>
        <p:origin x="2178" y="8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C87A38-B940-40B9-9CBB-EFD0F33F588B}" type="datetimeFigureOut">
              <a:rPr lang="en-PK" smtClean="0"/>
              <a:t>11/24/2025</a:t>
            </a:fld>
            <a:endParaRPr lang="en-PK"/>
          </a:p>
        </p:txBody>
      </p:sp>
      <p:sp>
        <p:nvSpPr>
          <p:cNvPr id="5" name="Footer Placeholder 4"/>
          <p:cNvSpPr>
            <a:spLocks noGrp="1"/>
          </p:cNvSpPr>
          <p:nvPr>
            <p:ph type="ftr" sz="quarter" idx="11"/>
          </p:nvPr>
        </p:nvSpPr>
        <p:spPr/>
        <p:txBody>
          <a:bodyPr/>
          <a:lstStyle/>
          <a:p>
            <a:endParaRPr lang="en-PK"/>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456306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C87A38-B940-40B9-9CBB-EFD0F33F588B}" type="datetimeFigureOut">
              <a:rPr lang="en-PK" smtClean="0"/>
              <a:t>11/24/2025</a:t>
            </a:fld>
            <a:endParaRPr lang="en-PK"/>
          </a:p>
        </p:txBody>
      </p:sp>
      <p:sp>
        <p:nvSpPr>
          <p:cNvPr id="5" name="Footer Placeholder 4"/>
          <p:cNvSpPr>
            <a:spLocks noGrp="1"/>
          </p:cNvSpPr>
          <p:nvPr>
            <p:ph type="ftr" sz="quarter" idx="11"/>
          </p:nvPr>
        </p:nvSpPr>
        <p:spPr/>
        <p:txBody>
          <a:bodyPr/>
          <a:lstStyle/>
          <a:p>
            <a:endParaRPr lang="en-PK"/>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050242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C87A38-B940-40B9-9CBB-EFD0F33F588B}" type="datetimeFigureOut">
              <a:rPr lang="en-PK" smtClean="0"/>
              <a:t>11/24/2025</a:t>
            </a:fld>
            <a:endParaRPr lang="en-PK"/>
          </a:p>
        </p:txBody>
      </p:sp>
      <p:sp>
        <p:nvSpPr>
          <p:cNvPr id="5" name="Footer Placeholder 4"/>
          <p:cNvSpPr>
            <a:spLocks noGrp="1"/>
          </p:cNvSpPr>
          <p:nvPr>
            <p:ph type="ftr" sz="quarter" idx="11"/>
          </p:nvPr>
        </p:nvSpPr>
        <p:spPr/>
        <p:txBody>
          <a:bodyPr/>
          <a:lstStyle/>
          <a:p>
            <a:endParaRPr lang="en-PK"/>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97453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3C87A38-B940-40B9-9CBB-EFD0F33F588B}" type="datetimeFigureOut">
              <a:rPr lang="en-PK" smtClean="0"/>
              <a:t>11/24/2025</a:t>
            </a:fld>
            <a:endParaRPr lang="en-PK"/>
          </a:p>
        </p:txBody>
      </p:sp>
      <p:sp>
        <p:nvSpPr>
          <p:cNvPr id="6" name="Footer Placeholder 5"/>
          <p:cNvSpPr>
            <a:spLocks noGrp="1"/>
          </p:cNvSpPr>
          <p:nvPr>
            <p:ph type="ftr" sz="quarter" idx="11"/>
          </p:nvPr>
        </p:nvSpPr>
        <p:spPr/>
        <p:txBody>
          <a:bodyPr/>
          <a:lstStyle/>
          <a:p>
            <a:endParaRPr lang="en-PK"/>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4089356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3C87A38-B940-40B9-9CBB-EFD0F33F588B}" type="datetimeFigureOut">
              <a:rPr lang="en-PK" smtClean="0"/>
              <a:t>11/24/2025</a:t>
            </a:fld>
            <a:endParaRPr lang="en-PK"/>
          </a:p>
        </p:txBody>
      </p:sp>
      <p:sp>
        <p:nvSpPr>
          <p:cNvPr id="8" name="Footer Placeholder 7"/>
          <p:cNvSpPr>
            <a:spLocks noGrp="1"/>
          </p:cNvSpPr>
          <p:nvPr>
            <p:ph type="ftr" sz="quarter" idx="11"/>
          </p:nvPr>
        </p:nvSpPr>
        <p:spPr/>
        <p:txBody>
          <a:bodyPr/>
          <a:lstStyle/>
          <a:p>
            <a:endParaRPr lang="en-PK"/>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4266911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3C87A38-B940-40B9-9CBB-EFD0F33F588B}" type="datetimeFigureOut">
              <a:rPr lang="en-PK" smtClean="0"/>
              <a:t>11/24/2025</a:t>
            </a:fld>
            <a:endParaRPr lang="en-PK"/>
          </a:p>
        </p:txBody>
      </p:sp>
      <p:sp>
        <p:nvSpPr>
          <p:cNvPr id="4" name="Footer Placeholder 3"/>
          <p:cNvSpPr>
            <a:spLocks noGrp="1"/>
          </p:cNvSpPr>
          <p:nvPr>
            <p:ph type="ftr" sz="quarter" idx="11"/>
          </p:nvPr>
        </p:nvSpPr>
        <p:spPr/>
        <p:txBody>
          <a:bodyPr/>
          <a:lstStyle/>
          <a:p>
            <a:endParaRPr lang="en-PK"/>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852013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C87A38-B940-40B9-9CBB-EFD0F33F588B}" type="datetimeFigureOut">
              <a:rPr lang="en-PK" smtClean="0"/>
              <a:t>11/24/2025</a:t>
            </a:fld>
            <a:endParaRPr lang="en-PK"/>
          </a:p>
        </p:txBody>
      </p:sp>
      <p:sp>
        <p:nvSpPr>
          <p:cNvPr id="3" name="Footer Placeholder 2"/>
          <p:cNvSpPr>
            <a:spLocks noGrp="1"/>
          </p:cNvSpPr>
          <p:nvPr>
            <p:ph type="ftr" sz="quarter" idx="11"/>
          </p:nvPr>
        </p:nvSpPr>
        <p:spPr/>
        <p:txBody>
          <a:bodyPr/>
          <a:lstStyle/>
          <a:p>
            <a:endParaRPr lang="en-PK"/>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532135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11/24/2025</a:t>
            </a:fld>
            <a:endParaRPr lang="en-PK"/>
          </a:p>
        </p:txBody>
      </p:sp>
      <p:sp>
        <p:nvSpPr>
          <p:cNvPr id="6" name="Footer Placeholder 5"/>
          <p:cNvSpPr>
            <a:spLocks noGrp="1"/>
          </p:cNvSpPr>
          <p:nvPr>
            <p:ph type="ftr" sz="quarter" idx="11"/>
          </p:nvPr>
        </p:nvSpPr>
        <p:spPr/>
        <p:txBody>
          <a:bodyPr/>
          <a:lstStyle/>
          <a:p>
            <a:endParaRPr lang="en-PK"/>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617246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11/24/2025</a:t>
            </a:fld>
            <a:endParaRPr lang="en-PK"/>
          </a:p>
        </p:txBody>
      </p:sp>
      <p:sp>
        <p:nvSpPr>
          <p:cNvPr id="6" name="Footer Placeholder 5"/>
          <p:cNvSpPr>
            <a:spLocks noGrp="1"/>
          </p:cNvSpPr>
          <p:nvPr>
            <p:ph type="ftr" sz="quarter" idx="11"/>
          </p:nvPr>
        </p:nvSpPr>
        <p:spPr/>
        <p:txBody>
          <a:bodyPr/>
          <a:lstStyle/>
          <a:p>
            <a:endParaRPr lang="en-PK"/>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162943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C87A38-B940-40B9-9CBB-EFD0F33F588B}" type="datetimeFigureOut">
              <a:rPr lang="en-PK" smtClean="0"/>
              <a:t>11/24/2025</a:t>
            </a:fld>
            <a:endParaRPr lang="en-PK"/>
          </a:p>
        </p:txBody>
      </p:sp>
      <p:sp>
        <p:nvSpPr>
          <p:cNvPr id="5" name="Footer Placeholder 4"/>
          <p:cNvSpPr>
            <a:spLocks noGrp="1"/>
          </p:cNvSpPr>
          <p:nvPr>
            <p:ph type="ftr" sz="quarter" idx="11"/>
          </p:nvPr>
        </p:nvSpPr>
        <p:spPr/>
        <p:txBody>
          <a:bodyPr/>
          <a:lstStyle/>
          <a:p>
            <a:endParaRPr lang="en-PK"/>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736329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C87A38-B940-40B9-9CBB-EFD0F33F588B}" type="datetimeFigureOut">
              <a:rPr lang="en-PK" smtClean="0"/>
              <a:t>11/24/2025</a:t>
            </a:fld>
            <a:endParaRPr lang="en-PK"/>
          </a:p>
        </p:txBody>
      </p:sp>
      <p:sp>
        <p:nvSpPr>
          <p:cNvPr id="5" name="Footer Placeholder 4"/>
          <p:cNvSpPr>
            <a:spLocks noGrp="1"/>
          </p:cNvSpPr>
          <p:nvPr>
            <p:ph type="ftr" sz="quarter" idx="11"/>
          </p:nvPr>
        </p:nvSpPr>
        <p:spPr/>
        <p:txBody>
          <a:bodyPr/>
          <a:lstStyle/>
          <a:p>
            <a:endParaRPr lang="en-PK"/>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9E98913-74CA-43B1-9369-69902D5C23D8}" type="slidenum">
              <a:rPr lang="en-PK" smtClean="0"/>
              <a:t>‹#›</a:t>
            </a:fld>
            <a:endParaRPr lang="en-PK"/>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06487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11/24/2025</a:t>
            </a:fld>
            <a:endParaRPr lang="en-PK"/>
          </a:p>
        </p:txBody>
      </p:sp>
      <p:sp>
        <p:nvSpPr>
          <p:cNvPr id="6" name="Footer Placeholder 5"/>
          <p:cNvSpPr>
            <a:spLocks noGrp="1"/>
          </p:cNvSpPr>
          <p:nvPr>
            <p:ph type="ftr" sz="quarter" idx="11"/>
          </p:nvPr>
        </p:nvSpPr>
        <p:spPr/>
        <p:txBody>
          <a:bodyPr/>
          <a:lstStyle/>
          <a:p>
            <a:endParaRPr lang="en-PK"/>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2148220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11/24/2025</a:t>
            </a:fld>
            <a:endParaRPr lang="en-PK"/>
          </a:p>
        </p:txBody>
      </p:sp>
      <p:sp>
        <p:nvSpPr>
          <p:cNvPr id="6" name="Footer Placeholder 5"/>
          <p:cNvSpPr>
            <a:spLocks noGrp="1"/>
          </p:cNvSpPr>
          <p:nvPr>
            <p:ph type="ftr" sz="quarter" idx="11"/>
          </p:nvPr>
        </p:nvSpPr>
        <p:spPr/>
        <p:txBody>
          <a:bodyPr/>
          <a:lstStyle/>
          <a:p>
            <a:endParaRPr lang="en-PK"/>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9E98913-74CA-43B1-9369-69902D5C23D8}" type="slidenum">
              <a:rPr lang="en-PK" smtClean="0"/>
              <a:t>‹#›</a:t>
            </a:fld>
            <a:endParaRPr lang="en-PK"/>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87890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3C87A38-B940-40B9-9CBB-EFD0F33F588B}" type="datetimeFigureOut">
              <a:rPr lang="en-PK" smtClean="0"/>
              <a:t>11/24/2025</a:t>
            </a:fld>
            <a:endParaRPr lang="en-PK"/>
          </a:p>
        </p:txBody>
      </p:sp>
      <p:sp>
        <p:nvSpPr>
          <p:cNvPr id="6" name="Footer Placeholder 5"/>
          <p:cNvSpPr>
            <a:spLocks noGrp="1"/>
          </p:cNvSpPr>
          <p:nvPr>
            <p:ph type="ftr" sz="quarter" idx="11"/>
          </p:nvPr>
        </p:nvSpPr>
        <p:spPr/>
        <p:txBody>
          <a:bodyPr/>
          <a:lstStyle/>
          <a:p>
            <a:endParaRPr lang="en-PK"/>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19580464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C87A38-B940-40B9-9CBB-EFD0F33F588B}" type="datetimeFigureOut">
              <a:rPr lang="en-PK" smtClean="0"/>
              <a:t>11/24/2025</a:t>
            </a:fld>
            <a:endParaRPr lang="en-PK"/>
          </a:p>
        </p:txBody>
      </p:sp>
      <p:sp>
        <p:nvSpPr>
          <p:cNvPr id="5" name="Footer Placeholder 4"/>
          <p:cNvSpPr>
            <a:spLocks noGrp="1"/>
          </p:cNvSpPr>
          <p:nvPr>
            <p:ph type="ftr" sz="quarter" idx="11"/>
          </p:nvPr>
        </p:nvSpPr>
        <p:spPr/>
        <p:txBody>
          <a:bodyPr/>
          <a:lstStyle/>
          <a:p>
            <a:endParaRPr lang="en-PK"/>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1970877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C87A38-B940-40B9-9CBB-EFD0F33F588B}" type="datetimeFigureOut">
              <a:rPr lang="en-PK" smtClean="0"/>
              <a:t>11/24/2025</a:t>
            </a:fld>
            <a:endParaRPr lang="en-PK"/>
          </a:p>
        </p:txBody>
      </p:sp>
      <p:sp>
        <p:nvSpPr>
          <p:cNvPr id="5" name="Footer Placeholder 4"/>
          <p:cNvSpPr>
            <a:spLocks noGrp="1"/>
          </p:cNvSpPr>
          <p:nvPr>
            <p:ph type="ftr" sz="quarter" idx="11"/>
          </p:nvPr>
        </p:nvSpPr>
        <p:spPr/>
        <p:txBody>
          <a:bodyPr/>
          <a:lstStyle/>
          <a:p>
            <a:endParaRPr lang="en-PK"/>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9E98913-74CA-43B1-9369-69902D5C23D8}" type="slidenum">
              <a:rPr lang="en-PK" smtClean="0"/>
              <a:t>‹#›</a:t>
            </a:fld>
            <a:endParaRPr lang="en-PK"/>
          </a:p>
        </p:txBody>
      </p:sp>
    </p:spTree>
    <p:extLst>
      <p:ext uri="{BB962C8B-B14F-4D97-AF65-F5344CB8AC3E}">
        <p14:creationId xmlns:p14="http://schemas.microsoft.com/office/powerpoint/2010/main" val="3654524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3C87A38-B940-40B9-9CBB-EFD0F33F588B}" type="datetimeFigureOut">
              <a:rPr lang="en-PK" smtClean="0"/>
              <a:t>11/24/2025</a:t>
            </a:fld>
            <a:endParaRPr lang="en-PK"/>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PK"/>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9E98913-74CA-43B1-9369-69902D5C23D8}" type="slidenum">
              <a:rPr lang="en-PK" smtClean="0"/>
              <a:t>‹#›</a:t>
            </a:fld>
            <a:endParaRPr lang="en-PK"/>
          </a:p>
        </p:txBody>
      </p:sp>
    </p:spTree>
    <p:extLst>
      <p:ext uri="{BB962C8B-B14F-4D97-AF65-F5344CB8AC3E}">
        <p14:creationId xmlns:p14="http://schemas.microsoft.com/office/powerpoint/2010/main" val="1764232342"/>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5" descr="t3">
            <a:extLst>
              <a:ext uri="{FF2B5EF4-FFF2-40B4-BE49-F238E27FC236}">
                <a16:creationId xmlns:a16="http://schemas.microsoft.com/office/drawing/2014/main" id="{8619FF7B-B84C-45A0-BC6E-3F96480C80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6246" y="125834"/>
            <a:ext cx="8704976" cy="5935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9EEEB-AAF2-4637-8557-FEAE1AF6FBFB}"/>
              </a:ext>
            </a:extLst>
          </p:cNvPr>
          <p:cNvSpPr>
            <a:spLocks noGrp="1"/>
          </p:cNvSpPr>
          <p:nvPr>
            <p:ph type="ctrTitle"/>
          </p:nvPr>
        </p:nvSpPr>
        <p:spPr/>
        <p:txBody>
          <a:bodyPr/>
          <a:lstStyle/>
          <a:p>
            <a:r>
              <a:rPr lang="en-US" dirty="0"/>
              <a:t>Project</a:t>
            </a:r>
            <a:endParaRPr lang="en-PK" dirty="0"/>
          </a:p>
        </p:txBody>
      </p:sp>
      <p:sp>
        <p:nvSpPr>
          <p:cNvPr id="3" name="Subtitle 2">
            <a:extLst>
              <a:ext uri="{FF2B5EF4-FFF2-40B4-BE49-F238E27FC236}">
                <a16:creationId xmlns:a16="http://schemas.microsoft.com/office/drawing/2014/main" id="{9A542A5A-808A-4634-BD80-06BE33E05D29}"/>
              </a:ext>
            </a:extLst>
          </p:cNvPr>
          <p:cNvSpPr>
            <a:spLocks noGrp="1"/>
          </p:cNvSpPr>
          <p:nvPr>
            <p:ph type="subTitle" idx="1"/>
          </p:nvPr>
        </p:nvSpPr>
        <p:spPr/>
        <p:txBody>
          <a:bodyPr/>
          <a:lstStyle/>
          <a:p>
            <a:r>
              <a:rPr lang="en-US" dirty="0"/>
              <a:t>PRESENTATION</a:t>
            </a:r>
            <a:endParaRPr lang="en-PK" dirty="0"/>
          </a:p>
        </p:txBody>
      </p:sp>
    </p:spTree>
    <p:extLst>
      <p:ext uri="{BB962C8B-B14F-4D97-AF65-F5344CB8AC3E}">
        <p14:creationId xmlns:p14="http://schemas.microsoft.com/office/powerpoint/2010/main" val="3925397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F0B6ED0-8CFC-411A-9AA3-A047F63F4029}"/>
              </a:ext>
            </a:extLst>
          </p:cNvPr>
          <p:cNvSpPr>
            <a:spLocks noGrp="1" noChangeArrowheads="1"/>
          </p:cNvSpPr>
          <p:nvPr>
            <p:ph type="ctrTitle"/>
          </p:nvPr>
        </p:nvSpPr>
        <p:spPr>
          <a:xfrm>
            <a:off x="2133600" y="1066800"/>
            <a:ext cx="8001000" cy="2743200"/>
          </a:xfrm>
        </p:spPr>
        <p:txBody>
          <a:bodyPr anchor="t"/>
          <a:lstStyle/>
          <a:p>
            <a:pPr algn="ctr">
              <a:defRPr/>
            </a:pPr>
            <a:r>
              <a:rPr lang="en-US" sz="5900" dirty="0"/>
              <a:t>VU Proctors-Diary</a:t>
            </a:r>
          </a:p>
        </p:txBody>
      </p:sp>
      <p:pic>
        <p:nvPicPr>
          <p:cNvPr id="3075" name="Picture 6" descr="C:\Users\usman.waheed\Desktop\vulogo.jpg">
            <a:extLst>
              <a:ext uri="{FF2B5EF4-FFF2-40B4-BE49-F238E27FC236}">
                <a16:creationId xmlns:a16="http://schemas.microsoft.com/office/drawing/2014/main" id="{D358361D-3476-4504-A630-AA4D56A36C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6831" y="3678573"/>
            <a:ext cx="201453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B62FCD9E-757B-46AC-A1AC-887CAF6D0A75}"/>
              </a:ext>
            </a:extLst>
          </p:cNvPr>
          <p:cNvSpPr>
            <a:spLocks noGrp="1" noChangeArrowheads="1"/>
          </p:cNvSpPr>
          <p:nvPr>
            <p:ph type="title"/>
          </p:nvPr>
        </p:nvSpPr>
        <p:spPr/>
        <p:txBody>
          <a:bodyPr>
            <a:normAutofit fontScale="90000"/>
          </a:bodyPr>
          <a:lstStyle/>
          <a:p>
            <a:pPr eaLnBrk="1" hangingPunct="1">
              <a:defRPr/>
            </a:pPr>
            <a:r>
              <a:rPr lang="en-US" sz="5900" dirty="0">
                <a:solidFill>
                  <a:srgbClr val="0000FF"/>
                </a:solidFill>
              </a:rPr>
              <a:t>Group Members Introduction</a:t>
            </a:r>
          </a:p>
        </p:txBody>
      </p:sp>
      <p:sp>
        <p:nvSpPr>
          <p:cNvPr id="135171" name="Rectangle 3">
            <a:extLst>
              <a:ext uri="{FF2B5EF4-FFF2-40B4-BE49-F238E27FC236}">
                <a16:creationId xmlns:a16="http://schemas.microsoft.com/office/drawing/2014/main" id="{7E30D5F9-5E71-4B75-AA8C-C3F4C96FB626}"/>
              </a:ext>
            </a:extLst>
          </p:cNvPr>
          <p:cNvSpPr>
            <a:spLocks noGrp="1" noChangeArrowheads="1"/>
          </p:cNvSpPr>
          <p:nvPr>
            <p:ph idx="1"/>
          </p:nvPr>
        </p:nvSpPr>
        <p:spPr>
          <a:xfrm>
            <a:off x="1981200" y="2514601"/>
            <a:ext cx="8229600" cy="1179810"/>
          </a:xfrm>
        </p:spPr>
        <p:txBody>
          <a:bodyPr>
            <a:spAutoFit/>
          </a:bodyPr>
          <a:lstStyle/>
          <a:p>
            <a:pPr eaLnBrk="1" hangingPunct="1">
              <a:buFont typeface="Wingdings" panose="05000000000000000000" pitchFamily="2" charset="2"/>
              <a:buNone/>
              <a:defRPr/>
            </a:pPr>
            <a:endParaRPr lang="en-US" dirty="0"/>
          </a:p>
          <a:p>
            <a:pPr eaLnBrk="1" hangingPunct="1">
              <a:buFont typeface="Wingdings" panose="05000000000000000000" pitchFamily="2" charset="2"/>
              <a:buNone/>
              <a:defRPr/>
            </a:pPr>
            <a:endParaRPr lang="en-US" dirty="0"/>
          </a:p>
          <a:p>
            <a:pPr algn="ctr">
              <a:buNone/>
              <a:defRPr/>
            </a:pPr>
            <a:r>
              <a:rPr lang="en-US" dirty="0"/>
              <a:t>Mehak (BC230410624)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a:extLst>
              <a:ext uri="{FF2B5EF4-FFF2-40B4-BE49-F238E27FC236}">
                <a16:creationId xmlns:a16="http://schemas.microsoft.com/office/drawing/2014/main" id="{2899B5D2-53C8-4E35-ACF4-CD24D8BAB869}"/>
              </a:ext>
            </a:extLst>
          </p:cNvPr>
          <p:cNvSpPr>
            <a:spLocks noGrp="1" noChangeArrowheads="1"/>
          </p:cNvSpPr>
          <p:nvPr>
            <p:ph type="ctrTitle"/>
          </p:nvPr>
        </p:nvSpPr>
        <p:spPr>
          <a:xfrm>
            <a:off x="2665828" y="548640"/>
            <a:ext cx="7772400" cy="580292"/>
          </a:xfrm>
        </p:spPr>
        <p:txBody>
          <a:bodyPr>
            <a:normAutofit fontScale="90000"/>
          </a:bodyPr>
          <a:lstStyle/>
          <a:p>
            <a:pPr eaLnBrk="1" hangingPunct="1">
              <a:defRPr/>
            </a:pPr>
            <a:r>
              <a:rPr lang="en-US" sz="3600" dirty="0">
                <a:solidFill>
                  <a:srgbClr val="0000FF"/>
                </a:solidFill>
              </a:rPr>
              <a:t>INTRODUCTION OF PROJECT</a:t>
            </a:r>
            <a:endParaRPr lang="en-US" sz="2800" dirty="0">
              <a:solidFill>
                <a:srgbClr val="0000FF"/>
              </a:solidFill>
            </a:endParaRPr>
          </a:p>
        </p:txBody>
      </p:sp>
      <p:sp>
        <p:nvSpPr>
          <p:cNvPr id="9221" name="Rectangle 5">
            <a:extLst>
              <a:ext uri="{FF2B5EF4-FFF2-40B4-BE49-F238E27FC236}">
                <a16:creationId xmlns:a16="http://schemas.microsoft.com/office/drawing/2014/main" id="{4D9979D8-FFB2-43AE-B6CF-14D54B7CDF64}"/>
              </a:ext>
            </a:extLst>
          </p:cNvPr>
          <p:cNvSpPr>
            <a:spLocks noGrp="1" noChangeArrowheads="1"/>
          </p:cNvSpPr>
          <p:nvPr>
            <p:ph type="subTitle" idx="1"/>
          </p:nvPr>
        </p:nvSpPr>
        <p:spPr>
          <a:xfrm>
            <a:off x="1876424" y="2057400"/>
            <a:ext cx="8791575" cy="4248150"/>
          </a:xfrm>
        </p:spPr>
        <p:txBody>
          <a:bodyPr>
            <a:normAutofit fontScale="92500" lnSpcReduction="20000"/>
          </a:bodyPr>
          <a:lstStyle/>
          <a:p>
            <a:pPr algn="just"/>
            <a:r>
              <a:rPr lang="en-US" dirty="0">
                <a:solidFill>
                  <a:schemeClr val="tx1"/>
                </a:solidFill>
                <a:latin typeface="+mj-lt"/>
                <a:ea typeface="Times New Roman" panose="02020603050405020304" pitchFamily="18" charset="0"/>
              </a:rPr>
              <a:t>The “VU Proctors Diary” is a web-based application that aims to modernize the exam monitoring and reporting process for Virtual University proctors by replacing traditional physical diaries with a digital system. The current manual approach is inefficient, vulnerable to data loss, and lacks centralized access. The proposed online platform will enable proctors to log in securely and perform tasks in real-time, including attendance tracking, incident reporting, and observation submission, thereby streamlining the entire process.</a:t>
            </a:r>
          </a:p>
          <a:p>
            <a:pPr algn="just"/>
            <a:r>
              <a:rPr lang="en-US" dirty="0">
                <a:solidFill>
                  <a:schemeClr val="tx1"/>
                </a:solidFill>
                <a:latin typeface="+mj-lt"/>
                <a:ea typeface="Times New Roman" panose="02020603050405020304" pitchFamily="18" charset="0"/>
              </a:rPr>
              <a:t>The system will also facilitate communication between proctors and examination authorities, allowing timely reporting and quick action in case of exam violations. Features such as duty schedules, automated report generation, and data retrieval will enhance the efficiency and transparency of the examination process. The centralized database will ensure that records are well-maintained, searchable, and accessible for future reference.</a:t>
            </a:r>
          </a:p>
          <a:p>
            <a:pPr algn="just"/>
            <a:endParaRPr lang="en-US" dirty="0">
              <a:solidFill>
                <a:schemeClr val="tx1"/>
              </a:solidFill>
              <a:latin typeface="+mj-lt"/>
              <a:ea typeface="Times New Roman" panose="02020603050405020304" pitchFamily="18" charset="0"/>
            </a:endParaRPr>
          </a:p>
          <a:p>
            <a:pPr algn="just"/>
            <a:r>
              <a:rPr lang="en-US" dirty="0">
                <a:solidFill>
                  <a:schemeClr val="tx1"/>
                </a:solidFill>
                <a:latin typeface="+mj-lt"/>
                <a:ea typeface="Times New Roman" panose="02020603050405020304" pitchFamily="18" charset="0"/>
              </a:rPr>
              <a:t>This project is especially relevant in the context of VU's widespread online and physical exam centers, where real-time data synchronization and management are crucial. By replacing manual diaries with a digital solution, the VU Proctors Diary will not only reduce paperwork but also improve the overall effectiveness of the examination </a:t>
            </a:r>
          </a:p>
          <a:p>
            <a:pPr algn="just"/>
            <a:r>
              <a:rPr lang="en-US" dirty="0">
                <a:solidFill>
                  <a:schemeClr val="tx1"/>
                </a:solidFill>
                <a:latin typeface="+mj-lt"/>
                <a:ea typeface="Times New Roman" panose="02020603050405020304" pitchFamily="18" charset="0"/>
              </a:rPr>
              <a:t>monitoring system</a:t>
            </a:r>
          </a:p>
          <a:p>
            <a:pPr algn="just"/>
            <a:endParaRPr lang="en-US" sz="1800" dirty="0">
              <a:solidFill>
                <a:schemeClr val="tx1"/>
              </a:solidFill>
              <a:effectLst/>
              <a:latin typeface="+mj-lt"/>
              <a:ea typeface="Times New Roman" panose="02020603050405020304" pitchFamily="18" charset="0"/>
            </a:endParaRPr>
          </a:p>
        </p:txBody>
      </p:sp>
    </p:spTree>
    <p:extLst>
      <p:ext uri="{BB962C8B-B14F-4D97-AF65-F5344CB8AC3E}">
        <p14:creationId xmlns:p14="http://schemas.microsoft.com/office/powerpoint/2010/main" val="3566322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Text Box 47">
            <a:extLst>
              <a:ext uri="{FF2B5EF4-FFF2-40B4-BE49-F238E27FC236}">
                <a16:creationId xmlns:a16="http://schemas.microsoft.com/office/drawing/2014/main" id="{15302705-E4BB-4CC8-851A-412E0E0EE58F}"/>
              </a:ext>
            </a:extLst>
          </p:cNvPr>
          <p:cNvSpPr txBox="1">
            <a:spLocks noChangeArrowheads="1"/>
          </p:cNvSpPr>
          <p:nvPr/>
        </p:nvSpPr>
        <p:spPr bwMode="auto">
          <a:xfrm>
            <a:off x="3124200" y="1295401"/>
            <a:ext cx="487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endParaRPr lang="en-PK" altLang="en-PK"/>
          </a:p>
        </p:txBody>
      </p:sp>
      <p:sp>
        <p:nvSpPr>
          <p:cNvPr id="139312" name="Text Box 48">
            <a:extLst>
              <a:ext uri="{FF2B5EF4-FFF2-40B4-BE49-F238E27FC236}">
                <a16:creationId xmlns:a16="http://schemas.microsoft.com/office/drawing/2014/main" id="{3C2EBF78-70B6-4019-82AC-ACD1FF093C62}"/>
              </a:ext>
            </a:extLst>
          </p:cNvPr>
          <p:cNvSpPr txBox="1">
            <a:spLocks noChangeArrowheads="1"/>
          </p:cNvSpPr>
          <p:nvPr/>
        </p:nvSpPr>
        <p:spPr bwMode="auto">
          <a:xfrm>
            <a:off x="2376551" y="411144"/>
            <a:ext cx="4166862" cy="1292662"/>
          </a:xfrm>
          <a:prstGeom prst="rect">
            <a:avLst/>
          </a:prstGeom>
          <a:noFill/>
          <a:ln w="9525">
            <a:noFill/>
            <a:miter lim="800000"/>
            <a:headEnd/>
            <a:tailEnd/>
          </a:ln>
          <a:effectLst/>
        </p:spPr>
        <p:txBody>
          <a:bodyPr wrap="square">
            <a:spAutoFit/>
          </a:bodyPr>
          <a:lstStyle/>
          <a:p>
            <a:pPr>
              <a:spcBef>
                <a:spcPct val="50000"/>
              </a:spcBef>
              <a:defRPr/>
            </a:pPr>
            <a:r>
              <a:rPr lang="en-US" sz="3600" dirty="0">
                <a:solidFill>
                  <a:srgbClr val="0000FF"/>
                </a:solidFill>
                <a:latin typeface="+mj-lt"/>
              </a:rPr>
              <a:t>VU Process Model</a:t>
            </a:r>
          </a:p>
          <a:p>
            <a:pPr>
              <a:spcBef>
                <a:spcPct val="50000"/>
              </a:spcBef>
              <a:defRPr/>
            </a:pPr>
            <a:endParaRPr lang="en-US" sz="2800" b="1" dirty="0">
              <a:latin typeface="+mj-lt"/>
            </a:endParaRPr>
          </a:p>
        </p:txBody>
      </p:sp>
      <p:pic>
        <p:nvPicPr>
          <p:cNvPr id="6" name="image5.png">
            <a:extLst>
              <a:ext uri="{FF2B5EF4-FFF2-40B4-BE49-F238E27FC236}">
                <a16:creationId xmlns:a16="http://schemas.microsoft.com/office/drawing/2014/main" id="{9F5ADE65-9529-4CEC-BBFB-0F4998CE524B}"/>
              </a:ext>
            </a:extLst>
          </p:cNvPr>
          <p:cNvPicPr/>
          <p:nvPr/>
        </p:nvPicPr>
        <p:blipFill>
          <a:blip r:embed="rId2"/>
          <a:srcRect/>
          <a:stretch>
            <a:fillRect/>
          </a:stretch>
        </p:blipFill>
        <p:spPr>
          <a:xfrm>
            <a:off x="3025726" y="1112856"/>
            <a:ext cx="5943600" cy="5334000"/>
          </a:xfrm>
          <a:prstGeom prst="rect">
            <a:avLst/>
          </a:prstGeom>
          <a:ln/>
        </p:spPr>
      </p:pic>
    </p:spTree>
  </p:cSld>
  <p:clrMapOvr>
    <a:masterClrMapping/>
  </p:clrMapOvr>
  <p:transition spd="slow">
    <p:zoom dir="in"/>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4">
            <a:extLst>
              <a:ext uri="{FF2B5EF4-FFF2-40B4-BE49-F238E27FC236}">
                <a16:creationId xmlns:a16="http://schemas.microsoft.com/office/drawing/2014/main" id="{942CBE18-2310-401C-B342-F995C53D0A37}"/>
              </a:ext>
            </a:extLst>
          </p:cNvPr>
          <p:cNvSpPr>
            <a:spLocks noGrp="1" noChangeArrowheads="1"/>
          </p:cNvSpPr>
          <p:nvPr>
            <p:ph type="ctrTitle"/>
          </p:nvPr>
        </p:nvSpPr>
        <p:spPr>
          <a:xfrm>
            <a:off x="951817" y="182880"/>
            <a:ext cx="4439593" cy="727427"/>
          </a:xfrm>
        </p:spPr>
        <p:txBody>
          <a:bodyPr>
            <a:noAutofit/>
          </a:bodyPr>
          <a:lstStyle/>
          <a:p>
            <a:pPr eaLnBrk="1" hangingPunct="1">
              <a:defRPr/>
            </a:pPr>
            <a:r>
              <a:rPr lang="en-US" sz="3600" dirty="0">
                <a:solidFill>
                  <a:srgbClr val="0000FF"/>
                </a:solidFill>
              </a:rPr>
              <a:t>Use Case Diagram</a:t>
            </a:r>
          </a:p>
        </p:txBody>
      </p:sp>
      <p:sp>
        <p:nvSpPr>
          <p:cNvPr id="4" name="Rectangle 4">
            <a:extLst>
              <a:ext uri="{FF2B5EF4-FFF2-40B4-BE49-F238E27FC236}">
                <a16:creationId xmlns:a16="http://schemas.microsoft.com/office/drawing/2014/main" id="{A94F7DB2-688C-4514-A509-CFB1FAE6CA7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pic>
        <p:nvPicPr>
          <p:cNvPr id="6" name="image4.png">
            <a:extLst>
              <a:ext uri="{FF2B5EF4-FFF2-40B4-BE49-F238E27FC236}">
                <a16:creationId xmlns:a16="http://schemas.microsoft.com/office/drawing/2014/main" id="{587A830F-6F63-44E6-A4EA-59BF17EE0266}"/>
              </a:ext>
            </a:extLst>
          </p:cNvPr>
          <p:cNvPicPr/>
          <p:nvPr/>
        </p:nvPicPr>
        <p:blipFill>
          <a:blip r:embed="rId2"/>
          <a:srcRect/>
          <a:stretch>
            <a:fillRect/>
          </a:stretch>
        </p:blipFill>
        <p:spPr>
          <a:xfrm>
            <a:off x="4741984" y="789940"/>
            <a:ext cx="5943600" cy="4546600"/>
          </a:xfrm>
          <a:prstGeom prst="rect">
            <a:avLst/>
          </a:prstGeo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a:extLst>
              <a:ext uri="{FF2B5EF4-FFF2-40B4-BE49-F238E27FC236}">
                <a16:creationId xmlns:a16="http://schemas.microsoft.com/office/drawing/2014/main" id="{2899B5D2-53C8-4E35-ACF4-CD24D8BAB869}"/>
              </a:ext>
            </a:extLst>
          </p:cNvPr>
          <p:cNvSpPr>
            <a:spLocks noGrp="1" noChangeArrowheads="1"/>
          </p:cNvSpPr>
          <p:nvPr>
            <p:ph type="ctrTitle"/>
          </p:nvPr>
        </p:nvSpPr>
        <p:spPr>
          <a:xfrm>
            <a:off x="2665828" y="548640"/>
            <a:ext cx="7772400" cy="580292"/>
          </a:xfrm>
        </p:spPr>
        <p:txBody>
          <a:bodyPr>
            <a:normAutofit fontScale="90000"/>
          </a:bodyPr>
          <a:lstStyle/>
          <a:p>
            <a:pPr eaLnBrk="1" hangingPunct="1">
              <a:defRPr/>
            </a:pPr>
            <a:r>
              <a:rPr lang="en-US" sz="3600" dirty="0">
                <a:solidFill>
                  <a:srgbClr val="0000FF"/>
                </a:solidFill>
              </a:rPr>
              <a:t>INTRODUCTION OF PROJECT</a:t>
            </a:r>
            <a:endParaRPr lang="en-US" sz="2800" dirty="0">
              <a:solidFill>
                <a:srgbClr val="0000FF"/>
              </a:solidFill>
            </a:endParaRPr>
          </a:p>
        </p:txBody>
      </p:sp>
      <p:sp>
        <p:nvSpPr>
          <p:cNvPr id="9221" name="Rectangle 5">
            <a:extLst>
              <a:ext uri="{FF2B5EF4-FFF2-40B4-BE49-F238E27FC236}">
                <a16:creationId xmlns:a16="http://schemas.microsoft.com/office/drawing/2014/main" id="{4D9979D8-FFB2-43AE-B6CF-14D54B7CDF64}"/>
              </a:ext>
            </a:extLst>
          </p:cNvPr>
          <p:cNvSpPr>
            <a:spLocks noGrp="1" noChangeArrowheads="1"/>
          </p:cNvSpPr>
          <p:nvPr>
            <p:ph type="subTitle" idx="1"/>
          </p:nvPr>
        </p:nvSpPr>
        <p:spPr>
          <a:xfrm>
            <a:off x="1876425" y="1304924"/>
            <a:ext cx="8791575" cy="5000625"/>
          </a:xfrm>
        </p:spPr>
        <p:txBody>
          <a:bodyPr>
            <a:normAutofit/>
          </a:bodyPr>
          <a:lstStyle/>
          <a:p>
            <a:r>
              <a:rPr lang="en-US" b="1" dirty="0"/>
              <a:t>1. Secure Login:</a:t>
            </a:r>
            <a:r>
              <a:rPr lang="en-US" dirty="0"/>
              <a:t> Proctors and admins can log in with verified credentials.</a:t>
            </a:r>
          </a:p>
          <a:p>
            <a:r>
              <a:rPr lang="en-US" b="1" dirty="0"/>
              <a:t>2. Personalized Dashboard:</a:t>
            </a:r>
            <a:r>
              <a:rPr lang="en-US" dirty="0"/>
              <a:t> Proctors access a dashboard with assigned tasks and exam information after logging in.</a:t>
            </a:r>
          </a:p>
          <a:p>
            <a:r>
              <a:rPr lang="en-US" b="1" dirty="0"/>
              <a:t>3. Schedule Management:</a:t>
            </a:r>
            <a:r>
              <a:rPr lang="en-US" dirty="0"/>
              <a:t> Admins can create and update proctoring schedules.</a:t>
            </a:r>
          </a:p>
          <a:p>
            <a:r>
              <a:rPr lang="en-US" b="1" dirty="0"/>
              <a:t>4. Daily Reporting:</a:t>
            </a:r>
            <a:r>
              <a:rPr lang="en-US" dirty="0"/>
              <a:t> Proctors submit daily reports and observations about exams.</a:t>
            </a:r>
          </a:p>
          <a:p>
            <a:r>
              <a:rPr lang="en-US" b="1" dirty="0"/>
              <a:t>5. Incident Reporting:</a:t>
            </a:r>
            <a:r>
              <a:rPr lang="en-US" dirty="0"/>
              <a:t> Proctors report any irregularities during exams.</a:t>
            </a:r>
          </a:p>
          <a:p>
            <a:r>
              <a:rPr lang="en-US" b="1" dirty="0"/>
              <a:t>6. Attendance Tracking:</a:t>
            </a:r>
            <a:r>
              <a:rPr lang="en-US" dirty="0"/>
              <a:t> Proctors record their attendance and students' attendance.</a:t>
            </a:r>
          </a:p>
          <a:p>
            <a:r>
              <a:rPr lang="en-US" b="1" dirty="0"/>
              <a:t>7. Notification System:</a:t>
            </a:r>
            <a:r>
              <a:rPr lang="en-US" dirty="0"/>
              <a:t> Alerts and updates are sent between proctors and admins.</a:t>
            </a:r>
          </a:p>
          <a:p>
            <a:r>
              <a:rPr lang="en-US" b="1" dirty="0"/>
              <a:t>8. Report Generation:</a:t>
            </a:r>
            <a:r>
              <a:rPr lang="en-US" dirty="0"/>
              <a:t> Admins generate and download proctor activity summaries.</a:t>
            </a:r>
          </a:p>
          <a:p>
            <a:r>
              <a:rPr lang="en-US" b="1" dirty="0"/>
              <a:t>9. Search Functionality:</a:t>
            </a:r>
            <a:r>
              <a:rPr lang="en-US" dirty="0"/>
              <a:t> Users search previous entries by date, proctor, or exam center.</a:t>
            </a:r>
          </a:p>
          <a:p>
            <a:r>
              <a:rPr lang="en-US" b="1" dirty="0"/>
              <a:t>10. Role-Based Access:</a:t>
            </a:r>
            <a:r>
              <a:rPr lang="en-US" dirty="0"/>
              <a:t> Different permissions for Admin and Proctor roles.</a:t>
            </a:r>
          </a:p>
          <a:p>
            <a:pPr algn="just"/>
            <a:endParaRPr lang="en-US" dirty="0">
              <a:solidFill>
                <a:schemeClr val="tx1"/>
              </a:solidFill>
              <a:latin typeface="+mj-lt"/>
              <a:ea typeface="Times New Roman" panose="02020603050405020304" pitchFamily="18" charset="0"/>
            </a:endParaRPr>
          </a:p>
        </p:txBody>
      </p:sp>
    </p:spTree>
    <p:extLst>
      <p:ext uri="{BB962C8B-B14F-4D97-AF65-F5344CB8AC3E}">
        <p14:creationId xmlns:p14="http://schemas.microsoft.com/office/powerpoint/2010/main" val="3938801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a:extLst>
              <a:ext uri="{FF2B5EF4-FFF2-40B4-BE49-F238E27FC236}">
                <a16:creationId xmlns:a16="http://schemas.microsoft.com/office/drawing/2014/main" id="{3082C84E-DCBA-44F3-8091-F11DC702423C}"/>
              </a:ext>
            </a:extLst>
          </p:cNvPr>
          <p:cNvSpPr>
            <a:spLocks noGrp="1" noChangeArrowheads="1"/>
          </p:cNvSpPr>
          <p:nvPr>
            <p:ph type="title"/>
          </p:nvPr>
        </p:nvSpPr>
        <p:spPr/>
        <p:txBody>
          <a:bodyPr/>
          <a:lstStyle/>
          <a:p>
            <a:pPr eaLnBrk="1" hangingPunct="1">
              <a:defRPr/>
            </a:pPr>
            <a:r>
              <a:rPr lang="en-GB" dirty="0">
                <a:solidFill>
                  <a:srgbClr val="0000FF"/>
                </a:solidFill>
              </a:rPr>
              <a:t>Architectural</a:t>
            </a:r>
            <a:r>
              <a:rPr lang="en-GB" i="1" dirty="0">
                <a:solidFill>
                  <a:srgbClr val="0000FF"/>
                </a:solidFill>
              </a:rPr>
              <a:t> </a:t>
            </a:r>
            <a:r>
              <a:rPr lang="en-GB" dirty="0">
                <a:solidFill>
                  <a:srgbClr val="0000FF"/>
                </a:solidFill>
              </a:rPr>
              <a:t>Design</a:t>
            </a:r>
            <a:endParaRPr lang="en-US" dirty="0">
              <a:solidFill>
                <a:srgbClr val="0000FF"/>
              </a:solidFill>
            </a:endParaRPr>
          </a:p>
        </p:txBody>
      </p:sp>
      <p:sp>
        <p:nvSpPr>
          <p:cNvPr id="9219" name="Rectangle 10">
            <a:extLst>
              <a:ext uri="{FF2B5EF4-FFF2-40B4-BE49-F238E27FC236}">
                <a16:creationId xmlns:a16="http://schemas.microsoft.com/office/drawing/2014/main" id="{B034EEDE-FFF9-478B-8E3C-430257E1963B}"/>
              </a:ext>
            </a:extLst>
          </p:cNvPr>
          <p:cNvSpPr>
            <a:spLocks noChangeArrowheads="1"/>
          </p:cNvSpPr>
          <p:nvPr/>
        </p:nvSpPr>
        <p:spPr bwMode="auto">
          <a:xfrm>
            <a:off x="1524001" y="12012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PK" altLang="en-PK"/>
          </a:p>
        </p:txBody>
      </p:sp>
      <p:sp>
        <p:nvSpPr>
          <p:cNvPr id="2" name="Rectangle 2">
            <a:extLst>
              <a:ext uri="{FF2B5EF4-FFF2-40B4-BE49-F238E27FC236}">
                <a16:creationId xmlns:a16="http://schemas.microsoft.com/office/drawing/2014/main" id="{C417E9E2-136E-42F0-A608-F1F7DDD4F5BF}"/>
              </a:ext>
            </a:extLst>
          </p:cNvPr>
          <p:cNvSpPr>
            <a:spLocks noChangeArrowheads="1"/>
          </p:cNvSpPr>
          <p:nvPr/>
        </p:nvSpPr>
        <p:spPr bwMode="auto">
          <a:xfrm>
            <a:off x="5050301" y="1066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8194" name="Picture 2">
            <a:extLst>
              <a:ext uri="{FF2B5EF4-FFF2-40B4-BE49-F238E27FC236}">
                <a16:creationId xmlns:a16="http://schemas.microsoft.com/office/drawing/2014/main" id="{8D50D4F6-FF01-4C86-ACE6-B64F9824D2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3216" y="1509490"/>
            <a:ext cx="3690451" cy="4441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45E2395F-B67C-4EB8-9FE6-0FB37C57E661}"/>
              </a:ext>
            </a:extLst>
          </p:cNvPr>
          <p:cNvSpPr>
            <a:spLocks noGrp="1" noChangeArrowheads="1"/>
          </p:cNvSpPr>
          <p:nvPr>
            <p:ph type="title"/>
          </p:nvPr>
        </p:nvSpPr>
        <p:spPr/>
        <p:txBody>
          <a:bodyPr/>
          <a:lstStyle/>
          <a:p>
            <a:pPr eaLnBrk="1" hangingPunct="1">
              <a:defRPr/>
            </a:pPr>
            <a:r>
              <a:rPr lang="en-US" dirty="0">
                <a:solidFill>
                  <a:srgbClr val="0000FF"/>
                </a:solidFill>
              </a:rPr>
              <a:t>Team Structure</a:t>
            </a:r>
          </a:p>
        </p:txBody>
      </p:sp>
      <p:sp>
        <p:nvSpPr>
          <p:cNvPr id="148483" name="Rectangle 3">
            <a:extLst>
              <a:ext uri="{FF2B5EF4-FFF2-40B4-BE49-F238E27FC236}">
                <a16:creationId xmlns:a16="http://schemas.microsoft.com/office/drawing/2014/main" id="{FD41585B-739F-4A52-8C2D-C18FC7F5BCA1}"/>
              </a:ext>
            </a:extLst>
          </p:cNvPr>
          <p:cNvSpPr>
            <a:spLocks noGrp="1" noChangeArrowheads="1"/>
          </p:cNvSpPr>
          <p:nvPr>
            <p:ph idx="1"/>
          </p:nvPr>
        </p:nvSpPr>
        <p:spPr>
          <a:xfrm>
            <a:off x="1713230" y="2705100"/>
            <a:ext cx="9905998" cy="1447800"/>
          </a:xfrm>
        </p:spPr>
        <p:txBody>
          <a:bodyPr/>
          <a:lstStyle/>
          <a:p>
            <a:pPr algn="ctr">
              <a:buNone/>
              <a:defRPr/>
            </a:pPr>
            <a:r>
              <a:rPr lang="en-US" b="1" dirty="0"/>
              <a:t>Supervisor: </a:t>
            </a:r>
            <a:r>
              <a:rPr lang="en-US" b="1" dirty="0" err="1"/>
              <a:t>Tooba</a:t>
            </a:r>
            <a:r>
              <a:rPr lang="en-US" b="1" dirty="0"/>
              <a:t> Ahmad</a:t>
            </a:r>
          </a:p>
          <a:p>
            <a:pPr algn="ctr">
              <a:buNone/>
              <a:defRPr/>
            </a:pPr>
            <a:r>
              <a:rPr lang="en-US" b="1" dirty="0"/>
              <a:t>Student: Mehak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14D54C86-D886-47D5-AD12-5B7CB4862CC2}"/>
              </a:ext>
            </a:extLst>
          </p:cNvPr>
          <p:cNvSpPr>
            <a:spLocks noGrp="1" noChangeArrowheads="1"/>
          </p:cNvSpPr>
          <p:nvPr>
            <p:ph type="title"/>
          </p:nvPr>
        </p:nvSpPr>
        <p:spPr/>
        <p:txBody>
          <a:bodyPr/>
          <a:lstStyle/>
          <a:p>
            <a:pPr eaLnBrk="1" hangingPunct="1">
              <a:defRPr/>
            </a:pPr>
            <a:r>
              <a:rPr lang="en-US" dirty="0">
                <a:solidFill>
                  <a:srgbClr val="0000FF"/>
                </a:solidFill>
              </a:rPr>
              <a:t>Project Schedule</a:t>
            </a:r>
          </a:p>
        </p:txBody>
      </p:sp>
      <p:sp>
        <p:nvSpPr>
          <p:cNvPr id="11268" name="Rectangle 5">
            <a:extLst>
              <a:ext uri="{FF2B5EF4-FFF2-40B4-BE49-F238E27FC236}">
                <a16:creationId xmlns:a16="http://schemas.microsoft.com/office/drawing/2014/main" id="{6135079A-CE07-43DA-9B8B-7D69914D52FF}"/>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latin typeface="Arial" panose="020B0604020202020204" pitchFamily="34" charset="0"/>
            </a:endParaRPr>
          </a:p>
        </p:txBody>
      </p:sp>
      <p:pic>
        <p:nvPicPr>
          <p:cNvPr id="6" name="image3.jpg">
            <a:extLst>
              <a:ext uri="{FF2B5EF4-FFF2-40B4-BE49-F238E27FC236}">
                <a16:creationId xmlns:a16="http://schemas.microsoft.com/office/drawing/2014/main" id="{CB5BCA05-8D9D-4DA5-8A84-888DD6FC891A}"/>
              </a:ext>
            </a:extLst>
          </p:cNvPr>
          <p:cNvPicPr/>
          <p:nvPr/>
        </p:nvPicPr>
        <p:blipFill>
          <a:blip r:embed="rId2"/>
          <a:srcRect/>
          <a:stretch>
            <a:fillRect/>
          </a:stretch>
        </p:blipFill>
        <p:spPr>
          <a:xfrm>
            <a:off x="2592925" y="1264554"/>
            <a:ext cx="8911686" cy="4969335"/>
          </a:xfrm>
          <a:prstGeom prst="rect">
            <a:avLst/>
          </a:prstGeo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2475471" y="160639"/>
            <a:ext cx="7620001" cy="817447"/>
          </a:xfrm>
        </p:spPr>
        <p:txBody>
          <a:bodyPr>
            <a:normAutofit fontScale="90000"/>
          </a:bodyPr>
          <a:lstStyle/>
          <a:p>
            <a:pPr eaLnBrk="1" hangingPunct="1">
              <a:defRPr/>
            </a:pPr>
            <a:r>
              <a:rPr lang="en-US"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37" name="Rectangle 70">
            <a:extLst>
              <a:ext uri="{FF2B5EF4-FFF2-40B4-BE49-F238E27FC236}">
                <a16:creationId xmlns:a16="http://schemas.microsoft.com/office/drawing/2014/main" id="{76655DD3-3669-4A05-BC53-88ADF4BF5BCA}"/>
              </a:ext>
            </a:extLst>
          </p:cNvPr>
          <p:cNvSpPr>
            <a:spLocks noChangeArrowheads="1"/>
          </p:cNvSpPr>
          <p:nvPr/>
        </p:nvSpPr>
        <p:spPr bwMode="auto">
          <a:xfrm>
            <a:off x="2361171" y="5462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sp>
        <p:nvSpPr>
          <p:cNvPr id="7" name="Rectangle 11">
            <a:extLst>
              <a:ext uri="{FF2B5EF4-FFF2-40B4-BE49-F238E27FC236}">
                <a16:creationId xmlns:a16="http://schemas.microsoft.com/office/drawing/2014/main" id="{CDCE10F9-A68C-496D-A3B0-10CDB2855D68}"/>
              </a:ext>
            </a:extLst>
          </p:cNvPr>
          <p:cNvSpPr>
            <a:spLocks noChangeArrowheads="1"/>
          </p:cNvSpPr>
          <p:nvPr/>
        </p:nvSpPr>
        <p:spPr bwMode="auto">
          <a:xfrm>
            <a:off x="0" y="180975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9226" name="Picture 10">
            <a:extLst>
              <a:ext uri="{FF2B5EF4-FFF2-40B4-BE49-F238E27FC236}">
                <a16:creationId xmlns:a16="http://schemas.microsoft.com/office/drawing/2014/main" id="{369D4921-4AA1-41F6-ABA6-D2211188E6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9900" y="2005013"/>
            <a:ext cx="6172200" cy="39147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1">
            <a:extLst>
              <a:ext uri="{FF2B5EF4-FFF2-40B4-BE49-F238E27FC236}">
                <a16:creationId xmlns:a16="http://schemas.microsoft.com/office/drawing/2014/main" id="{2A72CC8A-C8BA-41C7-902E-1F59AAE531B0}"/>
              </a:ext>
            </a:extLst>
          </p:cNvPr>
          <p:cNvSpPr>
            <a:spLocks noChangeArrowheads="1"/>
          </p:cNvSpPr>
          <p:nvPr/>
        </p:nvSpPr>
        <p:spPr bwMode="auto">
          <a:xfrm>
            <a:off x="3251200" y="158552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228600" algn="l"/>
              </a:tabLst>
            </a:pPr>
            <a:r>
              <a:rPr kumimoji="0" lang="en-US" altLang="en-US" sz="13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REGISTER:</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2475471" y="160639"/>
            <a:ext cx="7620001" cy="817447"/>
          </a:xfrm>
        </p:spPr>
        <p:txBody>
          <a:bodyPr>
            <a:normAutofit fontScale="90000"/>
          </a:bodyPr>
          <a:lstStyle/>
          <a:p>
            <a:pPr eaLnBrk="1" hangingPunct="1">
              <a:defRPr/>
            </a:pPr>
            <a:r>
              <a:rPr lang="en-US"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3" name="Rectangle 3">
            <a:extLst>
              <a:ext uri="{FF2B5EF4-FFF2-40B4-BE49-F238E27FC236}">
                <a16:creationId xmlns:a16="http://schemas.microsoft.com/office/drawing/2014/main" id="{6058587C-1404-423B-82FF-E2FEFB96D6BF}"/>
              </a:ext>
            </a:extLst>
          </p:cNvPr>
          <p:cNvSpPr>
            <a:spLocks noChangeArrowheads="1"/>
          </p:cNvSpPr>
          <p:nvPr/>
        </p:nvSpPr>
        <p:spPr bwMode="auto">
          <a:xfrm>
            <a:off x="2853983" y="476176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pic>
        <p:nvPicPr>
          <p:cNvPr id="7" name="Picture 9">
            <a:extLst>
              <a:ext uri="{FF2B5EF4-FFF2-40B4-BE49-F238E27FC236}">
                <a16:creationId xmlns:a16="http://schemas.microsoft.com/office/drawing/2014/main" id="{8ACBBD3B-5E9F-40D4-8C10-A217AC137F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2966" y="1552575"/>
            <a:ext cx="6172200" cy="375285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12">
            <a:extLst>
              <a:ext uri="{FF2B5EF4-FFF2-40B4-BE49-F238E27FC236}">
                <a16:creationId xmlns:a16="http://schemas.microsoft.com/office/drawing/2014/main" id="{96BA82CC-ABFA-44CE-B5F9-E3B93395EA0C}"/>
              </a:ext>
            </a:extLst>
          </p:cNvPr>
          <p:cNvSpPr>
            <a:spLocks noChangeArrowheads="1"/>
          </p:cNvSpPr>
          <p:nvPr/>
        </p:nvSpPr>
        <p:spPr bwMode="auto">
          <a:xfrm>
            <a:off x="2602966" y="10953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228600" algn="l"/>
              </a:tabLst>
            </a:pPr>
            <a:r>
              <a:rPr kumimoji="0" lang="en-US" altLang="en-US" sz="13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LOGIN:</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69305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2475471" y="160639"/>
            <a:ext cx="7620001" cy="817447"/>
          </a:xfrm>
        </p:spPr>
        <p:txBody>
          <a:bodyPr>
            <a:normAutofit fontScale="90000"/>
          </a:bodyPr>
          <a:lstStyle/>
          <a:p>
            <a:pPr eaLnBrk="1" hangingPunct="1">
              <a:defRPr/>
            </a:pPr>
            <a:r>
              <a:rPr lang="en-US"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sp>
        <p:nvSpPr>
          <p:cNvPr id="3" name="Rectangle 3">
            <a:extLst>
              <a:ext uri="{FF2B5EF4-FFF2-40B4-BE49-F238E27FC236}">
                <a16:creationId xmlns:a16="http://schemas.microsoft.com/office/drawing/2014/main" id="{45F2EEB8-CE5F-4968-BFBB-DE951CD2494C}"/>
              </a:ext>
            </a:extLst>
          </p:cNvPr>
          <p:cNvSpPr>
            <a:spLocks noChangeArrowheads="1"/>
          </p:cNvSpPr>
          <p:nvPr/>
        </p:nvSpPr>
        <p:spPr bwMode="auto">
          <a:xfrm>
            <a:off x="2825848" y="522446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sp>
        <p:nvSpPr>
          <p:cNvPr id="7" name="Rectangle 7">
            <a:extLst>
              <a:ext uri="{FF2B5EF4-FFF2-40B4-BE49-F238E27FC236}">
                <a16:creationId xmlns:a16="http://schemas.microsoft.com/office/drawing/2014/main" id="{E24A87D2-DA16-4574-9C00-79DD2784A38A}"/>
              </a:ext>
            </a:extLst>
          </p:cNvPr>
          <p:cNvSpPr>
            <a:spLocks noChangeArrowheads="1"/>
          </p:cNvSpPr>
          <p:nvPr/>
        </p:nvSpPr>
        <p:spPr bwMode="auto">
          <a:xfrm>
            <a:off x="0" y="9382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9" name="Picture 8">
            <a:extLst>
              <a:ext uri="{FF2B5EF4-FFF2-40B4-BE49-F238E27FC236}">
                <a16:creationId xmlns:a16="http://schemas.microsoft.com/office/drawing/2014/main" id="{0666A7A9-76F6-45C1-81D7-4EF17015CF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5220" y="1740013"/>
            <a:ext cx="6162675" cy="35052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13">
            <a:extLst>
              <a:ext uri="{FF2B5EF4-FFF2-40B4-BE49-F238E27FC236}">
                <a16:creationId xmlns:a16="http://schemas.microsoft.com/office/drawing/2014/main" id="{70AEE93A-5CA7-419E-ADEE-1A59244BD32D}"/>
              </a:ext>
            </a:extLst>
          </p:cNvPr>
          <p:cNvSpPr>
            <a:spLocks noChangeArrowheads="1"/>
          </p:cNvSpPr>
          <p:nvPr/>
        </p:nvSpPr>
        <p:spPr bwMode="auto">
          <a:xfrm>
            <a:off x="2695220" y="1282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228600" algn="l"/>
              </a:tabLst>
            </a:pPr>
            <a:r>
              <a:rPr kumimoji="0" lang="en-GB" altLang="en-US" sz="13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Mark Attendance</a:t>
            </a:r>
            <a:r>
              <a:rPr kumimoji="0" lang="en-US" altLang="en-US" sz="13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23062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2475471" y="160639"/>
            <a:ext cx="7620001" cy="817447"/>
          </a:xfrm>
        </p:spPr>
        <p:txBody>
          <a:bodyPr>
            <a:normAutofit fontScale="90000"/>
          </a:bodyPr>
          <a:lstStyle/>
          <a:p>
            <a:pPr eaLnBrk="1" hangingPunct="1">
              <a:defRPr/>
            </a:pPr>
            <a:r>
              <a:rPr lang="en-US"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pic>
        <p:nvPicPr>
          <p:cNvPr id="6" name="Picture 7">
            <a:extLst>
              <a:ext uri="{FF2B5EF4-FFF2-40B4-BE49-F238E27FC236}">
                <a16:creationId xmlns:a16="http://schemas.microsoft.com/office/drawing/2014/main" id="{4B7F7145-3A76-4DA7-97C8-7B0B8B20AB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0490" y="1872050"/>
            <a:ext cx="6162675" cy="413385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4">
            <a:extLst>
              <a:ext uri="{FF2B5EF4-FFF2-40B4-BE49-F238E27FC236}">
                <a16:creationId xmlns:a16="http://schemas.microsoft.com/office/drawing/2014/main" id="{64158CC4-7E8E-4078-A382-3048C26D5413}"/>
              </a:ext>
            </a:extLst>
          </p:cNvPr>
          <p:cNvSpPr>
            <a:spLocks noChangeArrowheads="1"/>
          </p:cNvSpPr>
          <p:nvPr/>
        </p:nvSpPr>
        <p:spPr bwMode="auto">
          <a:xfrm>
            <a:off x="2840490" y="14148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228600" algn="l"/>
              </a:tabLst>
            </a:pPr>
            <a:r>
              <a:rPr kumimoji="0" lang="en-GB" altLang="en-US" sz="1300" b="1" i="0" u="none" strike="noStrike" cap="none" normalizeH="0" baseline="0">
                <a:ln>
                  <a:noFill/>
                </a:ln>
                <a:solidFill>
                  <a:schemeClr val="tx1"/>
                </a:solidFill>
                <a:effectLst/>
                <a:latin typeface="Arial" panose="020B0604020202020204" pitchFamily="34" charset="0"/>
                <a:ea typeface="Times New Roman" panose="02020603050405020304" pitchFamily="18" charset="0"/>
              </a:rPr>
              <a:t>Upload Report</a:t>
            </a:r>
            <a:endParaRPr kumimoji="0" lang="en-US" altLang="en-US" sz="1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34571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2475471" y="160639"/>
            <a:ext cx="7620001" cy="817447"/>
          </a:xfrm>
        </p:spPr>
        <p:txBody>
          <a:bodyPr>
            <a:normAutofit fontScale="90000"/>
          </a:bodyPr>
          <a:lstStyle/>
          <a:p>
            <a:pPr eaLnBrk="1" hangingPunct="1">
              <a:defRPr/>
            </a:pPr>
            <a:r>
              <a:rPr lang="en-US"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pic>
        <p:nvPicPr>
          <p:cNvPr id="8" name="Picture 6">
            <a:extLst>
              <a:ext uri="{FF2B5EF4-FFF2-40B4-BE49-F238E27FC236}">
                <a16:creationId xmlns:a16="http://schemas.microsoft.com/office/drawing/2014/main" id="{38F7801E-2A4E-4ECE-9553-BF834B2AA2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1087" y="1590675"/>
            <a:ext cx="6172200" cy="36766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15">
            <a:extLst>
              <a:ext uri="{FF2B5EF4-FFF2-40B4-BE49-F238E27FC236}">
                <a16:creationId xmlns:a16="http://schemas.microsoft.com/office/drawing/2014/main" id="{48307A2F-1BFA-4BAF-A6CB-2E095FA60373}"/>
              </a:ext>
            </a:extLst>
          </p:cNvPr>
          <p:cNvSpPr>
            <a:spLocks noChangeArrowheads="1"/>
          </p:cNvSpPr>
          <p:nvPr/>
        </p:nvSpPr>
        <p:spPr bwMode="auto">
          <a:xfrm>
            <a:off x="2841087" y="11334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228600" algn="l"/>
              </a:tabLst>
            </a:pPr>
            <a:r>
              <a:rPr kumimoji="0" lang="en-GB" altLang="en-US" sz="1300" b="1" i="0" u="none" strike="noStrike" cap="none" normalizeH="0" baseline="0">
                <a:ln>
                  <a:noFill/>
                </a:ln>
                <a:solidFill>
                  <a:schemeClr val="tx1"/>
                </a:solidFill>
                <a:effectLst/>
                <a:latin typeface="Arial" panose="020B0604020202020204" pitchFamily="34" charset="0"/>
                <a:ea typeface="Times New Roman" panose="02020603050405020304" pitchFamily="18" charset="0"/>
              </a:rPr>
              <a:t>Leave Request</a:t>
            </a:r>
            <a:endParaRPr kumimoji="0" lang="en-US" altLang="en-US" sz="1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85067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2475471" y="160639"/>
            <a:ext cx="7620001" cy="817447"/>
          </a:xfrm>
        </p:spPr>
        <p:txBody>
          <a:bodyPr>
            <a:normAutofit fontScale="90000"/>
          </a:bodyPr>
          <a:lstStyle/>
          <a:p>
            <a:pPr eaLnBrk="1" hangingPunct="1">
              <a:defRPr/>
            </a:pPr>
            <a:r>
              <a:rPr lang="en-US"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pic>
        <p:nvPicPr>
          <p:cNvPr id="6" name="Picture 5">
            <a:extLst>
              <a:ext uri="{FF2B5EF4-FFF2-40B4-BE49-F238E27FC236}">
                <a16:creationId xmlns:a16="http://schemas.microsoft.com/office/drawing/2014/main" id="{ED6ABE3D-96C6-45A5-A764-FE34AFA4D9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9900" y="1574190"/>
            <a:ext cx="6172200" cy="520406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6">
            <a:extLst>
              <a:ext uri="{FF2B5EF4-FFF2-40B4-BE49-F238E27FC236}">
                <a16:creationId xmlns:a16="http://schemas.microsoft.com/office/drawing/2014/main" id="{C1A2C0A7-3DD5-4AD3-B90F-A6FE4FC9715A}"/>
              </a:ext>
            </a:extLst>
          </p:cNvPr>
          <p:cNvSpPr>
            <a:spLocks noChangeArrowheads="1"/>
          </p:cNvSpPr>
          <p:nvPr/>
        </p:nvSpPr>
        <p:spPr bwMode="auto">
          <a:xfrm>
            <a:off x="3009900" y="111699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228600" algn="l"/>
              </a:tabLst>
            </a:pPr>
            <a:r>
              <a:rPr kumimoji="0" lang="en-GB" altLang="en-US" sz="1300" b="1" i="0" u="none" strike="noStrike" cap="none" normalizeH="0" baseline="0">
                <a:ln>
                  <a:noFill/>
                </a:ln>
                <a:solidFill>
                  <a:schemeClr val="tx1"/>
                </a:solidFill>
                <a:effectLst/>
                <a:latin typeface="Arial" panose="020B0604020202020204" pitchFamily="34" charset="0"/>
                <a:ea typeface="Times New Roman" panose="02020603050405020304" pitchFamily="18" charset="0"/>
              </a:rPr>
              <a:t>Update Profile:</a:t>
            </a:r>
            <a:endParaRPr kumimoji="0" lang="en-US" altLang="en-US" sz="1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33808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2475471" y="160639"/>
            <a:ext cx="7620001" cy="817447"/>
          </a:xfrm>
        </p:spPr>
        <p:txBody>
          <a:bodyPr>
            <a:normAutofit fontScale="90000"/>
          </a:bodyPr>
          <a:lstStyle/>
          <a:p>
            <a:pPr eaLnBrk="1" hangingPunct="1">
              <a:defRPr/>
            </a:pPr>
            <a:r>
              <a:rPr lang="en-US"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pic>
        <p:nvPicPr>
          <p:cNvPr id="8" name="Picture 4">
            <a:extLst>
              <a:ext uri="{FF2B5EF4-FFF2-40B4-BE49-F238E27FC236}">
                <a16:creationId xmlns:a16="http://schemas.microsoft.com/office/drawing/2014/main" id="{A799F5D2-4DD8-4EC0-9A75-A087F958F0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4329" y="1435286"/>
            <a:ext cx="6172200" cy="517207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17">
            <a:extLst>
              <a:ext uri="{FF2B5EF4-FFF2-40B4-BE49-F238E27FC236}">
                <a16:creationId xmlns:a16="http://schemas.microsoft.com/office/drawing/2014/main" id="{8B1BC173-6A78-42B5-BA8A-85038EF38A5C}"/>
              </a:ext>
            </a:extLst>
          </p:cNvPr>
          <p:cNvSpPr>
            <a:spLocks noChangeArrowheads="1"/>
          </p:cNvSpPr>
          <p:nvPr/>
        </p:nvSpPr>
        <p:spPr bwMode="auto">
          <a:xfrm>
            <a:off x="3544329" y="97808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28600" algn="l"/>
              </a:tabLst>
              <a:defRPr>
                <a:solidFill>
                  <a:schemeClr val="tx1"/>
                </a:solidFill>
                <a:latin typeface="Arial" panose="020B0604020202020204" pitchFamily="34" charset="0"/>
              </a:defRPr>
            </a:lvl1pPr>
            <a:lvl2pPr eaLnBrk="0" fontAlgn="base" hangingPunct="0">
              <a:spcBef>
                <a:spcPct val="0"/>
              </a:spcBef>
              <a:spcAft>
                <a:spcPct val="0"/>
              </a:spcAft>
              <a:tabLst>
                <a:tab pos="228600" algn="l"/>
              </a:tabLst>
              <a:defRPr>
                <a:solidFill>
                  <a:schemeClr val="tx1"/>
                </a:solidFill>
                <a:latin typeface="Arial" panose="020B0604020202020204" pitchFamily="34" charset="0"/>
              </a:defRPr>
            </a:lvl2pPr>
            <a:lvl3pPr eaLnBrk="0" fontAlgn="base" hangingPunct="0">
              <a:spcBef>
                <a:spcPct val="0"/>
              </a:spcBef>
              <a:spcAft>
                <a:spcPct val="0"/>
              </a:spcAft>
              <a:tabLst>
                <a:tab pos="228600" algn="l"/>
              </a:tabLst>
              <a:defRPr>
                <a:solidFill>
                  <a:schemeClr val="tx1"/>
                </a:solidFill>
                <a:latin typeface="Arial" panose="020B0604020202020204" pitchFamily="34" charset="0"/>
              </a:defRPr>
            </a:lvl3pPr>
            <a:lvl4pPr eaLnBrk="0" fontAlgn="base" hangingPunct="0">
              <a:spcBef>
                <a:spcPct val="0"/>
              </a:spcBef>
              <a:spcAft>
                <a:spcPct val="0"/>
              </a:spcAft>
              <a:tabLst>
                <a:tab pos="228600" algn="l"/>
              </a:tabLst>
              <a:defRPr>
                <a:solidFill>
                  <a:schemeClr val="tx1"/>
                </a:solidFill>
                <a:latin typeface="Arial" panose="020B0604020202020204" pitchFamily="34" charset="0"/>
              </a:defRPr>
            </a:lvl4pPr>
            <a:lvl5pPr eaLnBrk="0" fontAlgn="base" hangingPunct="0">
              <a:spcBef>
                <a:spcPct val="0"/>
              </a:spcBef>
              <a:spcAft>
                <a:spcPct val="0"/>
              </a:spcAft>
              <a:tabLst>
                <a:tab pos="228600" algn="l"/>
              </a:tabLst>
              <a:defRPr>
                <a:solidFill>
                  <a:schemeClr val="tx1"/>
                </a:solidFill>
                <a:latin typeface="Arial" panose="020B0604020202020204" pitchFamily="34" charset="0"/>
              </a:defRPr>
            </a:lvl5pPr>
            <a:lvl6pPr eaLnBrk="0" fontAlgn="base" hangingPunct="0">
              <a:spcBef>
                <a:spcPct val="0"/>
              </a:spcBef>
              <a:spcAft>
                <a:spcPct val="0"/>
              </a:spcAft>
              <a:tabLst>
                <a:tab pos="228600" algn="l"/>
              </a:tabLst>
              <a:defRPr>
                <a:solidFill>
                  <a:schemeClr val="tx1"/>
                </a:solidFill>
                <a:latin typeface="Arial" panose="020B0604020202020204" pitchFamily="34" charset="0"/>
              </a:defRPr>
            </a:lvl6pPr>
            <a:lvl7pPr eaLnBrk="0" fontAlgn="base" hangingPunct="0">
              <a:spcBef>
                <a:spcPct val="0"/>
              </a:spcBef>
              <a:spcAft>
                <a:spcPct val="0"/>
              </a:spcAft>
              <a:tabLst>
                <a:tab pos="228600" algn="l"/>
              </a:tabLst>
              <a:defRPr>
                <a:solidFill>
                  <a:schemeClr val="tx1"/>
                </a:solidFill>
                <a:latin typeface="Arial" panose="020B0604020202020204" pitchFamily="34" charset="0"/>
              </a:defRPr>
            </a:lvl7pPr>
            <a:lvl8pPr eaLnBrk="0" fontAlgn="base" hangingPunct="0">
              <a:spcBef>
                <a:spcPct val="0"/>
              </a:spcBef>
              <a:spcAft>
                <a:spcPct val="0"/>
              </a:spcAft>
              <a:tabLst>
                <a:tab pos="228600" algn="l"/>
              </a:tabLst>
              <a:defRPr>
                <a:solidFill>
                  <a:schemeClr val="tx1"/>
                </a:solidFill>
                <a:latin typeface="Arial" panose="020B0604020202020204" pitchFamily="34" charset="0"/>
              </a:defRPr>
            </a:lvl8pPr>
            <a:lvl9pPr eaLnBrk="0" fontAlgn="base" hangingPunct="0">
              <a:spcBef>
                <a:spcPct val="0"/>
              </a:spcBef>
              <a:spcAft>
                <a:spcPct val="0"/>
              </a:spcAft>
              <a:tabLst>
                <a:tab pos="2286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228600" algn="l"/>
              </a:tabLst>
            </a:pPr>
            <a:r>
              <a:rPr kumimoji="0" lang="en-GB" altLang="en-US" sz="13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Duty Assignment:</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228600"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899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2475471" y="160639"/>
            <a:ext cx="7620001" cy="817447"/>
          </a:xfrm>
        </p:spPr>
        <p:txBody>
          <a:bodyPr>
            <a:normAutofit fontScale="90000"/>
          </a:bodyPr>
          <a:lstStyle/>
          <a:p>
            <a:pPr eaLnBrk="1" hangingPunct="1">
              <a:defRPr/>
            </a:pPr>
            <a:r>
              <a:rPr lang="en-US"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pic>
        <p:nvPicPr>
          <p:cNvPr id="6" name="Picture 3">
            <a:extLst>
              <a:ext uri="{FF2B5EF4-FFF2-40B4-BE49-F238E27FC236}">
                <a16:creationId xmlns:a16="http://schemas.microsoft.com/office/drawing/2014/main" id="{B44AC3DF-719E-4100-9283-32209EB363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3854" y="1435286"/>
            <a:ext cx="6162675" cy="4953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18">
            <a:extLst>
              <a:ext uri="{FF2B5EF4-FFF2-40B4-BE49-F238E27FC236}">
                <a16:creationId xmlns:a16="http://schemas.microsoft.com/office/drawing/2014/main" id="{8523F151-737C-4CB2-92C2-471E55022EEC}"/>
              </a:ext>
            </a:extLst>
          </p:cNvPr>
          <p:cNvSpPr>
            <a:spLocks noChangeArrowheads="1"/>
          </p:cNvSpPr>
          <p:nvPr/>
        </p:nvSpPr>
        <p:spPr bwMode="auto">
          <a:xfrm>
            <a:off x="3553854" y="97808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GB" altLang="en-US" sz="1300" b="1" i="0" u="none" strike="noStrike" cap="none" normalizeH="0" baseline="0">
                <a:ln>
                  <a:noFill/>
                </a:ln>
                <a:solidFill>
                  <a:schemeClr val="tx1"/>
                </a:solidFill>
                <a:effectLst/>
                <a:latin typeface="Arial" panose="020B0604020202020204" pitchFamily="34" charset="0"/>
                <a:ea typeface="Times New Roman" panose="02020603050405020304" pitchFamily="18" charset="0"/>
              </a:rPr>
              <a:t>Manage Attendance:</a:t>
            </a:r>
            <a:br>
              <a:rPr kumimoji="0" lang="en-GB" altLang="en-US" sz="1300" b="1"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GB"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56351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2475471" y="160639"/>
            <a:ext cx="7620001" cy="817447"/>
          </a:xfrm>
        </p:spPr>
        <p:txBody>
          <a:bodyPr>
            <a:normAutofit fontScale="90000"/>
          </a:bodyPr>
          <a:lstStyle/>
          <a:p>
            <a:pPr eaLnBrk="1" hangingPunct="1">
              <a:defRPr/>
            </a:pPr>
            <a:r>
              <a:rPr lang="en-US"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pic>
        <p:nvPicPr>
          <p:cNvPr id="8" name="Picture 2">
            <a:extLst>
              <a:ext uri="{FF2B5EF4-FFF2-40B4-BE49-F238E27FC236}">
                <a16:creationId xmlns:a16="http://schemas.microsoft.com/office/drawing/2014/main" id="{58D3BB1E-86A2-443F-BF70-0333F00BEF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9362" y="1628006"/>
            <a:ext cx="6172200" cy="464420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19">
            <a:extLst>
              <a:ext uri="{FF2B5EF4-FFF2-40B4-BE49-F238E27FC236}">
                <a16:creationId xmlns:a16="http://schemas.microsoft.com/office/drawing/2014/main" id="{3793A773-F69C-49E8-B327-AFF115C53A6E}"/>
              </a:ext>
            </a:extLst>
          </p:cNvPr>
          <p:cNvSpPr>
            <a:spLocks noChangeArrowheads="1"/>
          </p:cNvSpPr>
          <p:nvPr/>
        </p:nvSpPr>
        <p:spPr bwMode="auto">
          <a:xfrm>
            <a:off x="3325562" y="107444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r>
              <a:rPr kumimoji="0" lang="en-GB" altLang="en-US" sz="13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9: make payment:</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47455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a:extLst>
              <a:ext uri="{FF2B5EF4-FFF2-40B4-BE49-F238E27FC236}">
                <a16:creationId xmlns:a16="http://schemas.microsoft.com/office/drawing/2014/main" id="{503630C9-7362-4A7B-B43E-4DFD5CD9EFE0}"/>
              </a:ext>
            </a:extLst>
          </p:cNvPr>
          <p:cNvSpPr>
            <a:spLocks noGrp="1" noChangeArrowheads="1"/>
          </p:cNvSpPr>
          <p:nvPr>
            <p:ph type="ctrTitle"/>
          </p:nvPr>
        </p:nvSpPr>
        <p:spPr>
          <a:xfrm>
            <a:off x="2475471" y="160639"/>
            <a:ext cx="7620001" cy="817447"/>
          </a:xfrm>
        </p:spPr>
        <p:txBody>
          <a:bodyPr>
            <a:normAutofit fontScale="90000"/>
          </a:bodyPr>
          <a:lstStyle/>
          <a:p>
            <a:pPr eaLnBrk="1" hangingPunct="1">
              <a:defRPr/>
            </a:pPr>
            <a:r>
              <a:rPr lang="en-US" dirty="0">
                <a:solidFill>
                  <a:srgbClr val="0000FF"/>
                </a:solidFill>
              </a:rPr>
              <a:t>Sequence Diagrams</a:t>
            </a:r>
          </a:p>
        </p:txBody>
      </p:sp>
      <p:sp>
        <p:nvSpPr>
          <p:cNvPr id="59397" name="Rectangle 5">
            <a:extLst>
              <a:ext uri="{FF2B5EF4-FFF2-40B4-BE49-F238E27FC236}">
                <a16:creationId xmlns:a16="http://schemas.microsoft.com/office/drawing/2014/main" id="{CB1FA72F-872B-47A3-A4E0-E3D249946DC4}"/>
              </a:ext>
            </a:extLst>
          </p:cNvPr>
          <p:cNvSpPr>
            <a:spLocks noGrp="1" noChangeArrowheads="1"/>
          </p:cNvSpPr>
          <p:nvPr>
            <p:ph type="subTitle" idx="1"/>
          </p:nvPr>
        </p:nvSpPr>
        <p:spPr>
          <a:xfrm flipV="1">
            <a:off x="2475471" y="4985950"/>
            <a:ext cx="7620000" cy="1711411"/>
          </a:xfrm>
        </p:spPr>
        <p:txBody>
          <a:bodyPr/>
          <a:lstStyle/>
          <a:p>
            <a:pPr algn="l" eaLnBrk="1" hangingPunct="1">
              <a:defRPr/>
            </a:pPr>
            <a:r>
              <a:rPr lang="en-US" dirty="0"/>
              <a:t>.</a:t>
            </a:r>
          </a:p>
        </p:txBody>
      </p:sp>
      <p:pic>
        <p:nvPicPr>
          <p:cNvPr id="4" name="Picture 1">
            <a:extLst>
              <a:ext uri="{FF2B5EF4-FFF2-40B4-BE49-F238E27FC236}">
                <a16:creationId xmlns:a16="http://schemas.microsoft.com/office/drawing/2014/main" id="{AAE8EDD5-F48E-437F-BBCB-E0950856A0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7917" y="1552575"/>
            <a:ext cx="6172200" cy="37528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0">
            <a:extLst>
              <a:ext uri="{FF2B5EF4-FFF2-40B4-BE49-F238E27FC236}">
                <a16:creationId xmlns:a16="http://schemas.microsoft.com/office/drawing/2014/main" id="{6FC25E14-3694-4537-ADCC-292BE959D59F}"/>
              </a:ext>
            </a:extLst>
          </p:cNvPr>
          <p:cNvSpPr>
            <a:spLocks noChangeArrowheads="1"/>
          </p:cNvSpPr>
          <p:nvPr/>
        </p:nvSpPr>
        <p:spPr bwMode="auto">
          <a:xfrm>
            <a:off x="2747917" y="10953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rPr>
              <a:t>10: manage reports</a:t>
            </a:r>
            <a:br>
              <a:rPr kumimoji="0" lang="en-GB" altLang="en-US" sz="1200" b="1" i="0" u="none" strike="noStrike" cap="none" normalizeH="0" baseline="0">
                <a:ln>
                  <a:noFill/>
                </a:ln>
                <a:solidFill>
                  <a:schemeClr val="tx1"/>
                </a:solidFill>
                <a:effectLst/>
                <a:latin typeface="Arial" panose="020B0604020202020204" pitchFamily="34" charset="0"/>
                <a:ea typeface="Times New Roman" panose="02020603050405020304" pitchFamily="18" charset="0"/>
              </a:rPr>
            </a:br>
            <a:endParaRPr kumimoji="0" lang="en-GB"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26009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75" name="Rectangle 583">
            <a:extLst>
              <a:ext uri="{FF2B5EF4-FFF2-40B4-BE49-F238E27FC236}">
                <a16:creationId xmlns:a16="http://schemas.microsoft.com/office/drawing/2014/main" id="{880F3050-F6A0-4725-ACE3-FA73F174A4E4}"/>
              </a:ext>
            </a:extLst>
          </p:cNvPr>
          <p:cNvSpPr>
            <a:spLocks noGrp="1" noChangeArrowheads="1"/>
          </p:cNvSpPr>
          <p:nvPr>
            <p:ph type="title"/>
          </p:nvPr>
        </p:nvSpPr>
        <p:spPr>
          <a:xfrm>
            <a:off x="2253667" y="296643"/>
            <a:ext cx="8229600" cy="762000"/>
          </a:xfrm>
        </p:spPr>
        <p:txBody>
          <a:bodyPr/>
          <a:lstStyle/>
          <a:p>
            <a:pPr eaLnBrk="1" hangingPunct="1">
              <a:defRPr/>
            </a:pPr>
            <a:r>
              <a:rPr lang="en-US" dirty="0">
                <a:solidFill>
                  <a:srgbClr val="0000FF"/>
                </a:solidFill>
              </a:rPr>
              <a:t>Logical Model/Class Diagram</a:t>
            </a:r>
          </a:p>
        </p:txBody>
      </p:sp>
      <p:sp>
        <p:nvSpPr>
          <p:cNvPr id="13315" name="Rectangle 585">
            <a:extLst>
              <a:ext uri="{FF2B5EF4-FFF2-40B4-BE49-F238E27FC236}">
                <a16:creationId xmlns:a16="http://schemas.microsoft.com/office/drawing/2014/main" id="{21D1A1D8-43C6-4D9F-8CCC-ED032D0C9089}"/>
              </a:ext>
            </a:extLst>
          </p:cNvPr>
          <p:cNvSpPr>
            <a:spLocks noChangeArrowheads="1"/>
          </p:cNvSpPr>
          <p:nvPr/>
        </p:nvSpPr>
        <p:spPr bwMode="auto">
          <a:xfrm>
            <a:off x="1524001" y="11916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PK" altLang="en-PK"/>
          </a:p>
        </p:txBody>
      </p:sp>
      <p:sp>
        <p:nvSpPr>
          <p:cNvPr id="14" name="Rectangle 4">
            <a:extLst>
              <a:ext uri="{FF2B5EF4-FFF2-40B4-BE49-F238E27FC236}">
                <a16:creationId xmlns:a16="http://schemas.microsoft.com/office/drawing/2014/main" id="{6BE1B781-856B-41D1-9B6C-26B4D77A6B5B}"/>
              </a:ext>
            </a:extLst>
          </p:cNvPr>
          <p:cNvSpPr>
            <a:spLocks noChangeArrowheads="1"/>
          </p:cNvSpPr>
          <p:nvPr/>
        </p:nvSpPr>
        <p:spPr bwMode="auto">
          <a:xfrm>
            <a:off x="6537452" y="3286550"/>
            <a:ext cx="1230172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K"/>
          </a:p>
        </p:txBody>
      </p:sp>
      <p:sp>
        <p:nvSpPr>
          <p:cNvPr id="2" name="Rectangle 72">
            <a:extLst>
              <a:ext uri="{FF2B5EF4-FFF2-40B4-BE49-F238E27FC236}">
                <a16:creationId xmlns:a16="http://schemas.microsoft.com/office/drawing/2014/main" id="{3950D80C-67A8-4EFF-AEA4-193E14FA7E2C}"/>
              </a:ext>
            </a:extLst>
          </p:cNvPr>
          <p:cNvSpPr>
            <a:spLocks noChangeArrowheads="1"/>
          </p:cNvSpPr>
          <p:nvPr/>
        </p:nvSpPr>
        <p:spPr bwMode="auto">
          <a:xfrm>
            <a:off x="153376" y="1677799"/>
            <a:ext cx="1941068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K"/>
          </a:p>
        </p:txBody>
      </p:sp>
      <p:sp>
        <p:nvSpPr>
          <p:cNvPr id="5" name="Rectangle 5">
            <a:extLst>
              <a:ext uri="{FF2B5EF4-FFF2-40B4-BE49-F238E27FC236}">
                <a16:creationId xmlns:a16="http://schemas.microsoft.com/office/drawing/2014/main" id="{BBAA1D13-FF95-4965-929E-F729EEBB7BE3}"/>
              </a:ext>
            </a:extLst>
          </p:cNvPr>
          <p:cNvSpPr>
            <a:spLocks noChangeArrowheads="1"/>
          </p:cNvSpPr>
          <p:nvPr/>
        </p:nvSpPr>
        <p:spPr bwMode="auto">
          <a:xfrm>
            <a:off x="3416300" y="63243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42900" algn="just" defTabSz="914400" rtl="0" eaLnBrk="0" fontAlgn="base" latinLnBrk="0" hangingPunct="0">
              <a:lnSpc>
                <a:spcPct val="100000"/>
              </a:lnSpc>
              <a:spcBef>
                <a:spcPct val="0"/>
              </a:spcBef>
              <a:spcAft>
                <a:spcPct val="0"/>
              </a:spcAft>
              <a:buClrTx/>
              <a:buSzTx/>
              <a:buFontTx/>
              <a:buNone/>
              <a:tabLst/>
            </a:pPr>
            <a:endParaRPr kumimoji="0" lang="en-US" altLang="en-PK"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DEF92320-6B3E-4CEB-9A4E-8F05210A1525}"/>
              </a:ext>
            </a:extLst>
          </p:cNvPr>
          <p:cNvSpPr>
            <a:spLocks noChangeArrowheads="1"/>
          </p:cNvSpPr>
          <p:nvPr/>
        </p:nvSpPr>
        <p:spPr bwMode="auto">
          <a:xfrm>
            <a:off x="2569029" y="63243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42900" algn="just" defTabSz="914400" rtl="0" eaLnBrk="0" fontAlgn="base" latinLnBrk="0" hangingPunct="0">
              <a:lnSpc>
                <a:spcPct val="100000"/>
              </a:lnSpc>
              <a:spcBef>
                <a:spcPct val="0"/>
              </a:spcBef>
              <a:spcAft>
                <a:spcPct val="0"/>
              </a:spcAft>
              <a:buClrTx/>
              <a:buSzTx/>
              <a:buFontTx/>
              <a:buNone/>
              <a:tabLst/>
            </a:pPr>
            <a:endParaRPr kumimoji="0" lang="en-US" altLang="en-PK" sz="1800" b="0" i="0" u="none" strike="noStrike" cap="none" normalizeH="0" baseline="0" dirty="0">
              <a:ln>
                <a:noFill/>
              </a:ln>
              <a:solidFill>
                <a:schemeClr val="tx1"/>
              </a:solidFill>
              <a:effectLst/>
              <a:latin typeface="Arial" panose="020B0604020202020204" pitchFamily="34" charset="0"/>
            </a:endParaRPr>
          </a:p>
        </p:txBody>
      </p:sp>
      <p:pic>
        <p:nvPicPr>
          <p:cNvPr id="7170" name="Picture 2">
            <a:extLst>
              <a:ext uri="{FF2B5EF4-FFF2-40B4-BE49-F238E27FC236}">
                <a16:creationId xmlns:a16="http://schemas.microsoft.com/office/drawing/2014/main" id="{9C12B5D5-5660-4A2B-822E-13B8CC2655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1352" y="1089639"/>
            <a:ext cx="6172200"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531706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5">
            <a:extLst>
              <a:ext uri="{FF2B5EF4-FFF2-40B4-BE49-F238E27FC236}">
                <a16:creationId xmlns:a16="http://schemas.microsoft.com/office/drawing/2014/main" id="{8D3FFA6B-CE06-488F-89B6-07EB93980461}"/>
              </a:ext>
            </a:extLst>
          </p:cNvPr>
          <p:cNvSpPr>
            <a:spLocks noChangeArrowheads="1"/>
          </p:cNvSpPr>
          <p:nvPr/>
        </p:nvSpPr>
        <p:spPr bwMode="auto">
          <a:xfrm>
            <a:off x="1524001" y="15917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PK" altLang="en-PK"/>
          </a:p>
        </p:txBody>
      </p:sp>
      <p:sp>
        <p:nvSpPr>
          <p:cNvPr id="14339" name="Rectangle 6">
            <a:extLst>
              <a:ext uri="{FF2B5EF4-FFF2-40B4-BE49-F238E27FC236}">
                <a16:creationId xmlns:a16="http://schemas.microsoft.com/office/drawing/2014/main" id="{EE0D7A0C-3E62-4E10-9297-9C68BDA901DB}"/>
              </a:ext>
            </a:extLst>
          </p:cNvPr>
          <p:cNvSpPr>
            <a:spLocks noChangeArrowheads="1"/>
          </p:cNvSpPr>
          <p:nvPr/>
        </p:nvSpPr>
        <p:spPr bwMode="auto">
          <a:xfrm>
            <a:off x="1524001" y="48969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PK" altLang="en-PK">
              <a:latin typeface="Arial" panose="020B0604020202020204" pitchFamily="34" charset="0"/>
            </a:endParaRPr>
          </a:p>
        </p:txBody>
      </p:sp>
      <p:sp>
        <p:nvSpPr>
          <p:cNvPr id="60424" name="Rectangle 8">
            <a:extLst>
              <a:ext uri="{FF2B5EF4-FFF2-40B4-BE49-F238E27FC236}">
                <a16:creationId xmlns:a16="http://schemas.microsoft.com/office/drawing/2014/main" id="{206DC729-3C83-4E2F-A9F5-A91A3D7A9B1F}"/>
              </a:ext>
            </a:extLst>
          </p:cNvPr>
          <p:cNvSpPr>
            <a:spLocks noGrp="1" noChangeArrowheads="1"/>
          </p:cNvSpPr>
          <p:nvPr>
            <p:ph type="title"/>
          </p:nvPr>
        </p:nvSpPr>
        <p:spPr>
          <a:xfrm>
            <a:off x="2543961" y="305499"/>
            <a:ext cx="8229600" cy="762000"/>
          </a:xfrm>
        </p:spPr>
        <p:txBody>
          <a:bodyPr/>
          <a:lstStyle/>
          <a:p>
            <a:pPr eaLnBrk="1" hangingPunct="1">
              <a:defRPr/>
            </a:pPr>
            <a:r>
              <a:rPr lang="en-US" dirty="0">
                <a:solidFill>
                  <a:srgbClr val="0000FF"/>
                </a:solidFill>
              </a:rPr>
              <a:t>Entity-Relationship Diagram</a:t>
            </a:r>
          </a:p>
        </p:txBody>
      </p:sp>
      <p:sp>
        <p:nvSpPr>
          <p:cNvPr id="2" name="Rectangle 2">
            <a:extLst>
              <a:ext uri="{FF2B5EF4-FFF2-40B4-BE49-F238E27FC236}">
                <a16:creationId xmlns:a16="http://schemas.microsoft.com/office/drawing/2014/main" id="{CE7701EB-2C95-4438-9775-A190738C4602}"/>
              </a:ext>
            </a:extLst>
          </p:cNvPr>
          <p:cNvSpPr>
            <a:spLocks noChangeArrowheads="1"/>
          </p:cNvSpPr>
          <p:nvPr/>
        </p:nvSpPr>
        <p:spPr bwMode="auto">
          <a:xfrm>
            <a:off x="1796905" y="1961079"/>
            <a:ext cx="1818884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K"/>
          </a:p>
        </p:txBody>
      </p:sp>
      <p:pic>
        <p:nvPicPr>
          <p:cNvPr id="5122" name="Picture 2">
            <a:extLst>
              <a:ext uri="{FF2B5EF4-FFF2-40B4-BE49-F238E27FC236}">
                <a16:creationId xmlns:a16="http://schemas.microsoft.com/office/drawing/2014/main" id="{B1DC7118-8A78-4EBF-9C34-891C266FAA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3961" y="1067499"/>
            <a:ext cx="9391029" cy="484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5">
            <a:extLst>
              <a:ext uri="{FF2B5EF4-FFF2-40B4-BE49-F238E27FC236}">
                <a16:creationId xmlns:a16="http://schemas.microsoft.com/office/drawing/2014/main" id="{EC71CDB6-E057-46BF-8124-811F98C95792}"/>
              </a:ext>
            </a:extLst>
          </p:cNvPr>
          <p:cNvSpPr>
            <a:spLocks noGrp="1" noChangeArrowheads="1"/>
          </p:cNvSpPr>
          <p:nvPr>
            <p:ph type="ctrTitle"/>
          </p:nvPr>
        </p:nvSpPr>
        <p:spPr>
          <a:xfrm>
            <a:off x="1079500" y="88900"/>
            <a:ext cx="3721100" cy="838200"/>
          </a:xfrm>
        </p:spPr>
        <p:txBody>
          <a:bodyPr>
            <a:normAutofit/>
          </a:bodyPr>
          <a:lstStyle/>
          <a:p>
            <a:pPr eaLnBrk="1" hangingPunct="1">
              <a:defRPr/>
            </a:pPr>
            <a:r>
              <a:rPr lang="en-US" sz="3600" dirty="0">
                <a:solidFill>
                  <a:srgbClr val="0000FF"/>
                </a:solidFill>
              </a:rPr>
              <a:t>Database Diagram</a:t>
            </a:r>
          </a:p>
        </p:txBody>
      </p:sp>
      <p:sp>
        <p:nvSpPr>
          <p:cNvPr id="2" name="Rectangle 2">
            <a:extLst>
              <a:ext uri="{FF2B5EF4-FFF2-40B4-BE49-F238E27FC236}">
                <a16:creationId xmlns:a16="http://schemas.microsoft.com/office/drawing/2014/main" id="{80F5E015-B630-4DD0-93AC-1FA4D3DA2C44}"/>
              </a:ext>
            </a:extLst>
          </p:cNvPr>
          <p:cNvSpPr>
            <a:spLocks noChangeArrowheads="1"/>
          </p:cNvSpPr>
          <p:nvPr/>
        </p:nvSpPr>
        <p:spPr bwMode="auto">
          <a:xfrm>
            <a:off x="4965700" y="-1651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pic>
        <p:nvPicPr>
          <p:cNvPr id="6146" name="Picture 2">
            <a:extLst>
              <a:ext uri="{FF2B5EF4-FFF2-40B4-BE49-F238E27FC236}">
                <a16:creationId xmlns:a16="http://schemas.microsoft.com/office/drawing/2014/main" id="{EA110168-8B8A-4397-A554-F79DCF7362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1120" y="1059839"/>
            <a:ext cx="8741508" cy="5422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DE2CEE6C-8941-44D3-AF95-5672BBD9EADE}"/>
              </a:ext>
            </a:extLst>
          </p:cNvPr>
          <p:cNvSpPr>
            <a:spLocks noGrp="1" noChangeArrowheads="1"/>
          </p:cNvSpPr>
          <p:nvPr>
            <p:ph type="ctrTitle"/>
          </p:nvPr>
        </p:nvSpPr>
        <p:spPr>
          <a:xfrm>
            <a:off x="2133600" y="457200"/>
            <a:ext cx="7772400" cy="838200"/>
          </a:xfrm>
        </p:spPr>
        <p:txBody>
          <a:bodyPr>
            <a:normAutofit/>
          </a:bodyPr>
          <a:lstStyle/>
          <a:p>
            <a:pPr eaLnBrk="1" hangingPunct="1">
              <a:defRPr/>
            </a:pPr>
            <a:r>
              <a:rPr lang="en-US" sz="3600" dirty="0">
                <a:solidFill>
                  <a:srgbClr val="0000FF"/>
                </a:solidFill>
              </a:rPr>
              <a:t>User Interfaces</a:t>
            </a:r>
          </a:p>
        </p:txBody>
      </p:sp>
      <p:sp>
        <p:nvSpPr>
          <p:cNvPr id="2" name="Rectangle 5">
            <a:extLst>
              <a:ext uri="{FF2B5EF4-FFF2-40B4-BE49-F238E27FC236}">
                <a16:creationId xmlns:a16="http://schemas.microsoft.com/office/drawing/2014/main" id="{E1E490D9-5DFF-48A7-96D3-3641AA82B686}"/>
              </a:ext>
            </a:extLst>
          </p:cNvPr>
          <p:cNvSpPr>
            <a:spLocks noChangeArrowheads="1"/>
          </p:cNvSpPr>
          <p:nvPr/>
        </p:nvSpPr>
        <p:spPr bwMode="auto">
          <a:xfrm>
            <a:off x="2869810" y="1295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6">
            <a:extLst>
              <a:ext uri="{FF2B5EF4-FFF2-40B4-BE49-F238E27FC236}">
                <a16:creationId xmlns:a16="http://schemas.microsoft.com/office/drawing/2014/main" id="{EC2BBCB2-8D40-4506-AB8D-AF96BD904967}"/>
              </a:ext>
            </a:extLst>
          </p:cNvPr>
          <p:cNvSpPr>
            <a:spLocks noChangeArrowheads="1"/>
          </p:cNvSpPr>
          <p:nvPr/>
        </p:nvSpPr>
        <p:spPr bwMode="auto">
          <a:xfrm>
            <a:off x="2869810" y="4495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a:extLst>
              <a:ext uri="{FF2B5EF4-FFF2-40B4-BE49-F238E27FC236}">
                <a16:creationId xmlns:a16="http://schemas.microsoft.com/office/drawing/2014/main" id="{9478A6A6-5582-43BB-B018-213FCD4CD11C}"/>
              </a:ext>
            </a:extLst>
          </p:cNvPr>
          <p:cNvPicPr>
            <a:picLocks noChangeAspect="1"/>
          </p:cNvPicPr>
          <p:nvPr/>
        </p:nvPicPr>
        <p:blipFill>
          <a:blip r:embed="rId2"/>
          <a:stretch>
            <a:fillRect/>
          </a:stretch>
        </p:blipFill>
        <p:spPr>
          <a:xfrm>
            <a:off x="168812" y="1332651"/>
            <a:ext cx="11676185" cy="552534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DE2CEE6C-8941-44D3-AF95-5672BBD9EADE}"/>
              </a:ext>
            </a:extLst>
          </p:cNvPr>
          <p:cNvSpPr>
            <a:spLocks noGrp="1" noChangeArrowheads="1"/>
          </p:cNvSpPr>
          <p:nvPr>
            <p:ph type="ctrTitle"/>
          </p:nvPr>
        </p:nvSpPr>
        <p:spPr>
          <a:xfrm>
            <a:off x="2133600" y="457200"/>
            <a:ext cx="7772400" cy="838200"/>
          </a:xfrm>
        </p:spPr>
        <p:txBody>
          <a:bodyPr>
            <a:normAutofit/>
          </a:bodyPr>
          <a:lstStyle/>
          <a:p>
            <a:pPr eaLnBrk="1" hangingPunct="1">
              <a:defRPr/>
            </a:pPr>
            <a:r>
              <a:rPr lang="en-US" sz="3600" dirty="0">
                <a:solidFill>
                  <a:srgbClr val="0000FF"/>
                </a:solidFill>
              </a:rPr>
              <a:t>User Interfaces</a:t>
            </a:r>
          </a:p>
        </p:txBody>
      </p:sp>
      <p:pic>
        <p:nvPicPr>
          <p:cNvPr id="2" name="Picture 1">
            <a:extLst>
              <a:ext uri="{FF2B5EF4-FFF2-40B4-BE49-F238E27FC236}">
                <a16:creationId xmlns:a16="http://schemas.microsoft.com/office/drawing/2014/main" id="{E2B376F6-1C25-46F7-AB38-9170280D85A7}"/>
              </a:ext>
            </a:extLst>
          </p:cNvPr>
          <p:cNvPicPr>
            <a:picLocks noChangeAspect="1"/>
          </p:cNvPicPr>
          <p:nvPr/>
        </p:nvPicPr>
        <p:blipFill>
          <a:blip r:embed="rId2"/>
          <a:stretch>
            <a:fillRect/>
          </a:stretch>
        </p:blipFill>
        <p:spPr>
          <a:xfrm>
            <a:off x="1450364" y="1295400"/>
            <a:ext cx="9572625" cy="5562600"/>
          </a:xfrm>
          <a:prstGeom prst="rect">
            <a:avLst/>
          </a:prstGeom>
        </p:spPr>
      </p:pic>
    </p:spTree>
    <p:extLst>
      <p:ext uri="{BB962C8B-B14F-4D97-AF65-F5344CB8AC3E}">
        <p14:creationId xmlns:p14="http://schemas.microsoft.com/office/powerpoint/2010/main" val="1053115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DE2CEE6C-8941-44D3-AF95-5672BBD9EADE}"/>
              </a:ext>
            </a:extLst>
          </p:cNvPr>
          <p:cNvSpPr>
            <a:spLocks noGrp="1" noChangeArrowheads="1"/>
          </p:cNvSpPr>
          <p:nvPr>
            <p:ph type="ctrTitle"/>
          </p:nvPr>
        </p:nvSpPr>
        <p:spPr>
          <a:xfrm>
            <a:off x="2133600" y="457200"/>
            <a:ext cx="7772400" cy="838200"/>
          </a:xfrm>
        </p:spPr>
        <p:txBody>
          <a:bodyPr>
            <a:normAutofit/>
          </a:bodyPr>
          <a:lstStyle/>
          <a:p>
            <a:pPr eaLnBrk="1" hangingPunct="1">
              <a:defRPr/>
            </a:pPr>
            <a:r>
              <a:rPr lang="en-US" sz="3600" dirty="0">
                <a:solidFill>
                  <a:srgbClr val="0000FF"/>
                </a:solidFill>
              </a:rPr>
              <a:t>User Interfaces</a:t>
            </a:r>
          </a:p>
        </p:txBody>
      </p:sp>
      <p:pic>
        <p:nvPicPr>
          <p:cNvPr id="2" name="Picture 1">
            <a:extLst>
              <a:ext uri="{FF2B5EF4-FFF2-40B4-BE49-F238E27FC236}">
                <a16:creationId xmlns:a16="http://schemas.microsoft.com/office/drawing/2014/main" id="{52E6D70D-39BB-46AE-91C2-40A10F0B31C8}"/>
              </a:ext>
            </a:extLst>
          </p:cNvPr>
          <p:cNvPicPr>
            <a:picLocks noChangeAspect="1"/>
          </p:cNvPicPr>
          <p:nvPr/>
        </p:nvPicPr>
        <p:blipFill>
          <a:blip r:embed="rId2"/>
          <a:stretch>
            <a:fillRect/>
          </a:stretch>
        </p:blipFill>
        <p:spPr>
          <a:xfrm>
            <a:off x="1581150" y="1522754"/>
            <a:ext cx="9029700" cy="4132458"/>
          </a:xfrm>
          <a:prstGeom prst="rect">
            <a:avLst/>
          </a:prstGeom>
        </p:spPr>
      </p:pic>
    </p:spTree>
    <p:extLst>
      <p:ext uri="{BB962C8B-B14F-4D97-AF65-F5344CB8AC3E}">
        <p14:creationId xmlns:p14="http://schemas.microsoft.com/office/powerpoint/2010/main" val="2643771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DE2CEE6C-8941-44D3-AF95-5672BBD9EADE}"/>
              </a:ext>
            </a:extLst>
          </p:cNvPr>
          <p:cNvSpPr>
            <a:spLocks noGrp="1" noChangeArrowheads="1"/>
          </p:cNvSpPr>
          <p:nvPr>
            <p:ph type="ctrTitle"/>
          </p:nvPr>
        </p:nvSpPr>
        <p:spPr>
          <a:xfrm>
            <a:off x="2133600" y="457200"/>
            <a:ext cx="7772400" cy="838200"/>
          </a:xfrm>
        </p:spPr>
        <p:txBody>
          <a:bodyPr>
            <a:normAutofit/>
          </a:bodyPr>
          <a:lstStyle/>
          <a:p>
            <a:pPr eaLnBrk="1" hangingPunct="1">
              <a:defRPr/>
            </a:pPr>
            <a:r>
              <a:rPr lang="en-US" sz="3600" dirty="0">
                <a:solidFill>
                  <a:srgbClr val="0000FF"/>
                </a:solidFill>
              </a:rPr>
              <a:t>User Interfaces</a:t>
            </a:r>
          </a:p>
        </p:txBody>
      </p:sp>
      <p:pic>
        <p:nvPicPr>
          <p:cNvPr id="2" name="Picture 1">
            <a:extLst>
              <a:ext uri="{FF2B5EF4-FFF2-40B4-BE49-F238E27FC236}">
                <a16:creationId xmlns:a16="http://schemas.microsoft.com/office/drawing/2014/main" id="{5128DF9A-7882-4775-B98D-ECAFC5361F1A}"/>
              </a:ext>
            </a:extLst>
          </p:cNvPr>
          <p:cNvPicPr>
            <a:picLocks noChangeAspect="1"/>
          </p:cNvPicPr>
          <p:nvPr/>
        </p:nvPicPr>
        <p:blipFill>
          <a:blip r:embed="rId2"/>
          <a:stretch>
            <a:fillRect/>
          </a:stretch>
        </p:blipFill>
        <p:spPr>
          <a:xfrm>
            <a:off x="196948" y="1699724"/>
            <a:ext cx="12192000" cy="4701076"/>
          </a:xfrm>
          <a:prstGeom prst="rect">
            <a:avLst/>
          </a:prstGeom>
        </p:spPr>
      </p:pic>
    </p:spTree>
    <p:extLst>
      <p:ext uri="{BB962C8B-B14F-4D97-AF65-F5344CB8AC3E}">
        <p14:creationId xmlns:p14="http://schemas.microsoft.com/office/powerpoint/2010/main" val="12027331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5F2B52D0-83BF-4D2A-A3BC-E64CD0B5DB6D}"/>
              </a:ext>
            </a:extLst>
          </p:cNvPr>
          <p:cNvSpPr>
            <a:spLocks noGrp="1" noChangeArrowheads="1"/>
          </p:cNvSpPr>
          <p:nvPr>
            <p:ph type="title"/>
          </p:nvPr>
        </p:nvSpPr>
        <p:spPr>
          <a:xfrm>
            <a:off x="2592198" y="1166070"/>
            <a:ext cx="8560076" cy="1108046"/>
          </a:xfrm>
        </p:spPr>
        <p:txBody>
          <a:bodyPr/>
          <a:lstStyle/>
          <a:p>
            <a:pPr eaLnBrk="1" hangingPunct="1">
              <a:defRPr/>
            </a:pPr>
            <a:r>
              <a:rPr lang="en-US" dirty="0">
                <a:solidFill>
                  <a:srgbClr val="0000FF"/>
                </a:solidFill>
              </a:rPr>
              <a:t>Tools</a:t>
            </a:r>
          </a:p>
        </p:txBody>
      </p:sp>
      <p:sp>
        <p:nvSpPr>
          <p:cNvPr id="65539" name="Rectangle 3">
            <a:extLst>
              <a:ext uri="{FF2B5EF4-FFF2-40B4-BE49-F238E27FC236}">
                <a16:creationId xmlns:a16="http://schemas.microsoft.com/office/drawing/2014/main" id="{53521641-1D21-4C4D-9E1C-AEC0FC0006BC}"/>
              </a:ext>
            </a:extLst>
          </p:cNvPr>
          <p:cNvSpPr>
            <a:spLocks noGrp="1" noChangeArrowheads="1"/>
          </p:cNvSpPr>
          <p:nvPr>
            <p:ph idx="1"/>
          </p:nvPr>
        </p:nvSpPr>
        <p:spPr>
          <a:xfrm>
            <a:off x="2181138" y="2188128"/>
            <a:ext cx="8751116" cy="2481743"/>
          </a:xfrm>
        </p:spPr>
        <p:txBody>
          <a:bodyPr>
            <a:normAutofit/>
          </a:bodyPr>
          <a:lstStyle/>
          <a:p>
            <a:pPr eaLnBrk="1" hangingPunct="1">
              <a:defRPr/>
            </a:pPr>
            <a:endParaRPr lang="en-US" dirty="0"/>
          </a:p>
          <a:p>
            <a:pPr eaLnBrk="1" hangingPunct="1">
              <a:defRPr/>
            </a:pPr>
            <a:r>
              <a:rPr lang="en-US" b="1" dirty="0"/>
              <a:t>Languages: </a:t>
            </a:r>
            <a:r>
              <a:rPr lang="en-US" dirty="0"/>
              <a:t>HTML, CSS, PHP</a:t>
            </a:r>
          </a:p>
          <a:p>
            <a:pPr eaLnBrk="1" hangingPunct="1">
              <a:defRPr/>
            </a:pPr>
            <a:r>
              <a:rPr lang="en-US" b="1" dirty="0"/>
              <a:t>Database Tool: </a:t>
            </a:r>
            <a:r>
              <a:rPr lang="en-US" dirty="0" err="1"/>
              <a:t>Sqllite</a:t>
            </a:r>
            <a:endParaRPr lang="en-US" dirty="0"/>
          </a:p>
          <a:p>
            <a:pPr eaLnBrk="1" hangingPunct="1">
              <a:defRPr/>
            </a:pPr>
            <a:r>
              <a:rPr lang="en-US" b="1" dirty="0"/>
              <a:t>Other Tools: </a:t>
            </a:r>
            <a:r>
              <a:rPr lang="en-US" dirty="0"/>
              <a:t>Microsoft Office (Word, Visio, PowerPoint, MS Project) + VS Code</a:t>
            </a:r>
          </a:p>
          <a:p>
            <a:pPr eaLnBrk="1" hangingPunct="1">
              <a:defRPr/>
            </a:pPr>
            <a:endParaRPr lang="en-US" dirty="0"/>
          </a:p>
          <a:p>
            <a:pPr marL="0" indent="0" eaLnBrk="1" hangingPunct="1">
              <a:buNone/>
              <a:defRPr/>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5F2B52D0-83BF-4D2A-A3BC-E64CD0B5DB6D}"/>
              </a:ext>
            </a:extLst>
          </p:cNvPr>
          <p:cNvSpPr>
            <a:spLocks noGrp="1" noChangeArrowheads="1"/>
          </p:cNvSpPr>
          <p:nvPr>
            <p:ph type="title"/>
          </p:nvPr>
        </p:nvSpPr>
        <p:spPr>
          <a:xfrm>
            <a:off x="3859662" y="1577129"/>
            <a:ext cx="4932000" cy="3322041"/>
          </a:xfrm>
        </p:spPr>
        <p:txBody>
          <a:bodyPr>
            <a:normAutofit/>
          </a:bodyPr>
          <a:lstStyle/>
          <a:p>
            <a:pPr eaLnBrk="1" hangingPunct="1">
              <a:defRPr/>
            </a:pPr>
            <a:r>
              <a:rPr lang="en-US" sz="8800" dirty="0"/>
              <a:t>THANKS</a:t>
            </a:r>
          </a:p>
        </p:txBody>
      </p:sp>
      <p:sp>
        <p:nvSpPr>
          <p:cNvPr id="65539" name="Rectangle 3">
            <a:extLst>
              <a:ext uri="{FF2B5EF4-FFF2-40B4-BE49-F238E27FC236}">
                <a16:creationId xmlns:a16="http://schemas.microsoft.com/office/drawing/2014/main" id="{53521641-1D21-4C4D-9E1C-AEC0FC0006BC}"/>
              </a:ext>
            </a:extLst>
          </p:cNvPr>
          <p:cNvSpPr>
            <a:spLocks noGrp="1" noChangeArrowheads="1"/>
          </p:cNvSpPr>
          <p:nvPr>
            <p:ph idx="1"/>
          </p:nvPr>
        </p:nvSpPr>
        <p:spPr>
          <a:xfrm>
            <a:off x="2181138" y="2188128"/>
            <a:ext cx="8751116" cy="2481743"/>
          </a:xfrm>
        </p:spPr>
        <p:txBody>
          <a:bodyPr>
            <a:normAutofit/>
          </a:bodyPr>
          <a:lstStyle/>
          <a:p>
            <a:pPr eaLnBrk="1" hangingPunct="1">
              <a:defRPr/>
            </a:pPr>
            <a:endParaRPr lang="en-US" dirty="0"/>
          </a:p>
          <a:p>
            <a:pPr marL="0" indent="0" eaLnBrk="1" hangingPunct="1">
              <a:buNone/>
              <a:defRPr/>
            </a:pPr>
            <a:endParaRPr lang="en-US" dirty="0"/>
          </a:p>
        </p:txBody>
      </p:sp>
    </p:spTree>
    <p:extLst>
      <p:ext uri="{BB962C8B-B14F-4D97-AF65-F5344CB8AC3E}">
        <p14:creationId xmlns:p14="http://schemas.microsoft.com/office/powerpoint/2010/main" val="233727955"/>
      </p:ext>
    </p:extLst>
  </p:cSld>
  <p:clrMapOvr>
    <a:masterClrMapping/>
  </p:clrMapOvr>
</p:sld>
</file>

<file path=ppt/theme/theme1.xml><?xml version="1.0" encoding="utf-8"?>
<a:theme xmlns:a="http://schemas.openxmlformats.org/drawingml/2006/main" name="Wisp">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334</TotalTime>
  <Words>496</Words>
  <Application>Microsoft Office PowerPoint</Application>
  <PresentationFormat>Widescreen</PresentationFormat>
  <Paragraphs>74</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Tahoma</vt:lpstr>
      <vt:lpstr>Times New Roman</vt:lpstr>
      <vt:lpstr>Wingdings</vt:lpstr>
      <vt:lpstr>Wingdings 3</vt:lpstr>
      <vt:lpstr>Wisp</vt:lpstr>
      <vt:lpstr>PowerPoint Presentation</vt:lpstr>
      <vt:lpstr>Project</vt:lpstr>
      <vt:lpstr>VU Proctors-Diary</vt:lpstr>
      <vt:lpstr>Group Members Introduction</vt:lpstr>
      <vt:lpstr>INTRODUCTION OF PROJECT</vt:lpstr>
      <vt:lpstr>PowerPoint Presentation</vt:lpstr>
      <vt:lpstr>Use Case Diagram</vt:lpstr>
      <vt:lpstr>INTRODUCTION OF PROJECT</vt:lpstr>
      <vt:lpstr>Architectural Design</vt:lpstr>
      <vt:lpstr>Team Structure</vt:lpstr>
      <vt:lpstr>Project Schedule</vt:lpstr>
      <vt:lpstr>Sequence Diagrams</vt:lpstr>
      <vt:lpstr>Sequence Diagrams</vt:lpstr>
      <vt:lpstr>Sequence Diagrams</vt:lpstr>
      <vt:lpstr>Sequence Diagrams</vt:lpstr>
      <vt:lpstr>Sequence Diagrams</vt:lpstr>
      <vt:lpstr>Sequence Diagrams</vt:lpstr>
      <vt:lpstr>Sequence Diagrams</vt:lpstr>
      <vt:lpstr>Sequence Diagrams</vt:lpstr>
      <vt:lpstr>Sequence Diagrams</vt:lpstr>
      <vt:lpstr>Sequence Diagrams</vt:lpstr>
      <vt:lpstr>Logical Model/Class Diagram</vt:lpstr>
      <vt:lpstr>Entity-Relationship Diagram</vt:lpstr>
      <vt:lpstr>Database Diagram</vt:lpstr>
      <vt:lpstr>User Interfaces</vt:lpstr>
      <vt:lpstr>User Interfaces</vt:lpstr>
      <vt:lpstr>User Interfaces</vt:lpstr>
      <vt:lpstr>User Interfaces</vt:lpstr>
      <vt:lpstr>Tools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Nimra Shafaqat</dc:creator>
  <cp:lastModifiedBy>Usama</cp:lastModifiedBy>
  <cp:revision>266</cp:revision>
  <dcterms:created xsi:type="dcterms:W3CDTF">2024-05-09T09:05:37Z</dcterms:created>
  <dcterms:modified xsi:type="dcterms:W3CDTF">2025-11-24T15:41:32Z</dcterms:modified>
</cp:coreProperties>
</file>