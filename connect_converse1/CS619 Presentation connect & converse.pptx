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336" r:id="rId2"/>
    <p:sldId id="256" r:id="rId3"/>
    <p:sldId id="337" r:id="rId4"/>
    <p:sldId id="338" r:id="rId5"/>
    <p:sldId id="346" r:id="rId6"/>
    <p:sldId id="341" r:id="rId7"/>
    <p:sldId id="260" r:id="rId8"/>
    <p:sldId id="262" r:id="rId9"/>
    <p:sldId id="273" r:id="rId10"/>
    <p:sldId id="344" r:id="rId11"/>
    <p:sldId id="278" r:id="rId12"/>
    <p:sldId id="284" r:id="rId13"/>
    <p:sldId id="371" r:id="rId14"/>
    <p:sldId id="372" r:id="rId15"/>
    <p:sldId id="373" r:id="rId16"/>
    <p:sldId id="374" r:id="rId17"/>
    <p:sldId id="375" r:id="rId18"/>
    <p:sldId id="376" r:id="rId19"/>
    <p:sldId id="377" r:id="rId20"/>
    <p:sldId id="378" r:id="rId21"/>
    <p:sldId id="379" r:id="rId22"/>
    <p:sldId id="380" r:id="rId23"/>
    <p:sldId id="381" r:id="rId24"/>
    <p:sldId id="382" r:id="rId25"/>
    <p:sldId id="349" r:id="rId26"/>
    <p:sldId id="327" r:id="rId27"/>
    <p:sldId id="285" r:id="rId28"/>
    <p:sldId id="286" r:id="rId29"/>
    <p:sldId id="345" r:id="rId30"/>
    <p:sldId id="368" r:id="rId31"/>
    <p:sldId id="369" r:id="rId32"/>
    <p:sldId id="370" r:id="rId33"/>
    <p:sldId id="290" r:id="rId34"/>
    <p:sldId id="36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5226" autoAdjust="0"/>
  </p:normalViewPr>
  <p:slideViewPr>
    <p:cSldViewPr snapToGrid="0">
      <p:cViewPr>
        <p:scale>
          <a:sx n="50" d="100"/>
          <a:sy n="50" d="100"/>
        </p:scale>
        <p:origin x="1578"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456306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05024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97453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C87A38-B940-40B9-9CBB-EFD0F33F588B}" type="datetimeFigureOut">
              <a:rPr lang="en-PK" smtClean="0"/>
              <a:t>21/04/2025</a:t>
            </a:fld>
            <a:endParaRPr lang="en-PK"/>
          </a:p>
        </p:txBody>
      </p:sp>
      <p:sp>
        <p:nvSpPr>
          <p:cNvPr id="6" name="Footer Placeholder 5"/>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08935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C87A38-B940-40B9-9CBB-EFD0F33F588B}" type="datetimeFigureOut">
              <a:rPr lang="en-PK" smtClean="0"/>
              <a:t>21/04/2025</a:t>
            </a:fld>
            <a:endParaRPr lang="en-PK"/>
          </a:p>
        </p:txBody>
      </p:sp>
      <p:sp>
        <p:nvSpPr>
          <p:cNvPr id="8" name="Footer Placeholder 7"/>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26691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C87A38-B940-40B9-9CBB-EFD0F33F588B}" type="datetimeFigureOut">
              <a:rPr lang="en-PK" smtClean="0"/>
              <a:t>21/04/2025</a:t>
            </a:fld>
            <a:endParaRPr lang="en-PK"/>
          </a:p>
        </p:txBody>
      </p:sp>
      <p:sp>
        <p:nvSpPr>
          <p:cNvPr id="4" name="Footer Placeholder 3"/>
          <p:cNvSpPr>
            <a:spLocks noGrp="1"/>
          </p:cNvSpPr>
          <p:nvPr>
            <p:ph type="ftr" sz="quarter" idx="11"/>
          </p:nvPr>
        </p:nvSpPr>
        <p:spPr/>
        <p:txBody>
          <a:bodyPr/>
          <a:lstStyle/>
          <a:p>
            <a:endParaRPr lang="en-PK"/>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85201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C87A38-B940-40B9-9CBB-EFD0F33F588B}" type="datetimeFigureOut">
              <a:rPr lang="en-PK" smtClean="0"/>
              <a:t>21/04/2025</a:t>
            </a:fld>
            <a:endParaRPr lang="en-PK"/>
          </a:p>
        </p:txBody>
      </p:sp>
      <p:sp>
        <p:nvSpPr>
          <p:cNvPr id="3" name="Footer Placeholder 2"/>
          <p:cNvSpPr>
            <a:spLocks noGrp="1"/>
          </p:cNvSpPr>
          <p:nvPr>
            <p:ph type="ftr" sz="quarter" idx="11"/>
          </p:nvPr>
        </p:nvSpPr>
        <p:spPr/>
        <p:txBody>
          <a:bodyPr/>
          <a:lstStyle/>
          <a:p>
            <a:endParaRPr lang="en-PK"/>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532135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21/04/2025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17246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21/04/2025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162943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73632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6487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21/04/2025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148220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21/04/2025</a:t>
            </a:fld>
            <a:endParaRPr lang="en-PK"/>
          </a:p>
        </p:txBody>
      </p:sp>
      <p:sp>
        <p:nvSpPr>
          <p:cNvPr id="6" name="Footer Placeholder 5"/>
          <p:cNvSpPr>
            <a:spLocks noGrp="1"/>
          </p:cNvSpPr>
          <p:nvPr>
            <p:ph type="ftr" sz="quarter" idx="11"/>
          </p:nvPr>
        </p:nvSpPr>
        <p:spPr/>
        <p:txBody>
          <a:bodyPr/>
          <a:lstStyle/>
          <a:p>
            <a:endParaRPr lang="en-PK"/>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789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21/04/2025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58046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70877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21/04/2025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54524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3C87A38-B940-40B9-9CBB-EFD0F33F588B}" type="datetimeFigureOut">
              <a:rPr lang="en-PK" smtClean="0"/>
              <a:t>21/04/2025</a:t>
            </a:fld>
            <a:endParaRPr lang="en-PK"/>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PK"/>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9E98913-74CA-43B1-9369-69902D5C23D8}" type="slidenum">
              <a:rPr lang="en-PK" smtClean="0"/>
              <a:t>‹#›</a:t>
            </a:fld>
            <a:endParaRPr lang="en-PK"/>
          </a:p>
        </p:txBody>
      </p:sp>
    </p:spTree>
    <p:extLst>
      <p:ext uri="{BB962C8B-B14F-4D97-AF65-F5344CB8AC3E}">
        <p14:creationId xmlns:p14="http://schemas.microsoft.com/office/powerpoint/2010/main" val="176423234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8619FF7B-B84C-45A0-BC6E-3F96480C8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246" y="125834"/>
            <a:ext cx="8704976" cy="5935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EEEB-AAF2-4637-8557-FEAE1AF6FBFB}"/>
              </a:ext>
            </a:extLst>
          </p:cNvPr>
          <p:cNvSpPr>
            <a:spLocks noGrp="1"/>
          </p:cNvSpPr>
          <p:nvPr>
            <p:ph type="ctrTitle"/>
          </p:nvPr>
        </p:nvSpPr>
        <p:spPr/>
        <p:txBody>
          <a:bodyPr/>
          <a:lstStyle/>
          <a:p>
            <a:r>
              <a:rPr lang="en-US" dirty="0"/>
              <a:t>Project</a:t>
            </a:r>
            <a:endParaRPr lang="en-PK" dirty="0"/>
          </a:p>
        </p:txBody>
      </p:sp>
      <p:sp>
        <p:nvSpPr>
          <p:cNvPr id="3" name="Subtitle 2">
            <a:extLst>
              <a:ext uri="{FF2B5EF4-FFF2-40B4-BE49-F238E27FC236}">
                <a16:creationId xmlns:a16="http://schemas.microsoft.com/office/drawing/2014/main" id="{9A542A5A-808A-4634-BD80-06BE33E05D29}"/>
              </a:ext>
            </a:extLst>
          </p:cNvPr>
          <p:cNvSpPr>
            <a:spLocks noGrp="1"/>
          </p:cNvSpPr>
          <p:nvPr>
            <p:ph type="subTitle" idx="1"/>
          </p:nvPr>
        </p:nvSpPr>
        <p:spPr/>
        <p:txBody>
          <a:bodyPr/>
          <a:lstStyle/>
          <a:p>
            <a:r>
              <a:rPr lang="en-US" dirty="0"/>
              <a:t>PRESENTATION</a:t>
            </a:r>
            <a:endParaRPr lang="en-PK" dirty="0"/>
          </a:p>
        </p:txBody>
      </p:sp>
    </p:spTree>
    <p:extLst>
      <p:ext uri="{BB962C8B-B14F-4D97-AF65-F5344CB8AC3E}">
        <p14:creationId xmlns:p14="http://schemas.microsoft.com/office/powerpoint/2010/main" val="392539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F0B6ED0-8CFC-411A-9AA3-A047F63F4029}"/>
              </a:ext>
            </a:extLst>
          </p:cNvPr>
          <p:cNvSpPr>
            <a:spLocks noGrp="1" noChangeArrowheads="1"/>
          </p:cNvSpPr>
          <p:nvPr>
            <p:ph type="ctrTitle"/>
          </p:nvPr>
        </p:nvSpPr>
        <p:spPr>
          <a:xfrm>
            <a:off x="2133600" y="1066800"/>
            <a:ext cx="8001000" cy="2743200"/>
          </a:xfrm>
        </p:spPr>
        <p:txBody>
          <a:bodyPr anchor="t">
            <a:noAutofit/>
          </a:bodyPr>
          <a:lstStyle/>
          <a:p>
            <a:pPr algn="ctr">
              <a:defRPr/>
            </a:pPr>
            <a:r>
              <a:rPr lang="en-US" sz="4800" dirty="0"/>
              <a:t>“Connect &amp; Converse”: A Web-based Interactive Discussion Hub for University Students</a:t>
            </a:r>
          </a:p>
        </p:txBody>
      </p:sp>
      <p:pic>
        <p:nvPicPr>
          <p:cNvPr id="3075" name="Picture 6" descr="C:\Users\usman.waheed\Desktop\vulogo.jpg">
            <a:extLst>
              <a:ext uri="{FF2B5EF4-FFF2-40B4-BE49-F238E27FC236}">
                <a16:creationId xmlns:a16="http://schemas.microsoft.com/office/drawing/2014/main" id="{D358361D-3476-4504-A630-AA4D56A36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831" y="4327525"/>
            <a:ext cx="201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B62FCD9E-757B-46AC-A1AC-887CAF6D0A75}"/>
              </a:ext>
            </a:extLst>
          </p:cNvPr>
          <p:cNvSpPr>
            <a:spLocks noGrp="1" noChangeArrowheads="1"/>
          </p:cNvSpPr>
          <p:nvPr>
            <p:ph type="title"/>
          </p:nvPr>
        </p:nvSpPr>
        <p:spPr/>
        <p:txBody>
          <a:bodyPr>
            <a:normAutofit fontScale="90000"/>
          </a:bodyPr>
          <a:lstStyle/>
          <a:p>
            <a:pPr eaLnBrk="1" hangingPunct="1">
              <a:defRPr/>
            </a:pPr>
            <a:r>
              <a:rPr lang="en-US" sz="5900" dirty="0">
                <a:solidFill>
                  <a:srgbClr val="0000FF"/>
                </a:solidFill>
              </a:rPr>
              <a:t>Group Members Introduction</a:t>
            </a:r>
          </a:p>
        </p:txBody>
      </p:sp>
      <p:sp>
        <p:nvSpPr>
          <p:cNvPr id="135171" name="Rectangle 3">
            <a:extLst>
              <a:ext uri="{FF2B5EF4-FFF2-40B4-BE49-F238E27FC236}">
                <a16:creationId xmlns:a16="http://schemas.microsoft.com/office/drawing/2014/main" id="{7E30D5F9-5E71-4B75-AA8C-C3F4C96FB626}"/>
              </a:ext>
            </a:extLst>
          </p:cNvPr>
          <p:cNvSpPr>
            <a:spLocks noGrp="1" noChangeArrowheads="1"/>
          </p:cNvSpPr>
          <p:nvPr>
            <p:ph idx="1"/>
          </p:nvPr>
        </p:nvSpPr>
        <p:spPr>
          <a:xfrm>
            <a:off x="1981200" y="2514601"/>
            <a:ext cx="8229600" cy="1179810"/>
          </a:xfrm>
        </p:spPr>
        <p:txBody>
          <a:bodyPr>
            <a:spAutoFit/>
          </a:bodyPr>
          <a:lstStyle/>
          <a:p>
            <a:pPr eaLnBrk="1" hangingPunct="1">
              <a:buFont typeface="Wingdings" panose="05000000000000000000" pitchFamily="2" charset="2"/>
              <a:buNone/>
              <a:defRPr/>
            </a:pPr>
            <a:endParaRPr lang="en-US" dirty="0"/>
          </a:p>
          <a:p>
            <a:pPr eaLnBrk="1" hangingPunct="1">
              <a:buFont typeface="Wingdings" panose="05000000000000000000" pitchFamily="2" charset="2"/>
              <a:buNone/>
              <a:defRPr/>
            </a:pPr>
            <a:endParaRPr lang="en-US" dirty="0"/>
          </a:p>
          <a:p>
            <a:pPr algn="ctr">
              <a:buNone/>
              <a:defRPr/>
            </a:pPr>
            <a:r>
              <a:rPr lang="en-US" dirty="0"/>
              <a:t>Rubina (BC210400604)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2899B5D2-53C8-4E35-ACF4-CD24D8BAB869}"/>
              </a:ext>
            </a:extLst>
          </p:cNvPr>
          <p:cNvSpPr>
            <a:spLocks noGrp="1" noChangeArrowheads="1"/>
          </p:cNvSpPr>
          <p:nvPr>
            <p:ph type="ctrTitle"/>
          </p:nvPr>
        </p:nvSpPr>
        <p:spPr>
          <a:xfrm>
            <a:off x="2665828" y="548640"/>
            <a:ext cx="7772400" cy="580292"/>
          </a:xfrm>
        </p:spPr>
        <p:txBody>
          <a:bodyPr>
            <a:normAutofit fontScale="90000"/>
          </a:bodyPr>
          <a:lstStyle/>
          <a:p>
            <a:pPr eaLnBrk="1" hangingPunct="1">
              <a:defRPr/>
            </a:pPr>
            <a:r>
              <a:rPr lang="en-US" sz="3600" dirty="0">
                <a:solidFill>
                  <a:srgbClr val="0000FF"/>
                </a:solidFill>
              </a:rPr>
              <a:t>INTRODUCTION OF PROJECT</a:t>
            </a:r>
            <a:endParaRPr lang="en-US" sz="2800" dirty="0">
              <a:solidFill>
                <a:srgbClr val="0000FF"/>
              </a:solidFill>
            </a:endParaRPr>
          </a:p>
        </p:txBody>
      </p:sp>
      <p:sp>
        <p:nvSpPr>
          <p:cNvPr id="9221" name="Rectangle 5">
            <a:extLst>
              <a:ext uri="{FF2B5EF4-FFF2-40B4-BE49-F238E27FC236}">
                <a16:creationId xmlns:a16="http://schemas.microsoft.com/office/drawing/2014/main" id="{4D9979D8-FFB2-43AE-B6CF-14D54B7CDF64}"/>
              </a:ext>
            </a:extLst>
          </p:cNvPr>
          <p:cNvSpPr>
            <a:spLocks noGrp="1" noChangeArrowheads="1"/>
          </p:cNvSpPr>
          <p:nvPr>
            <p:ph type="subTitle" idx="1"/>
          </p:nvPr>
        </p:nvSpPr>
        <p:spPr>
          <a:xfrm>
            <a:off x="1876424" y="2057400"/>
            <a:ext cx="8791575" cy="3200400"/>
          </a:xfrm>
        </p:spPr>
        <p:txBody>
          <a:bodyPr>
            <a:normAutofit/>
          </a:bodyPr>
          <a:lstStyle/>
          <a:p>
            <a:pPr algn="just"/>
            <a:endParaRPr lang="en-US" sz="1800" dirty="0">
              <a:solidFill>
                <a:schemeClr val="tx1"/>
              </a:solidFill>
              <a:effectLst/>
              <a:latin typeface="+mj-lt"/>
              <a:ea typeface="Times New Roman" panose="02020603050405020304" pitchFamily="18" charset="0"/>
            </a:endParaRPr>
          </a:p>
          <a:p>
            <a:pPr algn="just"/>
            <a:r>
              <a:rPr lang="en-US" dirty="0">
                <a:solidFill>
                  <a:schemeClr val="tx1"/>
                </a:solidFill>
                <a:latin typeface="+mj-lt"/>
              </a:rPr>
              <a:t>Connect &amp; Converse" is a web-based platform designed to facilitate interactive discussions and knowledge sharing among university students. This project aims to create an engaging online community where students can ask questions, share ideas, and participate in discussions on various topics related to academics, campus life, and general interests. Developed using PHP and a suitable web framework, the platform will prioritize a user-friendly experience, encouraging active communication and collaboration. Through this project, students will gain skills in web development, user experience design, and community management, fostering a supportive and vibrant student network</a:t>
            </a:r>
          </a:p>
        </p:txBody>
      </p:sp>
      <p:pic>
        <p:nvPicPr>
          <p:cNvPr id="5124" name="Picture 8">
            <a:extLst>
              <a:ext uri="{FF2B5EF4-FFF2-40B4-BE49-F238E27FC236}">
                <a16:creationId xmlns:a16="http://schemas.microsoft.com/office/drawing/2014/main" id="{A90E317F-CB37-4892-99E3-A12C095A7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9800" y="6305550"/>
            <a:ext cx="838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632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Text Box 47">
            <a:extLst>
              <a:ext uri="{FF2B5EF4-FFF2-40B4-BE49-F238E27FC236}">
                <a16:creationId xmlns:a16="http://schemas.microsoft.com/office/drawing/2014/main" id="{15302705-E4BB-4CC8-851A-412E0E0EE58F}"/>
              </a:ext>
            </a:extLst>
          </p:cNvPr>
          <p:cNvSpPr txBox="1">
            <a:spLocks noChangeArrowheads="1"/>
          </p:cNvSpPr>
          <p:nvPr/>
        </p:nvSpPr>
        <p:spPr bwMode="auto">
          <a:xfrm>
            <a:off x="3124200" y="1295401"/>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endParaRPr lang="en-PK" altLang="en-PK"/>
          </a:p>
        </p:txBody>
      </p:sp>
      <p:sp>
        <p:nvSpPr>
          <p:cNvPr id="139312" name="Text Box 48">
            <a:extLst>
              <a:ext uri="{FF2B5EF4-FFF2-40B4-BE49-F238E27FC236}">
                <a16:creationId xmlns:a16="http://schemas.microsoft.com/office/drawing/2014/main" id="{3C2EBF78-70B6-4019-82AC-ACD1FF093C62}"/>
              </a:ext>
            </a:extLst>
          </p:cNvPr>
          <p:cNvSpPr txBox="1">
            <a:spLocks noChangeArrowheads="1"/>
          </p:cNvSpPr>
          <p:nvPr/>
        </p:nvSpPr>
        <p:spPr bwMode="auto">
          <a:xfrm>
            <a:off x="2376551" y="411144"/>
            <a:ext cx="4166862" cy="1292662"/>
          </a:xfrm>
          <a:prstGeom prst="rect">
            <a:avLst/>
          </a:prstGeom>
          <a:noFill/>
          <a:ln w="9525">
            <a:noFill/>
            <a:miter lim="800000"/>
            <a:headEnd/>
            <a:tailEnd/>
          </a:ln>
          <a:effectLst/>
        </p:spPr>
        <p:txBody>
          <a:bodyPr wrap="square">
            <a:spAutoFit/>
          </a:bodyPr>
          <a:lstStyle/>
          <a:p>
            <a:pPr>
              <a:spcBef>
                <a:spcPct val="50000"/>
              </a:spcBef>
              <a:defRPr/>
            </a:pPr>
            <a:r>
              <a:rPr lang="en-US" sz="3600" dirty="0">
                <a:solidFill>
                  <a:srgbClr val="0000FF"/>
                </a:solidFill>
                <a:latin typeface="+mj-lt"/>
              </a:rPr>
              <a:t>VU Process Model</a:t>
            </a:r>
          </a:p>
          <a:p>
            <a:pPr>
              <a:spcBef>
                <a:spcPct val="50000"/>
              </a:spcBef>
              <a:defRPr/>
            </a:pPr>
            <a:endParaRPr lang="en-US" sz="2800" b="1" dirty="0">
              <a:latin typeface="+mj-lt"/>
            </a:endParaRPr>
          </a:p>
        </p:txBody>
      </p:sp>
      <p:pic>
        <p:nvPicPr>
          <p:cNvPr id="5" name="Picture 4">
            <a:extLst>
              <a:ext uri="{FF2B5EF4-FFF2-40B4-BE49-F238E27FC236}">
                <a16:creationId xmlns:a16="http://schemas.microsoft.com/office/drawing/2014/main" id="{2F12EC64-76F2-4AB2-B6C5-7F475C84AA0C}"/>
              </a:ext>
            </a:extLst>
          </p:cNvPr>
          <p:cNvPicPr/>
          <p:nvPr/>
        </p:nvPicPr>
        <p:blipFill>
          <a:blip r:embed="rId2">
            <a:extLst>
              <a:ext uri="{28A0092B-C50C-407E-A947-70E740481C1C}">
                <a14:useLocalDpi xmlns:a14="http://schemas.microsoft.com/office/drawing/2010/main" val="0"/>
              </a:ext>
            </a:extLst>
          </a:blip>
          <a:srcRect l="-2449" t="-2127" r="-1633" b="-1891"/>
          <a:stretch>
            <a:fillRect/>
          </a:stretch>
        </p:blipFill>
        <p:spPr bwMode="auto">
          <a:xfrm>
            <a:off x="3529012" y="1743075"/>
            <a:ext cx="6416846" cy="4137220"/>
          </a:xfrm>
          <a:prstGeom prst="rect">
            <a:avLst/>
          </a:prstGeom>
          <a:solidFill>
            <a:srgbClr val="FFFFFF"/>
          </a:solidFill>
          <a:ln w="12700" cmpd="sng">
            <a:solidFill>
              <a:srgbClr val="000000"/>
            </a:solidFill>
            <a:miter lim="800000"/>
            <a:headEnd/>
            <a:tailEnd/>
          </a:ln>
          <a:effectLst/>
        </p:spPr>
      </p:pic>
    </p:spTree>
  </p:cSld>
  <p:clrMapOvr>
    <a:masterClrMapping/>
  </p:clrMapOvr>
  <p:transition spd="slow">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942CBE18-2310-401C-B342-F995C53D0A37}"/>
              </a:ext>
            </a:extLst>
          </p:cNvPr>
          <p:cNvSpPr>
            <a:spLocks noGrp="1" noChangeArrowheads="1"/>
          </p:cNvSpPr>
          <p:nvPr>
            <p:ph type="ctrTitle"/>
          </p:nvPr>
        </p:nvSpPr>
        <p:spPr>
          <a:xfrm>
            <a:off x="4427520" y="182880"/>
            <a:ext cx="4439593" cy="727427"/>
          </a:xfrm>
        </p:spPr>
        <p:txBody>
          <a:bodyPr>
            <a:noAutofit/>
          </a:bodyPr>
          <a:lstStyle/>
          <a:p>
            <a:pPr algn="ctr" eaLnBrk="1" hangingPunct="1">
              <a:defRPr/>
            </a:pPr>
            <a:r>
              <a:rPr lang="en-US" sz="3600" dirty="0">
                <a:solidFill>
                  <a:srgbClr val="0000FF"/>
                </a:solidFill>
              </a:rPr>
              <a:t>Use Case Diagram</a:t>
            </a:r>
          </a:p>
        </p:txBody>
      </p:sp>
      <p:sp>
        <p:nvSpPr>
          <p:cNvPr id="4" name="Rectangle 4">
            <a:extLst>
              <a:ext uri="{FF2B5EF4-FFF2-40B4-BE49-F238E27FC236}">
                <a16:creationId xmlns:a16="http://schemas.microsoft.com/office/drawing/2014/main" id="{A94F7DB2-688C-4514-A509-CFB1FAE6CA7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3" name="Picture 2">
            <a:extLst>
              <a:ext uri="{FF2B5EF4-FFF2-40B4-BE49-F238E27FC236}">
                <a16:creationId xmlns:a16="http://schemas.microsoft.com/office/drawing/2014/main" id="{AEEB810B-6757-4D17-9C80-B0373A333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4451" y="910306"/>
            <a:ext cx="9185732" cy="57648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a:extLst>
              <a:ext uri="{FF2B5EF4-FFF2-40B4-BE49-F238E27FC236}">
                <a16:creationId xmlns:a16="http://schemas.microsoft.com/office/drawing/2014/main" id="{92065671-43C1-4F74-A5E1-FE14E723063A}"/>
              </a:ext>
            </a:extLst>
          </p:cNvPr>
          <p:cNvSpPr>
            <a:spLocks noGrp="1" noChangeArrowheads="1"/>
          </p:cNvSpPr>
          <p:nvPr>
            <p:ph type="ctrTitle"/>
          </p:nvPr>
        </p:nvSpPr>
        <p:spPr>
          <a:xfrm>
            <a:off x="3372724" y="280485"/>
            <a:ext cx="5446552" cy="591375"/>
          </a:xfrm>
        </p:spPr>
        <p:txBody>
          <a:bodyPr>
            <a:noAutofit/>
          </a:bodyPr>
          <a:lstStyle/>
          <a:p>
            <a:pPr eaLnBrk="1" hangingPunct="1">
              <a:defRPr/>
            </a:pPr>
            <a:r>
              <a:rPr lang="en-US" sz="3600" dirty="0">
                <a:solidFill>
                  <a:srgbClr val="0000FF"/>
                </a:solidFill>
              </a:rPr>
              <a:t>Functional Requirements</a:t>
            </a:r>
          </a:p>
        </p:txBody>
      </p:sp>
      <p:sp>
        <p:nvSpPr>
          <p:cNvPr id="3" name="Subtitle 2">
            <a:extLst>
              <a:ext uri="{FF2B5EF4-FFF2-40B4-BE49-F238E27FC236}">
                <a16:creationId xmlns:a16="http://schemas.microsoft.com/office/drawing/2014/main" id="{50D3C562-DE59-4D9D-96AE-5AAAA114ADE9}"/>
              </a:ext>
            </a:extLst>
          </p:cNvPr>
          <p:cNvSpPr>
            <a:spLocks noGrp="1"/>
          </p:cNvSpPr>
          <p:nvPr>
            <p:ph type="subTitle" idx="1"/>
          </p:nvPr>
        </p:nvSpPr>
        <p:spPr>
          <a:xfrm>
            <a:off x="2758025" y="1091644"/>
            <a:ext cx="8915399" cy="4915261"/>
          </a:xfrm>
        </p:spPr>
        <p:txBody>
          <a:bodyPr>
            <a:normAutofit/>
          </a:bodyPr>
          <a:lstStyle/>
          <a:p>
            <a:pPr marL="285750" lvl="0" indent="-285750">
              <a:buFont typeface="Arial" panose="020B0604020202020204" pitchFamily="34" charset="0"/>
              <a:buChar char="•"/>
            </a:pPr>
            <a:r>
              <a:rPr lang="en-US" dirty="0">
                <a:solidFill>
                  <a:schemeClr val="tx1"/>
                </a:solidFill>
              </a:rPr>
              <a:t>User Registration &amp; Login</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Book Listings</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Search &amp; Filter Books</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Request Book Exchange</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Book Exchange Status</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Messaging System</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Book Reviews &amp; Ratings</a:t>
            </a:r>
            <a:endParaRPr lang="en-PK" dirty="0">
              <a:solidFill>
                <a:schemeClr val="tx1"/>
              </a:solidFill>
            </a:endParaRPr>
          </a:p>
          <a:p>
            <a:pPr marL="285750" lvl="0" indent="-285750">
              <a:buFont typeface="Arial" panose="020B0604020202020204" pitchFamily="34" charset="0"/>
              <a:buChar char="•"/>
            </a:pPr>
            <a:r>
              <a:rPr lang="en-US" dirty="0">
                <a:solidFill>
                  <a:schemeClr val="tx1"/>
                </a:solidFill>
              </a:rPr>
              <a:t>Book Wish List</a:t>
            </a:r>
            <a:endParaRPr lang="en-PK" dirty="0">
              <a:solidFill>
                <a:schemeClr val="tx1"/>
              </a:solidFill>
            </a:endParaRPr>
          </a:p>
          <a:p>
            <a:endParaRPr lang="en-PK"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3082C84E-DCBA-44F3-8091-F11DC702423C}"/>
              </a:ext>
            </a:extLst>
          </p:cNvPr>
          <p:cNvSpPr>
            <a:spLocks noGrp="1" noChangeArrowheads="1"/>
          </p:cNvSpPr>
          <p:nvPr>
            <p:ph type="title"/>
          </p:nvPr>
        </p:nvSpPr>
        <p:spPr/>
        <p:txBody>
          <a:bodyPr/>
          <a:lstStyle/>
          <a:p>
            <a:pPr eaLnBrk="1" hangingPunct="1">
              <a:defRPr/>
            </a:pPr>
            <a:r>
              <a:rPr lang="en-GB" dirty="0">
                <a:solidFill>
                  <a:srgbClr val="0000FF"/>
                </a:solidFill>
              </a:rPr>
              <a:t>Architectural</a:t>
            </a:r>
            <a:r>
              <a:rPr lang="en-GB" i="1" dirty="0">
                <a:solidFill>
                  <a:srgbClr val="0000FF"/>
                </a:solidFill>
              </a:rPr>
              <a:t> </a:t>
            </a:r>
            <a:r>
              <a:rPr lang="en-GB" dirty="0">
                <a:solidFill>
                  <a:srgbClr val="0000FF"/>
                </a:solidFill>
              </a:rPr>
              <a:t>Design</a:t>
            </a:r>
            <a:endParaRPr lang="en-US" dirty="0">
              <a:solidFill>
                <a:srgbClr val="0000FF"/>
              </a:solidFill>
            </a:endParaRPr>
          </a:p>
        </p:txBody>
      </p:sp>
      <p:sp>
        <p:nvSpPr>
          <p:cNvPr id="9219" name="Rectangle 10">
            <a:extLst>
              <a:ext uri="{FF2B5EF4-FFF2-40B4-BE49-F238E27FC236}">
                <a16:creationId xmlns:a16="http://schemas.microsoft.com/office/drawing/2014/main" id="{B034EEDE-FFF9-478B-8E3C-430257E1963B}"/>
              </a:ext>
            </a:extLst>
          </p:cNvPr>
          <p:cNvSpPr>
            <a:spLocks noChangeArrowheads="1"/>
          </p:cNvSpPr>
          <p:nvPr/>
        </p:nvSpPr>
        <p:spPr bwMode="auto">
          <a:xfrm>
            <a:off x="1524001" y="12012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6" name="Rectangle 5">
            <a:extLst>
              <a:ext uri="{FF2B5EF4-FFF2-40B4-BE49-F238E27FC236}">
                <a16:creationId xmlns:a16="http://schemas.microsoft.com/office/drawing/2014/main" id="{D37BA5C5-43E0-4D9B-8C8A-9DC93B00BABD}"/>
              </a:ext>
            </a:extLst>
          </p:cNvPr>
          <p:cNvSpPr txBox="1">
            <a:spLocks noChangeArrowheads="1"/>
          </p:cNvSpPr>
          <p:nvPr/>
        </p:nvSpPr>
        <p:spPr>
          <a:xfrm>
            <a:off x="3048000" y="3124200"/>
            <a:ext cx="6781800" cy="762000"/>
          </a:xfrm>
          <a:prstGeom prst="rect">
            <a:avLst/>
          </a:prstGeom>
        </p:spPr>
        <p:txBody>
          <a:bodyPr/>
          <a:lstStyle/>
          <a:p>
            <a:pPr marL="342900" indent="-342900">
              <a:spcBef>
                <a:spcPct val="20000"/>
              </a:spcBef>
              <a:buClr>
                <a:schemeClr val="hlink"/>
              </a:buClr>
              <a:buSzPct val="65000"/>
              <a:defRPr/>
            </a:pPr>
            <a:endParaRPr lang="en-US" sz="3200" kern="0" dirty="0">
              <a:effectLst>
                <a:outerShdw blurRad="38100" dist="38100" dir="2700000" algn="tl">
                  <a:srgbClr val="000000"/>
                </a:outerShdw>
              </a:effectLst>
            </a:endParaRPr>
          </a:p>
        </p:txBody>
      </p:sp>
      <p:pic>
        <p:nvPicPr>
          <p:cNvPr id="26626" name="Picture 2">
            <a:extLst>
              <a:ext uri="{FF2B5EF4-FFF2-40B4-BE49-F238E27FC236}">
                <a16:creationId xmlns:a16="http://schemas.microsoft.com/office/drawing/2014/main" id="{412B3FBD-9BB2-4559-B05F-1CA5E65F09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0" y="2509043"/>
            <a:ext cx="6781800" cy="1839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45E2395F-B67C-4EB8-9FE6-0FB37C57E661}"/>
              </a:ext>
            </a:extLst>
          </p:cNvPr>
          <p:cNvSpPr>
            <a:spLocks noGrp="1" noChangeArrowheads="1"/>
          </p:cNvSpPr>
          <p:nvPr>
            <p:ph type="title"/>
          </p:nvPr>
        </p:nvSpPr>
        <p:spPr/>
        <p:txBody>
          <a:bodyPr/>
          <a:lstStyle/>
          <a:p>
            <a:pPr eaLnBrk="1" hangingPunct="1">
              <a:defRPr/>
            </a:pPr>
            <a:r>
              <a:rPr lang="en-US" dirty="0">
                <a:solidFill>
                  <a:srgbClr val="0000FF"/>
                </a:solidFill>
              </a:rPr>
              <a:t>Team Structure</a:t>
            </a:r>
          </a:p>
        </p:txBody>
      </p:sp>
      <p:sp>
        <p:nvSpPr>
          <p:cNvPr id="148483" name="Rectangle 3">
            <a:extLst>
              <a:ext uri="{FF2B5EF4-FFF2-40B4-BE49-F238E27FC236}">
                <a16:creationId xmlns:a16="http://schemas.microsoft.com/office/drawing/2014/main" id="{FD41585B-739F-4A52-8C2D-C18FC7F5BCA1}"/>
              </a:ext>
            </a:extLst>
          </p:cNvPr>
          <p:cNvSpPr>
            <a:spLocks noGrp="1" noChangeArrowheads="1"/>
          </p:cNvSpPr>
          <p:nvPr>
            <p:ph idx="1"/>
          </p:nvPr>
        </p:nvSpPr>
        <p:spPr>
          <a:xfrm>
            <a:off x="1713230" y="2705100"/>
            <a:ext cx="9905998" cy="1447800"/>
          </a:xfrm>
        </p:spPr>
        <p:txBody>
          <a:bodyPr/>
          <a:lstStyle/>
          <a:p>
            <a:pPr algn="ctr" eaLnBrk="1" hangingPunct="1">
              <a:buFont typeface="Wingdings" panose="05000000000000000000" pitchFamily="2" charset="2"/>
              <a:buNone/>
              <a:defRPr/>
            </a:pPr>
            <a:r>
              <a:rPr lang="en-US" dirty="0"/>
              <a:t>Supervisor                 Saeed Amjad</a:t>
            </a:r>
          </a:p>
          <a:p>
            <a:pPr algn="ctr" eaLnBrk="1" hangingPunct="1">
              <a:buFont typeface="Wingdings" panose="05000000000000000000" pitchFamily="2" charset="2"/>
              <a:buNone/>
              <a:defRPr/>
            </a:pPr>
            <a:r>
              <a:rPr lang="en-US" dirty="0"/>
              <a:t>Member                     Rubina</a:t>
            </a:r>
          </a:p>
        </p:txBody>
      </p:sp>
      <p:cxnSp>
        <p:nvCxnSpPr>
          <p:cNvPr id="4" name="Straight Arrow Connector 3">
            <a:extLst>
              <a:ext uri="{FF2B5EF4-FFF2-40B4-BE49-F238E27FC236}">
                <a16:creationId xmlns:a16="http://schemas.microsoft.com/office/drawing/2014/main" id="{6E97C00B-F7B6-4B0A-AF15-CD8065041DC8}"/>
              </a:ext>
            </a:extLst>
          </p:cNvPr>
          <p:cNvCxnSpPr>
            <a:cxnSpLocks/>
          </p:cNvCxnSpPr>
          <p:nvPr/>
        </p:nvCxnSpPr>
        <p:spPr>
          <a:xfrm flipV="1">
            <a:off x="6110068" y="2942941"/>
            <a:ext cx="926757" cy="1"/>
          </a:xfrm>
          <a:prstGeom prst="straightConnector1">
            <a:avLst/>
          </a:prstGeom>
          <a:ln w="952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72D2FEFF-5003-4EC9-BB51-8C54F72A23EA}"/>
              </a:ext>
            </a:extLst>
          </p:cNvPr>
          <p:cNvCxnSpPr>
            <a:cxnSpLocks/>
          </p:cNvCxnSpPr>
          <p:nvPr/>
        </p:nvCxnSpPr>
        <p:spPr>
          <a:xfrm>
            <a:off x="6191197" y="3307396"/>
            <a:ext cx="1031548" cy="1"/>
          </a:xfrm>
          <a:prstGeom prst="straightConnector1">
            <a:avLst/>
          </a:prstGeom>
          <a:ln w="9525" cap="flat" cmpd="sng" algn="ctr">
            <a:solidFill>
              <a:schemeClr val="tx1">
                <a:lumMod val="9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4D54C86-D886-47D5-AD12-5B7CB4862CC2}"/>
              </a:ext>
            </a:extLst>
          </p:cNvPr>
          <p:cNvSpPr>
            <a:spLocks noGrp="1" noChangeArrowheads="1"/>
          </p:cNvSpPr>
          <p:nvPr>
            <p:ph type="title"/>
          </p:nvPr>
        </p:nvSpPr>
        <p:spPr/>
        <p:txBody>
          <a:bodyPr/>
          <a:lstStyle/>
          <a:p>
            <a:pPr eaLnBrk="1" hangingPunct="1">
              <a:defRPr/>
            </a:pPr>
            <a:r>
              <a:rPr lang="en-US" dirty="0">
                <a:solidFill>
                  <a:srgbClr val="0000FF"/>
                </a:solidFill>
              </a:rPr>
              <a:t>Project Schedule</a:t>
            </a:r>
          </a:p>
        </p:txBody>
      </p:sp>
      <p:sp>
        <p:nvSpPr>
          <p:cNvPr id="11268" name="Rectangle 5">
            <a:extLst>
              <a:ext uri="{FF2B5EF4-FFF2-40B4-BE49-F238E27FC236}">
                <a16:creationId xmlns:a16="http://schemas.microsoft.com/office/drawing/2014/main" id="{6135079A-CE07-43DA-9B8B-7D69914D52F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pic>
        <p:nvPicPr>
          <p:cNvPr id="8" name="Picture 7">
            <a:extLst>
              <a:ext uri="{FF2B5EF4-FFF2-40B4-BE49-F238E27FC236}">
                <a16:creationId xmlns:a16="http://schemas.microsoft.com/office/drawing/2014/main" id="{F5930007-0E78-416B-83F1-17CCCD5C7FD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778566" y="1448972"/>
            <a:ext cx="8911686" cy="4965896"/>
          </a:xfrm>
          <a:prstGeom prst="rect">
            <a:avLst/>
          </a:prstGeom>
          <a:solidFill>
            <a:srgbClr val="FFFFFF"/>
          </a:solidFill>
          <a:ln w="12700">
            <a:solidFill>
              <a:srgbClr val="000000"/>
            </a:solid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17" name="Rectangle 31">
            <a:extLst>
              <a:ext uri="{FF2B5EF4-FFF2-40B4-BE49-F238E27FC236}">
                <a16:creationId xmlns:a16="http://schemas.microsoft.com/office/drawing/2014/main" id="{671A734E-CE0E-4086-99E0-6750F7C3E5CF}"/>
              </a:ext>
            </a:extLst>
          </p:cNvPr>
          <p:cNvSpPr>
            <a:spLocks noChangeArrowheads="1"/>
          </p:cNvSpPr>
          <p:nvPr/>
        </p:nvSpPr>
        <p:spPr bwMode="auto">
          <a:xfrm>
            <a:off x="2250383" y="690656"/>
            <a:ext cx="2683567" cy="890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dirty="0">
              <a:ln>
                <a:noFill/>
              </a:ln>
              <a:solidFill>
                <a:schemeClr val="tx1"/>
              </a:solidFill>
              <a:effectLst/>
              <a:latin typeface="Arial" panose="020B0604020202020204" pitchFamily="34" charset="0"/>
            </a:endParaRPr>
          </a:p>
        </p:txBody>
      </p:sp>
      <p:pic>
        <p:nvPicPr>
          <p:cNvPr id="12318" name="Picture 30" descr="002%20login">
            <a:extLst>
              <a:ext uri="{FF2B5EF4-FFF2-40B4-BE49-F238E27FC236}">
                <a16:creationId xmlns:a16="http://schemas.microsoft.com/office/drawing/2014/main" id="{BD5D2EB9-AD5E-4B1F-A415-A6C432BA7A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6023"/>
          <a:stretch>
            <a:fillRect/>
          </a:stretch>
        </p:blipFill>
        <p:spPr bwMode="auto">
          <a:xfrm>
            <a:off x="3365035" y="1908784"/>
            <a:ext cx="7446501" cy="406011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8" name="Rectangle 32">
            <a:extLst>
              <a:ext uri="{FF2B5EF4-FFF2-40B4-BE49-F238E27FC236}">
                <a16:creationId xmlns:a16="http://schemas.microsoft.com/office/drawing/2014/main" id="{059109EA-2CEA-4C31-93E1-C04442E3F6CE}"/>
              </a:ext>
            </a:extLst>
          </p:cNvPr>
          <p:cNvSpPr>
            <a:spLocks noChangeArrowheads="1"/>
          </p:cNvSpPr>
          <p:nvPr/>
        </p:nvSpPr>
        <p:spPr bwMode="auto">
          <a:xfrm>
            <a:off x="2598058" y="1065541"/>
            <a:ext cx="1849961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810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Lst>
            </a:pPr>
            <a:r>
              <a:rPr kumimoji="0" lang="en-US" altLang="en-PK" sz="24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 Register</a:t>
            </a:r>
            <a:endParaRPr kumimoji="0" lang="en-US" altLang="en-P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Lst>
            </a:pPr>
            <a:endParaRPr kumimoji="0" lang="en-US" altLang="en-PK" sz="3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E66FE84F-843C-4A58-AA7F-9CE2E7AC8661}"/>
              </a:ext>
            </a:extLst>
          </p:cNvPr>
          <p:cNvSpPr>
            <a:spLocks noChangeArrowheads="1"/>
          </p:cNvSpPr>
          <p:nvPr/>
        </p:nvSpPr>
        <p:spPr bwMode="auto">
          <a:xfrm>
            <a:off x="2285999" y="793956"/>
            <a:ext cx="17687814" cy="787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13313" name="Picture 1" descr="admin%20login">
            <a:extLst>
              <a:ext uri="{FF2B5EF4-FFF2-40B4-BE49-F238E27FC236}">
                <a16:creationId xmlns:a16="http://schemas.microsoft.com/office/drawing/2014/main" id="{9A3BD2A6-B909-422C-A079-F46C51A31A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2166"/>
          <a:stretch>
            <a:fillRect/>
          </a:stretch>
        </p:blipFill>
        <p:spPr bwMode="auto">
          <a:xfrm>
            <a:off x="3144781" y="1921835"/>
            <a:ext cx="7985125" cy="44876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F885EA4E-0A71-4261-A36E-3A5C4F11EA5D}"/>
              </a:ext>
            </a:extLst>
          </p:cNvPr>
          <p:cNvSpPr>
            <a:spLocks noChangeArrowheads="1"/>
          </p:cNvSpPr>
          <p:nvPr/>
        </p:nvSpPr>
        <p:spPr bwMode="auto">
          <a:xfrm>
            <a:off x="2789237" y="1075454"/>
            <a:ext cx="17687814"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105025" algn="l"/>
              </a:tabLst>
              <a:defRPr>
                <a:solidFill>
                  <a:schemeClr val="tx1"/>
                </a:solidFill>
                <a:latin typeface="Arial" panose="020B0604020202020204" pitchFamily="34" charset="0"/>
              </a:defRPr>
            </a:lvl1pPr>
            <a:lvl2pPr eaLnBrk="0" fontAlgn="base" hangingPunct="0">
              <a:spcBef>
                <a:spcPct val="0"/>
              </a:spcBef>
              <a:spcAft>
                <a:spcPct val="0"/>
              </a:spcAft>
              <a:tabLst>
                <a:tab pos="2105025" algn="l"/>
              </a:tabLst>
              <a:defRPr>
                <a:solidFill>
                  <a:schemeClr val="tx1"/>
                </a:solidFill>
                <a:latin typeface="Arial" panose="020B0604020202020204" pitchFamily="34" charset="0"/>
              </a:defRPr>
            </a:lvl2pPr>
            <a:lvl3pPr eaLnBrk="0" fontAlgn="base" hangingPunct="0">
              <a:spcBef>
                <a:spcPct val="0"/>
              </a:spcBef>
              <a:spcAft>
                <a:spcPct val="0"/>
              </a:spcAft>
              <a:tabLst>
                <a:tab pos="2105025" algn="l"/>
              </a:tabLst>
              <a:defRPr>
                <a:solidFill>
                  <a:schemeClr val="tx1"/>
                </a:solidFill>
                <a:latin typeface="Arial" panose="020B0604020202020204" pitchFamily="34" charset="0"/>
              </a:defRPr>
            </a:lvl3pPr>
            <a:lvl4pPr eaLnBrk="0" fontAlgn="base" hangingPunct="0">
              <a:spcBef>
                <a:spcPct val="0"/>
              </a:spcBef>
              <a:spcAft>
                <a:spcPct val="0"/>
              </a:spcAft>
              <a:tabLst>
                <a:tab pos="2105025" algn="l"/>
              </a:tabLst>
              <a:defRPr>
                <a:solidFill>
                  <a:schemeClr val="tx1"/>
                </a:solidFill>
                <a:latin typeface="Arial" panose="020B0604020202020204" pitchFamily="34" charset="0"/>
              </a:defRPr>
            </a:lvl4pPr>
            <a:lvl5pPr eaLnBrk="0" fontAlgn="base" hangingPunct="0">
              <a:spcBef>
                <a:spcPct val="0"/>
              </a:spcBef>
              <a:spcAft>
                <a:spcPct val="0"/>
              </a:spcAft>
              <a:tabLst>
                <a:tab pos="2105025" algn="l"/>
              </a:tabLst>
              <a:defRPr>
                <a:solidFill>
                  <a:schemeClr val="tx1"/>
                </a:solidFill>
                <a:latin typeface="Arial" panose="020B0604020202020204" pitchFamily="34" charset="0"/>
              </a:defRPr>
            </a:lvl5pPr>
            <a:lvl6pPr eaLnBrk="0" fontAlgn="base" hangingPunct="0">
              <a:spcBef>
                <a:spcPct val="0"/>
              </a:spcBef>
              <a:spcAft>
                <a:spcPct val="0"/>
              </a:spcAft>
              <a:tabLst>
                <a:tab pos="2105025" algn="l"/>
              </a:tabLst>
              <a:defRPr>
                <a:solidFill>
                  <a:schemeClr val="tx1"/>
                </a:solidFill>
                <a:latin typeface="Arial" panose="020B0604020202020204" pitchFamily="34" charset="0"/>
              </a:defRPr>
            </a:lvl6pPr>
            <a:lvl7pPr eaLnBrk="0" fontAlgn="base" hangingPunct="0">
              <a:spcBef>
                <a:spcPct val="0"/>
              </a:spcBef>
              <a:spcAft>
                <a:spcPct val="0"/>
              </a:spcAft>
              <a:tabLst>
                <a:tab pos="2105025" algn="l"/>
              </a:tabLst>
              <a:defRPr>
                <a:solidFill>
                  <a:schemeClr val="tx1"/>
                </a:solidFill>
                <a:latin typeface="Arial" panose="020B0604020202020204" pitchFamily="34" charset="0"/>
              </a:defRPr>
            </a:lvl7pPr>
            <a:lvl8pPr eaLnBrk="0" fontAlgn="base" hangingPunct="0">
              <a:spcBef>
                <a:spcPct val="0"/>
              </a:spcBef>
              <a:spcAft>
                <a:spcPct val="0"/>
              </a:spcAft>
              <a:tabLst>
                <a:tab pos="2105025" algn="l"/>
              </a:tabLst>
              <a:defRPr>
                <a:solidFill>
                  <a:schemeClr val="tx1"/>
                </a:solidFill>
                <a:latin typeface="Arial" panose="020B0604020202020204" pitchFamily="34" charset="0"/>
              </a:defRPr>
            </a:lvl8pPr>
            <a:lvl9pPr eaLnBrk="0" fontAlgn="base" hangingPunct="0">
              <a:spcBef>
                <a:spcPct val="0"/>
              </a:spcBef>
              <a:spcAft>
                <a:spcPct val="0"/>
              </a:spcAft>
              <a:tabLst>
                <a:tab pos="21050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105025" algn="l"/>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 Login</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105025" algn="l"/>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0502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58022A4C-7A1D-4D59-97D9-D7363351E8FF}"/>
              </a:ext>
            </a:extLst>
          </p:cNvPr>
          <p:cNvSpPr>
            <a:spLocks noChangeArrowheads="1"/>
          </p:cNvSpPr>
          <p:nvPr/>
        </p:nvSpPr>
        <p:spPr bwMode="auto">
          <a:xfrm>
            <a:off x="2205408" y="1374053"/>
            <a:ext cx="39372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defTabSz="914400" eaLnBrk="0" fontAlgn="base" hangingPunct="0">
              <a:spcBef>
                <a:spcPct val="0"/>
              </a:spcBef>
              <a:spcAft>
                <a:spcPct val="0"/>
              </a:spcAft>
              <a:buSzPct val="100000"/>
            </a:pPr>
            <a:r>
              <a:rPr lang="en-US" altLang="en-PK" sz="2400" u="sng" dirty="0">
                <a:latin typeface="Times New Roman" panose="02020603050405020304" pitchFamily="18" charset="0"/>
                <a:ea typeface="Times New Roman" panose="02020603050405020304" pitchFamily="18" charset="0"/>
                <a:cs typeface="Times New Roman" panose="02020603050405020304" pitchFamily="18" charset="0"/>
              </a:rPr>
              <a:t>Admin CRUD Operations</a:t>
            </a:r>
            <a:r>
              <a:rPr kumimoji="0" lang="en-US" altLang="en-PK" sz="24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PK" sz="3600" b="0" i="0" u="none" strike="noStrike" cap="none" normalizeH="0" baseline="0" dirty="0">
              <a:ln>
                <a:noFill/>
              </a:ln>
              <a:solidFill>
                <a:schemeClr val="tx1"/>
              </a:solidFill>
              <a:effectLst/>
              <a:latin typeface="Arial" panose="020B0604020202020204" pitchFamily="34" charset="0"/>
            </a:endParaRPr>
          </a:p>
        </p:txBody>
      </p:sp>
      <p:pic>
        <p:nvPicPr>
          <p:cNvPr id="14337" name="Picture 1" descr="manage%20user">
            <a:extLst>
              <a:ext uri="{FF2B5EF4-FFF2-40B4-BE49-F238E27FC236}">
                <a16:creationId xmlns:a16="http://schemas.microsoft.com/office/drawing/2014/main" id="{EACB1243-9408-4B59-822C-3B55D692D1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3947"/>
          <a:stretch>
            <a:fillRect/>
          </a:stretch>
        </p:blipFill>
        <p:spPr bwMode="auto">
          <a:xfrm>
            <a:off x="3417888" y="2053439"/>
            <a:ext cx="7440612" cy="39742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054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91E102BC-E7E6-4B5B-8B20-F80A1D554EEA}"/>
              </a:ext>
            </a:extLst>
          </p:cNvPr>
          <p:cNvSpPr>
            <a:spLocks noChangeArrowheads="1"/>
          </p:cNvSpPr>
          <p:nvPr/>
        </p:nvSpPr>
        <p:spPr bwMode="auto">
          <a:xfrm>
            <a:off x="1981200" y="9334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15361" name="Picture 1" descr="3mangepost">
            <a:extLst>
              <a:ext uri="{FF2B5EF4-FFF2-40B4-BE49-F238E27FC236}">
                <a16:creationId xmlns:a16="http://schemas.microsoft.com/office/drawing/2014/main" id="{97FAA588-A9A9-47F9-A028-C0DF1AFBA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5134"/>
          <a:stretch>
            <a:fillRect/>
          </a:stretch>
        </p:blipFill>
        <p:spPr bwMode="auto">
          <a:xfrm>
            <a:off x="3033713" y="1712913"/>
            <a:ext cx="8355842" cy="43830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1C9B75A0-4C7A-49AA-825E-8454483125B4}"/>
              </a:ext>
            </a:extLst>
          </p:cNvPr>
          <p:cNvSpPr>
            <a:spLocks noChangeArrowheads="1"/>
          </p:cNvSpPr>
          <p:nvPr/>
        </p:nvSpPr>
        <p:spPr bwMode="auto">
          <a:xfrm>
            <a:off x="2484438" y="1049867"/>
            <a:ext cx="3134191"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 Manage Post</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4947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D1B97BE2-4445-47A1-BBF3-4EA85D0F087A}"/>
              </a:ext>
            </a:extLst>
          </p:cNvPr>
          <p:cNvSpPr>
            <a:spLocks noChangeArrowheads="1"/>
          </p:cNvSpPr>
          <p:nvPr/>
        </p:nvSpPr>
        <p:spPr bwMode="auto">
          <a:xfrm>
            <a:off x="2095500" y="923254"/>
            <a:ext cx="401424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Pct val="100000"/>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 Flag Comments</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pic>
        <p:nvPicPr>
          <p:cNvPr id="16385" name="Picture 1" descr="7%20flag%20comment">
            <a:extLst>
              <a:ext uri="{FF2B5EF4-FFF2-40B4-BE49-F238E27FC236}">
                <a16:creationId xmlns:a16="http://schemas.microsoft.com/office/drawing/2014/main" id="{1174CB41-EB65-481E-B820-EC59F8C10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5134"/>
          <a:stretch>
            <a:fillRect/>
          </a:stretch>
        </p:blipFill>
        <p:spPr bwMode="auto">
          <a:xfrm>
            <a:off x="3343274" y="1872050"/>
            <a:ext cx="7439025" cy="414258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F08E1788-678B-407A-9DA9-0A78062C11B6}"/>
              </a:ext>
            </a:extLst>
          </p:cNvPr>
          <p:cNvSpPr>
            <a:spLocks noChangeArrowheads="1"/>
          </p:cNvSpPr>
          <p:nvPr/>
        </p:nvSpPr>
        <p:spPr bwMode="auto">
          <a:xfrm>
            <a:off x="2365375" y="17212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Tree>
    <p:extLst>
      <p:ext uri="{BB962C8B-B14F-4D97-AF65-F5344CB8AC3E}">
        <p14:creationId xmlns:p14="http://schemas.microsoft.com/office/powerpoint/2010/main" val="3416767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A3ED5337-18CF-4570-B499-6FEF7E085B57}"/>
              </a:ext>
            </a:extLst>
          </p:cNvPr>
          <p:cNvSpPr>
            <a:spLocks noChangeArrowheads="1"/>
          </p:cNvSpPr>
          <p:nvPr/>
        </p:nvSpPr>
        <p:spPr bwMode="auto">
          <a:xfrm>
            <a:off x="2228850" y="948098"/>
            <a:ext cx="411042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Pct val="100000"/>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a:t>
            </a:r>
            <a:r>
              <a:rPr kumimoji="0" lang="en-US" altLang="en-PK" sz="36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Create</a:t>
            </a:r>
            <a:r>
              <a:rPr kumimoji="0" lang="en-US" altLang="en-PK" sz="32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Category</a:t>
            </a:r>
            <a:endParaRPr kumimoji="0" lang="en-US" altLang="en-PK"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800" b="0" i="0" u="none" strike="noStrike" cap="none" normalizeH="0" baseline="0" dirty="0">
              <a:ln>
                <a:noFill/>
              </a:ln>
              <a:solidFill>
                <a:schemeClr val="tx1"/>
              </a:solidFill>
              <a:effectLst/>
              <a:latin typeface="Arial" panose="020B0604020202020204" pitchFamily="34" charset="0"/>
            </a:endParaRPr>
          </a:p>
        </p:txBody>
      </p:sp>
      <p:pic>
        <p:nvPicPr>
          <p:cNvPr id="17409" name="Picture 1" descr="4cereate%20cate">
            <a:extLst>
              <a:ext uri="{FF2B5EF4-FFF2-40B4-BE49-F238E27FC236}">
                <a16:creationId xmlns:a16="http://schemas.microsoft.com/office/drawing/2014/main" id="{DD844342-76F5-405E-90D9-B21026010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6173"/>
          <a:stretch>
            <a:fillRect/>
          </a:stretch>
        </p:blipFill>
        <p:spPr bwMode="auto">
          <a:xfrm>
            <a:off x="3476624" y="2196215"/>
            <a:ext cx="7077075" cy="384184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9CCD753C-87C5-4409-BB2F-3F7CDAE70C8E}"/>
              </a:ext>
            </a:extLst>
          </p:cNvPr>
          <p:cNvSpPr>
            <a:spLocks noChangeArrowheads="1"/>
          </p:cNvSpPr>
          <p:nvPr/>
        </p:nvSpPr>
        <p:spPr bwMode="auto">
          <a:xfrm>
            <a:off x="2498725" y="186919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Tree>
    <p:extLst>
      <p:ext uri="{BB962C8B-B14F-4D97-AF65-F5344CB8AC3E}">
        <p14:creationId xmlns:p14="http://schemas.microsoft.com/office/powerpoint/2010/main" val="4196064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CB7DD997-0765-4EE1-B082-DC6E784EEBA9}"/>
              </a:ext>
            </a:extLst>
          </p:cNvPr>
          <p:cNvSpPr>
            <a:spLocks noChangeArrowheads="1"/>
          </p:cNvSpPr>
          <p:nvPr/>
        </p:nvSpPr>
        <p:spPr bwMode="auto">
          <a:xfrm>
            <a:off x="2475471" y="7939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18433" name="Picture 1" descr="6%20remove%20comment">
            <a:extLst>
              <a:ext uri="{FF2B5EF4-FFF2-40B4-BE49-F238E27FC236}">
                <a16:creationId xmlns:a16="http://schemas.microsoft.com/office/drawing/2014/main" id="{76D6295B-17D8-4483-B704-F6A57E458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6321"/>
          <a:stretch>
            <a:fillRect/>
          </a:stretch>
        </p:blipFill>
        <p:spPr bwMode="auto">
          <a:xfrm>
            <a:off x="3743884" y="1649620"/>
            <a:ext cx="7966059" cy="427493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4637B96-D334-448B-A56A-669883EBEDA5}"/>
              </a:ext>
            </a:extLst>
          </p:cNvPr>
          <p:cNvSpPr>
            <a:spLocks noChangeArrowheads="1"/>
          </p:cNvSpPr>
          <p:nvPr/>
        </p:nvSpPr>
        <p:spPr bwMode="auto">
          <a:xfrm>
            <a:off x="2978709" y="910374"/>
            <a:ext cx="4108817"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 Remove Comments</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8193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75F98040-0691-4B68-986D-3447805799D4}"/>
              </a:ext>
            </a:extLst>
          </p:cNvPr>
          <p:cNvSpPr>
            <a:spLocks noChangeArrowheads="1"/>
          </p:cNvSpPr>
          <p:nvPr/>
        </p:nvSpPr>
        <p:spPr bwMode="auto">
          <a:xfrm>
            <a:off x="2286000" y="722842"/>
            <a:ext cx="3423245"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Pct val="100000"/>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Admin Create Tags</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pic>
        <p:nvPicPr>
          <p:cNvPr id="19457" name="Picture 1" descr="5create tags">
            <a:extLst>
              <a:ext uri="{FF2B5EF4-FFF2-40B4-BE49-F238E27FC236}">
                <a16:creationId xmlns:a16="http://schemas.microsoft.com/office/drawing/2014/main" id="{563D4AAB-0286-40B1-BC42-0EDCAA1170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6617"/>
          <a:stretch>
            <a:fillRect/>
          </a:stretch>
        </p:blipFill>
        <p:spPr bwMode="auto">
          <a:xfrm>
            <a:off x="3459162" y="1568449"/>
            <a:ext cx="7620001" cy="422589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38346FC5-AC9E-474B-A341-C5139D241FC5}"/>
              </a:ext>
            </a:extLst>
          </p:cNvPr>
          <p:cNvSpPr>
            <a:spLocks noChangeArrowheads="1"/>
          </p:cNvSpPr>
          <p:nvPr/>
        </p:nvSpPr>
        <p:spPr bwMode="auto">
          <a:xfrm>
            <a:off x="2555875" y="15208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Tree>
    <p:extLst>
      <p:ext uri="{BB962C8B-B14F-4D97-AF65-F5344CB8AC3E}">
        <p14:creationId xmlns:p14="http://schemas.microsoft.com/office/powerpoint/2010/main" val="272972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FC9D8393-C855-41BF-84F2-308927327B65}"/>
              </a:ext>
            </a:extLst>
          </p:cNvPr>
          <p:cNvSpPr>
            <a:spLocks noChangeArrowheads="1"/>
          </p:cNvSpPr>
          <p:nvPr/>
        </p:nvSpPr>
        <p:spPr bwMode="auto">
          <a:xfrm>
            <a:off x="2266950" y="1005326"/>
            <a:ext cx="2608406"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Pct val="100000"/>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Register</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pic>
        <p:nvPicPr>
          <p:cNvPr id="20481" name="Picture 1" descr="8%20user%20register">
            <a:extLst>
              <a:ext uri="{FF2B5EF4-FFF2-40B4-BE49-F238E27FC236}">
                <a16:creationId xmlns:a16="http://schemas.microsoft.com/office/drawing/2014/main" id="{05FACC79-F650-4A7E-8FDA-FA7F60AEF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4690"/>
          <a:stretch>
            <a:fillRect/>
          </a:stretch>
        </p:blipFill>
        <p:spPr bwMode="auto">
          <a:xfrm>
            <a:off x="3265488" y="2165258"/>
            <a:ext cx="7620000" cy="43193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5126A23-E7F5-421D-AFF9-2B2EF4D757C6}"/>
              </a:ext>
            </a:extLst>
          </p:cNvPr>
          <p:cNvSpPr>
            <a:spLocks noChangeArrowheads="1"/>
          </p:cNvSpPr>
          <p:nvPr/>
        </p:nvSpPr>
        <p:spPr bwMode="auto">
          <a:xfrm>
            <a:off x="2536825" y="18033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Tree>
    <p:extLst>
      <p:ext uri="{BB962C8B-B14F-4D97-AF65-F5344CB8AC3E}">
        <p14:creationId xmlns:p14="http://schemas.microsoft.com/office/powerpoint/2010/main" val="1707068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C80DA90C-0813-44BC-94C6-A8A8243A6A7F}"/>
              </a:ext>
            </a:extLst>
          </p:cNvPr>
          <p:cNvSpPr>
            <a:spLocks noChangeArrowheads="1"/>
          </p:cNvSpPr>
          <p:nvPr/>
        </p:nvSpPr>
        <p:spPr bwMode="auto">
          <a:xfrm>
            <a:off x="2095500" y="7939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21505" name="Picture 1" descr="002 login">
            <a:extLst>
              <a:ext uri="{FF2B5EF4-FFF2-40B4-BE49-F238E27FC236}">
                <a16:creationId xmlns:a16="http://schemas.microsoft.com/office/drawing/2014/main" id="{F9496C87-8D17-478D-A246-57222C3EB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2114"/>
          <a:stretch>
            <a:fillRect/>
          </a:stretch>
        </p:blipFill>
        <p:spPr bwMode="auto">
          <a:xfrm>
            <a:off x="3190874" y="1622632"/>
            <a:ext cx="7324299" cy="3984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9D6188C3-6215-4F4D-A89F-6A376C6127F1}"/>
              </a:ext>
            </a:extLst>
          </p:cNvPr>
          <p:cNvSpPr>
            <a:spLocks noChangeArrowheads="1"/>
          </p:cNvSpPr>
          <p:nvPr/>
        </p:nvSpPr>
        <p:spPr bwMode="auto">
          <a:xfrm>
            <a:off x="2598738" y="910374"/>
            <a:ext cx="1810111"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Login</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1878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3437A2A5-2602-4E3E-AA5A-CCE2ADCE58AF}"/>
              </a:ext>
            </a:extLst>
          </p:cNvPr>
          <p:cNvSpPr>
            <a:spLocks noChangeArrowheads="1"/>
          </p:cNvSpPr>
          <p:nvPr/>
        </p:nvSpPr>
        <p:spPr bwMode="auto">
          <a:xfrm>
            <a:off x="2475471" y="7939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22529" name="Picture 1" descr="10%20create%20post">
            <a:extLst>
              <a:ext uri="{FF2B5EF4-FFF2-40B4-BE49-F238E27FC236}">
                <a16:creationId xmlns:a16="http://schemas.microsoft.com/office/drawing/2014/main" id="{B8CBF553-F52E-4FF3-B9E4-2941F59B1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048" b="66173"/>
          <a:stretch>
            <a:fillRect/>
          </a:stretch>
        </p:blipFill>
        <p:spPr bwMode="auto">
          <a:xfrm>
            <a:off x="3828020" y="1622631"/>
            <a:ext cx="7031301" cy="3984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B44000D5-A625-4BB0-BBA1-FFC020F2F225}"/>
              </a:ext>
            </a:extLst>
          </p:cNvPr>
          <p:cNvSpPr>
            <a:spLocks noChangeArrowheads="1"/>
          </p:cNvSpPr>
          <p:nvPr/>
        </p:nvSpPr>
        <p:spPr bwMode="auto">
          <a:xfrm>
            <a:off x="2978709" y="910374"/>
            <a:ext cx="2595582"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Create Post</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3691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DDB85BDE-271B-45CD-BB81-48599FACC2B3}"/>
              </a:ext>
            </a:extLst>
          </p:cNvPr>
          <p:cNvSpPr>
            <a:spLocks noChangeArrowheads="1"/>
          </p:cNvSpPr>
          <p:nvPr/>
        </p:nvSpPr>
        <p:spPr bwMode="auto">
          <a:xfrm>
            <a:off x="2936923" y="7800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23553" name="Picture 1" descr="11%20add%20comment">
            <a:extLst>
              <a:ext uri="{FF2B5EF4-FFF2-40B4-BE49-F238E27FC236}">
                <a16:creationId xmlns:a16="http://schemas.microsoft.com/office/drawing/2014/main" id="{C42E144F-2273-48E0-894A-D253566B3A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5877"/>
          <a:stretch>
            <a:fillRect/>
          </a:stretch>
        </p:blipFill>
        <p:spPr bwMode="auto">
          <a:xfrm>
            <a:off x="4289473" y="1581745"/>
            <a:ext cx="7399938" cy="403899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0D615E8-8F86-416E-B807-0A7AECAC4387}"/>
              </a:ext>
            </a:extLst>
          </p:cNvPr>
          <p:cNvSpPr>
            <a:spLocks noChangeArrowheads="1"/>
          </p:cNvSpPr>
          <p:nvPr/>
        </p:nvSpPr>
        <p:spPr bwMode="auto">
          <a:xfrm>
            <a:off x="3440161" y="896474"/>
            <a:ext cx="3194529"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28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Add Comments</a:t>
            </a:r>
            <a:endParaRPr kumimoji="0" lang="en-US"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1531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286000" y="4951232"/>
            <a:ext cx="7620000" cy="1711411"/>
          </a:xfrm>
        </p:spPr>
        <p:txBody>
          <a:bodyPr/>
          <a:lstStyle/>
          <a:p>
            <a:pPr algn="l" eaLnBrk="1" hangingPunct="1">
              <a:defRPr/>
            </a:pPr>
            <a:r>
              <a:rPr lang="en-US" dirty="0"/>
              <a:t>.</a:t>
            </a:r>
          </a:p>
        </p:txBody>
      </p:sp>
      <p:sp>
        <p:nvSpPr>
          <p:cNvPr id="2" name="Rectangle 2">
            <a:extLst>
              <a:ext uri="{FF2B5EF4-FFF2-40B4-BE49-F238E27FC236}">
                <a16:creationId xmlns:a16="http://schemas.microsoft.com/office/drawing/2014/main" id="{592866AA-31F8-49FC-A1C2-FE38DDD7E394}"/>
              </a:ext>
            </a:extLst>
          </p:cNvPr>
          <p:cNvSpPr>
            <a:spLocks noChangeArrowheads="1"/>
          </p:cNvSpPr>
          <p:nvPr/>
        </p:nvSpPr>
        <p:spPr bwMode="auto">
          <a:xfrm>
            <a:off x="2286000" y="7939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pic>
        <p:nvPicPr>
          <p:cNvPr id="24577" name="Picture 1" descr="12%20voted">
            <a:extLst>
              <a:ext uri="{FF2B5EF4-FFF2-40B4-BE49-F238E27FC236}">
                <a16:creationId xmlns:a16="http://schemas.microsoft.com/office/drawing/2014/main" id="{F3650883-E629-47E0-BC41-1D7236801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5430"/>
          <a:stretch>
            <a:fillRect/>
          </a:stretch>
        </p:blipFill>
        <p:spPr bwMode="auto">
          <a:xfrm>
            <a:off x="3627438" y="1721057"/>
            <a:ext cx="7826064" cy="43429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67C8A12F-CB22-4B1A-B854-05A0252A3F18}"/>
              </a:ext>
            </a:extLst>
          </p:cNvPr>
          <p:cNvSpPr>
            <a:spLocks noChangeArrowheads="1"/>
          </p:cNvSpPr>
          <p:nvPr/>
        </p:nvSpPr>
        <p:spPr bwMode="auto">
          <a:xfrm>
            <a:off x="2789238" y="848819"/>
            <a:ext cx="2587953"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32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Add Vote</a:t>
            </a:r>
            <a:endParaRPr kumimoji="0" lang="en-US" altLang="en-PK"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PK"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7378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78438615-C871-4922-8655-8A832D9976CD}"/>
              </a:ext>
            </a:extLst>
          </p:cNvPr>
          <p:cNvSpPr>
            <a:spLocks noGrp="1" noChangeArrowheads="1"/>
          </p:cNvSpPr>
          <p:nvPr>
            <p:ph type="ctrTitle"/>
          </p:nvPr>
        </p:nvSpPr>
        <p:spPr>
          <a:xfrm>
            <a:off x="4289473" y="323557"/>
            <a:ext cx="7620001" cy="470400"/>
          </a:xfrm>
        </p:spPr>
        <p:txBody>
          <a:bodyPr>
            <a:normAutofit fontScale="90000"/>
          </a:bodyPr>
          <a:lstStyle/>
          <a:p>
            <a:pPr eaLnBrk="1" hangingPunct="1">
              <a:defRPr/>
            </a:pPr>
            <a:r>
              <a:rPr lang="en-US" sz="3600" dirty="0">
                <a:solidFill>
                  <a:srgbClr val="0000FF"/>
                </a:solidFill>
              </a:rPr>
              <a:t>Sequence Diagrams</a:t>
            </a:r>
          </a:p>
        </p:txBody>
      </p:sp>
      <p:sp>
        <p:nvSpPr>
          <p:cNvPr id="5" name="Rectangle 2">
            <a:extLst>
              <a:ext uri="{FF2B5EF4-FFF2-40B4-BE49-F238E27FC236}">
                <a16:creationId xmlns:a16="http://schemas.microsoft.com/office/drawing/2014/main" id="{609F1104-DA7D-4886-9085-96A8C3807DA7}"/>
              </a:ext>
            </a:extLst>
          </p:cNvPr>
          <p:cNvSpPr>
            <a:spLocks noChangeArrowheads="1"/>
          </p:cNvSpPr>
          <p:nvPr/>
        </p:nvSpPr>
        <p:spPr bwMode="auto">
          <a:xfrm>
            <a:off x="2475471" y="1247709"/>
            <a:ext cx="179384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Pct val="100000"/>
              <a:tabLst/>
            </a:pPr>
            <a:r>
              <a:rPr kumimoji="0" lang="en-US" altLang="en-PK" sz="2400" b="0"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Search Post</a:t>
            </a:r>
            <a:endParaRPr kumimoji="0" lang="en-US" altLang="en-PK" sz="3600" b="0" i="0" u="none" strike="noStrike" cap="none" normalizeH="0" baseline="0" dirty="0">
              <a:ln>
                <a:noFill/>
              </a:ln>
              <a:solidFill>
                <a:schemeClr val="tx1"/>
              </a:solidFill>
              <a:effectLst/>
              <a:latin typeface="Arial" panose="020B0604020202020204" pitchFamily="34" charset="0"/>
            </a:endParaRPr>
          </a:p>
        </p:txBody>
      </p:sp>
      <p:pic>
        <p:nvPicPr>
          <p:cNvPr id="7" name="Picture 1" descr="13%20search">
            <a:extLst>
              <a:ext uri="{FF2B5EF4-FFF2-40B4-BE49-F238E27FC236}">
                <a16:creationId xmlns:a16="http://schemas.microsoft.com/office/drawing/2014/main" id="{47FE6CA6-2171-424D-80A5-B4AF9DA19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4836"/>
          <a:stretch>
            <a:fillRect/>
          </a:stretch>
        </p:blipFill>
        <p:spPr bwMode="auto">
          <a:xfrm>
            <a:off x="3793096" y="1872050"/>
            <a:ext cx="7300326" cy="4090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917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75" name="Rectangle 583">
            <a:extLst>
              <a:ext uri="{FF2B5EF4-FFF2-40B4-BE49-F238E27FC236}">
                <a16:creationId xmlns:a16="http://schemas.microsoft.com/office/drawing/2014/main" id="{880F3050-F6A0-4725-ACE3-FA73F174A4E4}"/>
              </a:ext>
            </a:extLst>
          </p:cNvPr>
          <p:cNvSpPr>
            <a:spLocks noGrp="1" noChangeArrowheads="1"/>
          </p:cNvSpPr>
          <p:nvPr>
            <p:ph type="title"/>
          </p:nvPr>
        </p:nvSpPr>
        <p:spPr>
          <a:xfrm>
            <a:off x="2253667" y="296643"/>
            <a:ext cx="8229600" cy="762000"/>
          </a:xfrm>
        </p:spPr>
        <p:txBody>
          <a:bodyPr/>
          <a:lstStyle/>
          <a:p>
            <a:pPr eaLnBrk="1" hangingPunct="1">
              <a:defRPr/>
            </a:pPr>
            <a:r>
              <a:rPr lang="en-US" dirty="0">
                <a:solidFill>
                  <a:srgbClr val="0000FF"/>
                </a:solidFill>
              </a:rPr>
              <a:t>Logical Model/Class Diagram</a:t>
            </a:r>
          </a:p>
        </p:txBody>
      </p:sp>
      <p:sp>
        <p:nvSpPr>
          <p:cNvPr id="13315" name="Rectangle 585">
            <a:extLst>
              <a:ext uri="{FF2B5EF4-FFF2-40B4-BE49-F238E27FC236}">
                <a16:creationId xmlns:a16="http://schemas.microsoft.com/office/drawing/2014/main" id="{21D1A1D8-43C6-4D9F-8CCC-ED032D0C9089}"/>
              </a:ext>
            </a:extLst>
          </p:cNvPr>
          <p:cNvSpPr>
            <a:spLocks noChangeArrowheads="1"/>
          </p:cNvSpPr>
          <p:nvPr/>
        </p:nvSpPr>
        <p:spPr bwMode="auto">
          <a:xfrm>
            <a:off x="1524001" y="11916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 name="Rectangle 4">
            <a:extLst>
              <a:ext uri="{FF2B5EF4-FFF2-40B4-BE49-F238E27FC236}">
                <a16:creationId xmlns:a16="http://schemas.microsoft.com/office/drawing/2014/main" id="{6BE1B781-856B-41D1-9B6C-26B4D77A6B5B}"/>
              </a:ext>
            </a:extLst>
          </p:cNvPr>
          <p:cNvSpPr>
            <a:spLocks noChangeArrowheads="1"/>
          </p:cNvSpPr>
          <p:nvPr/>
        </p:nvSpPr>
        <p:spPr bwMode="auto">
          <a:xfrm>
            <a:off x="3121152" y="2654111"/>
            <a:ext cx="1230172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2" name="Rectangle 72">
            <a:extLst>
              <a:ext uri="{FF2B5EF4-FFF2-40B4-BE49-F238E27FC236}">
                <a16:creationId xmlns:a16="http://schemas.microsoft.com/office/drawing/2014/main" id="{3950D80C-67A8-4EFF-AEA4-193E14FA7E2C}"/>
              </a:ext>
            </a:extLst>
          </p:cNvPr>
          <p:cNvSpPr>
            <a:spLocks noChangeArrowheads="1"/>
          </p:cNvSpPr>
          <p:nvPr/>
        </p:nvSpPr>
        <p:spPr bwMode="auto">
          <a:xfrm>
            <a:off x="153376" y="1677799"/>
            <a:ext cx="1941068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3" name="Rectangle 2">
            <a:extLst>
              <a:ext uri="{FF2B5EF4-FFF2-40B4-BE49-F238E27FC236}">
                <a16:creationId xmlns:a16="http://schemas.microsoft.com/office/drawing/2014/main" id="{16CD3F13-490C-4F66-B52A-EC1778050F07}"/>
              </a:ext>
            </a:extLst>
          </p:cNvPr>
          <p:cNvSpPr>
            <a:spLocks noChangeArrowheads="1"/>
          </p:cNvSpPr>
          <p:nvPr/>
        </p:nvSpPr>
        <p:spPr bwMode="auto">
          <a:xfrm>
            <a:off x="2253667" y="370402"/>
            <a:ext cx="15968334" cy="50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pic>
        <p:nvPicPr>
          <p:cNvPr id="6" name="Picture 5">
            <a:extLst>
              <a:ext uri="{FF2B5EF4-FFF2-40B4-BE49-F238E27FC236}">
                <a16:creationId xmlns:a16="http://schemas.microsoft.com/office/drawing/2014/main" id="{89B9EF69-5A45-4D59-8AAC-3A50C5CF4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944177"/>
            <a:ext cx="10724174" cy="55434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a:extLst>
              <a:ext uri="{FF2B5EF4-FFF2-40B4-BE49-F238E27FC236}">
                <a16:creationId xmlns:a16="http://schemas.microsoft.com/office/drawing/2014/main" id="{8D3FFA6B-CE06-488F-89B6-07EB93980461}"/>
              </a:ext>
            </a:extLst>
          </p:cNvPr>
          <p:cNvSpPr>
            <a:spLocks noChangeArrowheads="1"/>
          </p:cNvSpPr>
          <p:nvPr/>
        </p:nvSpPr>
        <p:spPr bwMode="auto">
          <a:xfrm>
            <a:off x="1524001" y="15917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339" name="Rectangle 6">
            <a:extLst>
              <a:ext uri="{FF2B5EF4-FFF2-40B4-BE49-F238E27FC236}">
                <a16:creationId xmlns:a16="http://schemas.microsoft.com/office/drawing/2014/main" id="{EE0D7A0C-3E62-4E10-9297-9C68BDA901DB}"/>
              </a:ext>
            </a:extLst>
          </p:cNvPr>
          <p:cNvSpPr>
            <a:spLocks noChangeArrowheads="1"/>
          </p:cNvSpPr>
          <p:nvPr/>
        </p:nvSpPr>
        <p:spPr bwMode="auto">
          <a:xfrm>
            <a:off x="1524001" y="4896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sp>
        <p:nvSpPr>
          <p:cNvPr id="60424" name="Rectangle 8">
            <a:extLst>
              <a:ext uri="{FF2B5EF4-FFF2-40B4-BE49-F238E27FC236}">
                <a16:creationId xmlns:a16="http://schemas.microsoft.com/office/drawing/2014/main" id="{206DC729-3C83-4E2F-A9F5-A91A3D7A9B1F}"/>
              </a:ext>
            </a:extLst>
          </p:cNvPr>
          <p:cNvSpPr>
            <a:spLocks noGrp="1" noChangeArrowheads="1"/>
          </p:cNvSpPr>
          <p:nvPr>
            <p:ph type="title"/>
          </p:nvPr>
        </p:nvSpPr>
        <p:spPr>
          <a:xfrm>
            <a:off x="2543961" y="305499"/>
            <a:ext cx="8229600" cy="762000"/>
          </a:xfrm>
        </p:spPr>
        <p:txBody>
          <a:bodyPr/>
          <a:lstStyle/>
          <a:p>
            <a:pPr eaLnBrk="1" hangingPunct="1">
              <a:defRPr/>
            </a:pPr>
            <a:r>
              <a:rPr lang="en-US" dirty="0">
                <a:solidFill>
                  <a:srgbClr val="0000FF"/>
                </a:solidFill>
              </a:rPr>
              <a:t>Entity-Relationship Diagram</a:t>
            </a:r>
          </a:p>
        </p:txBody>
      </p:sp>
      <p:sp>
        <p:nvSpPr>
          <p:cNvPr id="2" name="Rectangle 2">
            <a:extLst>
              <a:ext uri="{FF2B5EF4-FFF2-40B4-BE49-F238E27FC236}">
                <a16:creationId xmlns:a16="http://schemas.microsoft.com/office/drawing/2014/main" id="{CE7701EB-2C95-4438-9775-A190738C4602}"/>
              </a:ext>
            </a:extLst>
          </p:cNvPr>
          <p:cNvSpPr>
            <a:spLocks noChangeArrowheads="1"/>
          </p:cNvSpPr>
          <p:nvPr/>
        </p:nvSpPr>
        <p:spPr bwMode="auto">
          <a:xfrm>
            <a:off x="1796905" y="1961079"/>
            <a:ext cx="1818884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pic>
        <p:nvPicPr>
          <p:cNvPr id="4" name="Picture 3">
            <a:extLst>
              <a:ext uri="{FF2B5EF4-FFF2-40B4-BE49-F238E27FC236}">
                <a16:creationId xmlns:a16="http://schemas.microsoft.com/office/drawing/2014/main" id="{4A1D7D91-512A-4500-8A84-3ED4451A4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0676" y="914400"/>
            <a:ext cx="10067424" cy="57793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a:extLst>
              <a:ext uri="{FF2B5EF4-FFF2-40B4-BE49-F238E27FC236}">
                <a16:creationId xmlns:a16="http://schemas.microsoft.com/office/drawing/2014/main" id="{EC71CDB6-E057-46BF-8124-811F98C95792}"/>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Database Diagram</a:t>
            </a:r>
          </a:p>
        </p:txBody>
      </p:sp>
      <p:pic>
        <p:nvPicPr>
          <p:cNvPr id="3" name="Picture 2">
            <a:extLst>
              <a:ext uri="{FF2B5EF4-FFF2-40B4-BE49-F238E27FC236}">
                <a16:creationId xmlns:a16="http://schemas.microsoft.com/office/drawing/2014/main" id="{7DBE4BF1-D689-49C2-AC78-46E09CA82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050" y="1295400"/>
            <a:ext cx="10248900" cy="55530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4" name="Picture 2" descr="register">
            <a:extLst>
              <a:ext uri="{FF2B5EF4-FFF2-40B4-BE49-F238E27FC236}">
                <a16:creationId xmlns:a16="http://schemas.microsoft.com/office/drawing/2014/main" id="{FFCFBE0C-CB37-4FF6-B560-F4E969F97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251" t="11688" r="6621" b="7567"/>
          <a:stretch>
            <a:fillRect/>
          </a:stretch>
        </p:blipFill>
        <p:spPr bwMode="auto">
          <a:xfrm>
            <a:off x="3513134" y="1491397"/>
            <a:ext cx="5165731" cy="46983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19459" name="Picture 3" descr="2login">
            <a:extLst>
              <a:ext uri="{FF2B5EF4-FFF2-40B4-BE49-F238E27FC236}">
                <a16:creationId xmlns:a16="http://schemas.microsoft.com/office/drawing/2014/main" id="{E7B61799-466D-424B-8EC5-1E0E463AF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711" t="2974" r="15094" b="7613"/>
          <a:stretch>
            <a:fillRect/>
          </a:stretch>
        </p:blipFill>
        <p:spPr bwMode="auto">
          <a:xfrm>
            <a:off x="3557819" y="1295400"/>
            <a:ext cx="5501775" cy="493717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115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20482" name="Picture 2" descr="thread">
            <a:extLst>
              <a:ext uri="{FF2B5EF4-FFF2-40B4-BE49-F238E27FC236}">
                <a16:creationId xmlns:a16="http://schemas.microsoft.com/office/drawing/2014/main" id="{D2E2FACE-CBAE-4C34-956B-2C37DA7D5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599" y="1532010"/>
            <a:ext cx="8953833" cy="43342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771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21506" name="Picture 2" descr="profile">
            <a:extLst>
              <a:ext uri="{FF2B5EF4-FFF2-40B4-BE49-F238E27FC236}">
                <a16:creationId xmlns:a16="http://schemas.microsoft.com/office/drawing/2014/main" id="{190EA767-CBE6-43FC-9A78-9EE00B22C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514" t="4533" r="4131" b="4822"/>
          <a:stretch>
            <a:fillRect/>
          </a:stretch>
        </p:blipFill>
        <p:spPr bwMode="auto">
          <a:xfrm>
            <a:off x="2133599" y="1532010"/>
            <a:ext cx="9233095" cy="467210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733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2592198" y="1166070"/>
            <a:ext cx="8560076" cy="1108046"/>
          </a:xfrm>
        </p:spPr>
        <p:txBody>
          <a:bodyPr/>
          <a:lstStyle/>
          <a:p>
            <a:pPr eaLnBrk="1" hangingPunct="1">
              <a:defRPr/>
            </a:pPr>
            <a:r>
              <a:rPr lang="en-US" dirty="0">
                <a:solidFill>
                  <a:srgbClr val="0000FF"/>
                </a:solidFill>
              </a:rPr>
              <a:t>Tools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eaLnBrk="1" hangingPunct="1">
              <a:defRPr/>
            </a:pPr>
            <a:r>
              <a:rPr lang="en-US" b="1" dirty="0"/>
              <a:t>Languages:</a:t>
            </a:r>
            <a:r>
              <a:rPr lang="en-US" dirty="0"/>
              <a:t> Django, HTML, CSS, JS, BOOTSTRAP </a:t>
            </a:r>
          </a:p>
          <a:p>
            <a:pPr eaLnBrk="1" hangingPunct="1">
              <a:defRPr/>
            </a:pPr>
            <a:r>
              <a:rPr lang="en-US" b="1" dirty="0"/>
              <a:t>Database Tool: </a:t>
            </a:r>
            <a:r>
              <a:rPr lang="en-US" dirty="0"/>
              <a:t>My SQL (Xampp Server)</a:t>
            </a:r>
          </a:p>
          <a:p>
            <a:pPr eaLnBrk="1" hangingPunct="1">
              <a:defRPr/>
            </a:pPr>
            <a:r>
              <a:rPr lang="en-US" b="1" dirty="0"/>
              <a:t>Other Tools: </a:t>
            </a:r>
            <a:r>
              <a:rPr lang="en-US" dirty="0"/>
              <a:t>Microsoft Office (Word, Visio, PowerPoint, MS Project) + VS Code</a:t>
            </a:r>
          </a:p>
          <a:p>
            <a:pPr eaLnBrk="1" hangingPunct="1">
              <a:defRPr/>
            </a:pPr>
            <a:endParaRPr lang="en-US" dirty="0"/>
          </a:p>
          <a:p>
            <a:pPr marL="0" indent="0" eaLnBrk="1" hangingPunct="1">
              <a:buNone/>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3859662" y="1577129"/>
            <a:ext cx="4932000" cy="3322041"/>
          </a:xfrm>
        </p:spPr>
        <p:txBody>
          <a:bodyPr>
            <a:normAutofit/>
          </a:bodyPr>
          <a:lstStyle/>
          <a:p>
            <a:pPr eaLnBrk="1" hangingPunct="1">
              <a:defRPr/>
            </a:pPr>
            <a:r>
              <a:rPr lang="en-US" sz="8800" dirty="0"/>
              <a:t>THANKS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marL="0" indent="0" eaLnBrk="1" hangingPunct="1">
              <a:buNone/>
              <a:defRPr/>
            </a:pPr>
            <a:endParaRPr lang="en-US" dirty="0"/>
          </a:p>
        </p:txBody>
      </p:sp>
    </p:spTree>
    <p:extLst>
      <p:ext uri="{BB962C8B-B14F-4D97-AF65-F5344CB8AC3E}">
        <p14:creationId xmlns:p14="http://schemas.microsoft.com/office/powerpoint/2010/main" val="233727955"/>
      </p:ext>
    </p:extLst>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221</TotalTime>
  <Words>311</Words>
  <Application>Microsoft Office PowerPoint</Application>
  <PresentationFormat>Widescreen</PresentationFormat>
  <Paragraphs>80</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Tahoma</vt:lpstr>
      <vt:lpstr>Times New Roman</vt:lpstr>
      <vt:lpstr>Wingdings</vt:lpstr>
      <vt:lpstr>Wingdings 3</vt:lpstr>
      <vt:lpstr>Wisp</vt:lpstr>
      <vt:lpstr>PowerPoint Presentation</vt:lpstr>
      <vt:lpstr>Project</vt:lpstr>
      <vt:lpstr>“Connect &amp; Converse”: A Web-based Interactive Discussion Hub for University Students</vt:lpstr>
      <vt:lpstr>Group Members Introduction</vt:lpstr>
      <vt:lpstr>INTRODUCTION OF PROJECT</vt:lpstr>
      <vt:lpstr>PowerPoint Presentation</vt:lpstr>
      <vt:lpstr>Use Case Diagram</vt:lpstr>
      <vt:lpstr>Functional Requirements</vt:lpstr>
      <vt:lpstr>Architectural Design</vt:lpstr>
      <vt:lpstr>Team Structure</vt:lpstr>
      <vt:lpstr>Project Schedule</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Logical Model/Class Diagram</vt:lpstr>
      <vt:lpstr>Entity-Relationship Diagram</vt:lpstr>
      <vt:lpstr>Database Diagram</vt:lpstr>
      <vt:lpstr>User Interfaces</vt:lpstr>
      <vt:lpstr>User Interfaces</vt:lpstr>
      <vt:lpstr>User Interfaces</vt:lpstr>
      <vt:lpstr>User Interfaces</vt:lpstr>
      <vt:lpstr>Tools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Nimra Shafaqat</dc:creator>
  <cp:lastModifiedBy>Usama</cp:lastModifiedBy>
  <cp:revision>144</cp:revision>
  <dcterms:created xsi:type="dcterms:W3CDTF">2024-05-09T09:05:37Z</dcterms:created>
  <dcterms:modified xsi:type="dcterms:W3CDTF">2025-04-21T05:55:26Z</dcterms:modified>
</cp:coreProperties>
</file>