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805" r:id="rId1"/>
  </p:sldMasterIdLst>
  <p:sldIdLst>
    <p:sldId id="336" r:id="rId2"/>
    <p:sldId id="256" r:id="rId3"/>
    <p:sldId id="337" r:id="rId4"/>
    <p:sldId id="338" r:id="rId5"/>
    <p:sldId id="346" r:id="rId6"/>
    <p:sldId id="341" r:id="rId7"/>
    <p:sldId id="260" r:id="rId8"/>
    <p:sldId id="262" r:id="rId9"/>
    <p:sldId id="273" r:id="rId10"/>
    <p:sldId id="344" r:id="rId11"/>
    <p:sldId id="278" r:id="rId12"/>
    <p:sldId id="376" r:id="rId13"/>
    <p:sldId id="377" r:id="rId14"/>
    <p:sldId id="378" r:id="rId15"/>
    <p:sldId id="403" r:id="rId16"/>
    <p:sldId id="285" r:id="rId17"/>
    <p:sldId id="286" r:id="rId18"/>
    <p:sldId id="345" r:id="rId19"/>
    <p:sldId id="368" r:id="rId20"/>
    <p:sldId id="369" r:id="rId21"/>
    <p:sldId id="370" r:id="rId22"/>
    <p:sldId id="290" r:id="rId23"/>
    <p:sldId id="367"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226" autoAdjust="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C87A38-B940-40B9-9CBB-EFD0F33F588B}" type="datetimeFigureOut">
              <a:rPr lang="en-PK" smtClean="0"/>
              <a:t>11/22/2025</a:t>
            </a:fld>
            <a:endParaRPr lang="en-PK"/>
          </a:p>
        </p:txBody>
      </p:sp>
      <p:sp>
        <p:nvSpPr>
          <p:cNvPr id="5" name="Footer Placeholder 4"/>
          <p:cNvSpPr>
            <a:spLocks noGrp="1"/>
          </p:cNvSpPr>
          <p:nvPr>
            <p:ph type="ftr" sz="quarter" idx="11"/>
          </p:nvPr>
        </p:nvSpPr>
        <p:spPr/>
        <p:txBody>
          <a:bodyPr/>
          <a:lstStyle/>
          <a:p>
            <a:endParaRPr lang="en-PK"/>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2456306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C87A38-B940-40B9-9CBB-EFD0F33F588B}" type="datetimeFigureOut">
              <a:rPr lang="en-PK" smtClean="0"/>
              <a:t>11/22/2025</a:t>
            </a:fld>
            <a:endParaRPr lang="en-PK"/>
          </a:p>
        </p:txBody>
      </p:sp>
      <p:sp>
        <p:nvSpPr>
          <p:cNvPr id="5" name="Footer Placeholder 4"/>
          <p:cNvSpPr>
            <a:spLocks noGrp="1"/>
          </p:cNvSpPr>
          <p:nvPr>
            <p:ph type="ftr" sz="quarter" idx="11"/>
          </p:nvPr>
        </p:nvSpPr>
        <p:spPr/>
        <p:txBody>
          <a:bodyPr/>
          <a:lstStyle/>
          <a:p>
            <a:endParaRPr lang="en-PK"/>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2050242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C87A38-B940-40B9-9CBB-EFD0F33F588B}" type="datetimeFigureOut">
              <a:rPr lang="en-PK" smtClean="0"/>
              <a:t>11/22/2025</a:t>
            </a:fld>
            <a:endParaRPr lang="en-PK"/>
          </a:p>
        </p:txBody>
      </p:sp>
      <p:sp>
        <p:nvSpPr>
          <p:cNvPr id="5" name="Footer Placeholder 4"/>
          <p:cNvSpPr>
            <a:spLocks noGrp="1"/>
          </p:cNvSpPr>
          <p:nvPr>
            <p:ph type="ftr" sz="quarter" idx="11"/>
          </p:nvPr>
        </p:nvSpPr>
        <p:spPr/>
        <p:txBody>
          <a:bodyPr/>
          <a:lstStyle/>
          <a:p>
            <a:endParaRPr lang="en-PK"/>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397453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3C87A38-B940-40B9-9CBB-EFD0F33F588B}" type="datetimeFigureOut">
              <a:rPr lang="en-PK" smtClean="0"/>
              <a:t>11/22/2025</a:t>
            </a:fld>
            <a:endParaRPr lang="en-PK"/>
          </a:p>
        </p:txBody>
      </p:sp>
      <p:sp>
        <p:nvSpPr>
          <p:cNvPr id="6" name="Footer Placeholder 5"/>
          <p:cNvSpPr>
            <a:spLocks noGrp="1"/>
          </p:cNvSpPr>
          <p:nvPr>
            <p:ph type="ftr" sz="quarter" idx="11"/>
          </p:nvPr>
        </p:nvSpPr>
        <p:spPr/>
        <p:txBody>
          <a:bodyPr/>
          <a:lstStyle/>
          <a:p>
            <a:endParaRPr lang="en-PK"/>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4089356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3C87A38-B940-40B9-9CBB-EFD0F33F588B}" type="datetimeFigureOut">
              <a:rPr lang="en-PK" smtClean="0"/>
              <a:t>11/22/2025</a:t>
            </a:fld>
            <a:endParaRPr lang="en-PK"/>
          </a:p>
        </p:txBody>
      </p:sp>
      <p:sp>
        <p:nvSpPr>
          <p:cNvPr id="8" name="Footer Placeholder 7"/>
          <p:cNvSpPr>
            <a:spLocks noGrp="1"/>
          </p:cNvSpPr>
          <p:nvPr>
            <p:ph type="ftr" sz="quarter" idx="11"/>
          </p:nvPr>
        </p:nvSpPr>
        <p:spPr/>
        <p:txBody>
          <a:bodyPr/>
          <a:lstStyle/>
          <a:p>
            <a:endParaRPr lang="en-PK"/>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4266911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3C87A38-B940-40B9-9CBB-EFD0F33F588B}" type="datetimeFigureOut">
              <a:rPr lang="en-PK" smtClean="0"/>
              <a:t>11/22/2025</a:t>
            </a:fld>
            <a:endParaRPr lang="en-PK"/>
          </a:p>
        </p:txBody>
      </p:sp>
      <p:sp>
        <p:nvSpPr>
          <p:cNvPr id="4" name="Footer Placeholder 3"/>
          <p:cNvSpPr>
            <a:spLocks noGrp="1"/>
          </p:cNvSpPr>
          <p:nvPr>
            <p:ph type="ftr" sz="quarter" idx="11"/>
          </p:nvPr>
        </p:nvSpPr>
        <p:spPr/>
        <p:txBody>
          <a:bodyPr/>
          <a:lstStyle/>
          <a:p>
            <a:endParaRPr lang="en-PK"/>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2852013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C87A38-B940-40B9-9CBB-EFD0F33F588B}" type="datetimeFigureOut">
              <a:rPr lang="en-PK" smtClean="0"/>
              <a:t>11/22/2025</a:t>
            </a:fld>
            <a:endParaRPr lang="en-PK"/>
          </a:p>
        </p:txBody>
      </p:sp>
      <p:sp>
        <p:nvSpPr>
          <p:cNvPr id="3" name="Footer Placeholder 2"/>
          <p:cNvSpPr>
            <a:spLocks noGrp="1"/>
          </p:cNvSpPr>
          <p:nvPr>
            <p:ph type="ftr" sz="quarter" idx="11"/>
          </p:nvPr>
        </p:nvSpPr>
        <p:spPr/>
        <p:txBody>
          <a:bodyPr/>
          <a:lstStyle/>
          <a:p>
            <a:endParaRPr lang="en-PK"/>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3532135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C87A38-B940-40B9-9CBB-EFD0F33F588B}" type="datetimeFigureOut">
              <a:rPr lang="en-PK" smtClean="0"/>
              <a:t>11/22/2025</a:t>
            </a:fld>
            <a:endParaRPr lang="en-PK"/>
          </a:p>
        </p:txBody>
      </p:sp>
      <p:sp>
        <p:nvSpPr>
          <p:cNvPr id="6" name="Footer Placeholder 5"/>
          <p:cNvSpPr>
            <a:spLocks noGrp="1"/>
          </p:cNvSpPr>
          <p:nvPr>
            <p:ph type="ftr" sz="quarter" idx="11"/>
          </p:nvPr>
        </p:nvSpPr>
        <p:spPr/>
        <p:txBody>
          <a:bodyPr/>
          <a:lstStyle/>
          <a:p>
            <a:endParaRPr lang="en-PK"/>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3617246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C87A38-B940-40B9-9CBB-EFD0F33F588B}" type="datetimeFigureOut">
              <a:rPr lang="en-PK" smtClean="0"/>
              <a:t>11/22/2025</a:t>
            </a:fld>
            <a:endParaRPr lang="en-PK"/>
          </a:p>
        </p:txBody>
      </p:sp>
      <p:sp>
        <p:nvSpPr>
          <p:cNvPr id="6" name="Footer Placeholder 5"/>
          <p:cNvSpPr>
            <a:spLocks noGrp="1"/>
          </p:cNvSpPr>
          <p:nvPr>
            <p:ph type="ftr" sz="quarter" idx="11"/>
          </p:nvPr>
        </p:nvSpPr>
        <p:spPr/>
        <p:txBody>
          <a:bodyPr/>
          <a:lstStyle/>
          <a:p>
            <a:endParaRPr lang="en-PK"/>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3162943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C87A38-B940-40B9-9CBB-EFD0F33F588B}" type="datetimeFigureOut">
              <a:rPr lang="en-PK" smtClean="0"/>
              <a:t>11/22/2025</a:t>
            </a:fld>
            <a:endParaRPr lang="en-PK"/>
          </a:p>
        </p:txBody>
      </p:sp>
      <p:sp>
        <p:nvSpPr>
          <p:cNvPr id="5" name="Footer Placeholder 4"/>
          <p:cNvSpPr>
            <a:spLocks noGrp="1"/>
          </p:cNvSpPr>
          <p:nvPr>
            <p:ph type="ftr" sz="quarter" idx="11"/>
          </p:nvPr>
        </p:nvSpPr>
        <p:spPr/>
        <p:txBody>
          <a:bodyPr/>
          <a:lstStyle/>
          <a:p>
            <a:endParaRPr lang="en-PK"/>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2736329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C87A38-B940-40B9-9CBB-EFD0F33F588B}" type="datetimeFigureOut">
              <a:rPr lang="en-PK" smtClean="0"/>
              <a:t>11/22/2025</a:t>
            </a:fld>
            <a:endParaRPr lang="en-PK"/>
          </a:p>
        </p:txBody>
      </p:sp>
      <p:sp>
        <p:nvSpPr>
          <p:cNvPr id="5" name="Footer Placeholder 4"/>
          <p:cNvSpPr>
            <a:spLocks noGrp="1"/>
          </p:cNvSpPr>
          <p:nvPr>
            <p:ph type="ftr" sz="quarter" idx="11"/>
          </p:nvPr>
        </p:nvSpPr>
        <p:spPr/>
        <p:txBody>
          <a:bodyPr/>
          <a:lstStyle/>
          <a:p>
            <a:endParaRPr lang="en-PK"/>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9E98913-74CA-43B1-9369-69902D5C23D8}" type="slidenum">
              <a:rPr lang="en-PK" smtClean="0"/>
              <a:t>‹#›</a:t>
            </a:fld>
            <a:endParaRPr lang="en-PK"/>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064875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3C87A38-B940-40B9-9CBB-EFD0F33F588B}" type="datetimeFigureOut">
              <a:rPr lang="en-PK" smtClean="0"/>
              <a:t>11/22/2025</a:t>
            </a:fld>
            <a:endParaRPr lang="en-PK"/>
          </a:p>
        </p:txBody>
      </p:sp>
      <p:sp>
        <p:nvSpPr>
          <p:cNvPr id="6" name="Footer Placeholder 5"/>
          <p:cNvSpPr>
            <a:spLocks noGrp="1"/>
          </p:cNvSpPr>
          <p:nvPr>
            <p:ph type="ftr" sz="quarter" idx="11"/>
          </p:nvPr>
        </p:nvSpPr>
        <p:spPr/>
        <p:txBody>
          <a:bodyPr/>
          <a:lstStyle/>
          <a:p>
            <a:endParaRPr lang="en-PK"/>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21482207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3C87A38-B940-40B9-9CBB-EFD0F33F588B}" type="datetimeFigureOut">
              <a:rPr lang="en-PK" smtClean="0"/>
              <a:t>11/22/2025</a:t>
            </a:fld>
            <a:endParaRPr lang="en-PK"/>
          </a:p>
        </p:txBody>
      </p:sp>
      <p:sp>
        <p:nvSpPr>
          <p:cNvPr id="6" name="Footer Placeholder 5"/>
          <p:cNvSpPr>
            <a:spLocks noGrp="1"/>
          </p:cNvSpPr>
          <p:nvPr>
            <p:ph type="ftr" sz="quarter" idx="11"/>
          </p:nvPr>
        </p:nvSpPr>
        <p:spPr/>
        <p:txBody>
          <a:bodyPr/>
          <a:lstStyle/>
          <a:p>
            <a:endParaRPr lang="en-PK"/>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9E98913-74CA-43B1-9369-69902D5C23D8}" type="slidenum">
              <a:rPr lang="en-PK" smtClean="0"/>
              <a:t>‹#›</a:t>
            </a:fld>
            <a:endParaRPr lang="en-PK"/>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87890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3C87A38-B940-40B9-9CBB-EFD0F33F588B}" type="datetimeFigureOut">
              <a:rPr lang="en-PK" smtClean="0"/>
              <a:t>11/22/2025</a:t>
            </a:fld>
            <a:endParaRPr lang="en-PK"/>
          </a:p>
        </p:txBody>
      </p:sp>
      <p:sp>
        <p:nvSpPr>
          <p:cNvPr id="6" name="Footer Placeholder 5"/>
          <p:cNvSpPr>
            <a:spLocks noGrp="1"/>
          </p:cNvSpPr>
          <p:nvPr>
            <p:ph type="ftr" sz="quarter" idx="11"/>
          </p:nvPr>
        </p:nvSpPr>
        <p:spPr/>
        <p:txBody>
          <a:bodyPr/>
          <a:lstStyle/>
          <a:p>
            <a:endParaRPr lang="en-PK"/>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19580464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C87A38-B940-40B9-9CBB-EFD0F33F588B}" type="datetimeFigureOut">
              <a:rPr lang="en-PK" smtClean="0"/>
              <a:t>11/22/2025</a:t>
            </a:fld>
            <a:endParaRPr lang="en-PK"/>
          </a:p>
        </p:txBody>
      </p:sp>
      <p:sp>
        <p:nvSpPr>
          <p:cNvPr id="5" name="Footer Placeholder 4"/>
          <p:cNvSpPr>
            <a:spLocks noGrp="1"/>
          </p:cNvSpPr>
          <p:nvPr>
            <p:ph type="ftr" sz="quarter" idx="11"/>
          </p:nvPr>
        </p:nvSpPr>
        <p:spPr/>
        <p:txBody>
          <a:bodyPr/>
          <a:lstStyle/>
          <a:p>
            <a:endParaRPr lang="en-PK"/>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1970877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C87A38-B940-40B9-9CBB-EFD0F33F588B}" type="datetimeFigureOut">
              <a:rPr lang="en-PK" smtClean="0"/>
              <a:t>11/22/2025</a:t>
            </a:fld>
            <a:endParaRPr lang="en-PK"/>
          </a:p>
        </p:txBody>
      </p:sp>
      <p:sp>
        <p:nvSpPr>
          <p:cNvPr id="5" name="Footer Placeholder 4"/>
          <p:cNvSpPr>
            <a:spLocks noGrp="1"/>
          </p:cNvSpPr>
          <p:nvPr>
            <p:ph type="ftr" sz="quarter" idx="11"/>
          </p:nvPr>
        </p:nvSpPr>
        <p:spPr/>
        <p:txBody>
          <a:bodyPr/>
          <a:lstStyle/>
          <a:p>
            <a:endParaRPr lang="en-PK"/>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3654524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3C87A38-B940-40B9-9CBB-EFD0F33F588B}" type="datetimeFigureOut">
              <a:rPr lang="en-PK" smtClean="0"/>
              <a:t>11/22/2025</a:t>
            </a:fld>
            <a:endParaRPr lang="en-PK"/>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PK"/>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9E98913-74CA-43B1-9369-69902D5C23D8}" type="slidenum">
              <a:rPr lang="en-PK" smtClean="0"/>
              <a:t>‹#›</a:t>
            </a:fld>
            <a:endParaRPr lang="en-PK"/>
          </a:p>
        </p:txBody>
      </p:sp>
    </p:spTree>
    <p:extLst>
      <p:ext uri="{BB962C8B-B14F-4D97-AF65-F5344CB8AC3E}">
        <p14:creationId xmlns:p14="http://schemas.microsoft.com/office/powerpoint/2010/main" val="1764232342"/>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6.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5" descr="t3">
            <a:extLst>
              <a:ext uri="{FF2B5EF4-FFF2-40B4-BE49-F238E27FC236}">
                <a16:creationId xmlns:a16="http://schemas.microsoft.com/office/drawing/2014/main" id="{8619FF7B-B84C-45A0-BC6E-3F96480C80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6246" y="125834"/>
            <a:ext cx="8704976" cy="5935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9EEEB-AAF2-4637-8557-FEAE1AF6FBFB}"/>
              </a:ext>
            </a:extLst>
          </p:cNvPr>
          <p:cNvSpPr>
            <a:spLocks noGrp="1"/>
          </p:cNvSpPr>
          <p:nvPr>
            <p:ph type="ctrTitle"/>
          </p:nvPr>
        </p:nvSpPr>
        <p:spPr/>
        <p:txBody>
          <a:bodyPr/>
          <a:lstStyle/>
          <a:p>
            <a:r>
              <a:rPr lang="en-US" dirty="0"/>
              <a:t>Project</a:t>
            </a:r>
            <a:endParaRPr lang="en-PK" dirty="0"/>
          </a:p>
        </p:txBody>
      </p:sp>
      <p:sp>
        <p:nvSpPr>
          <p:cNvPr id="3" name="Subtitle 2">
            <a:extLst>
              <a:ext uri="{FF2B5EF4-FFF2-40B4-BE49-F238E27FC236}">
                <a16:creationId xmlns:a16="http://schemas.microsoft.com/office/drawing/2014/main" id="{9A542A5A-808A-4634-BD80-06BE33E05D29}"/>
              </a:ext>
            </a:extLst>
          </p:cNvPr>
          <p:cNvSpPr>
            <a:spLocks noGrp="1"/>
          </p:cNvSpPr>
          <p:nvPr>
            <p:ph type="subTitle" idx="1"/>
          </p:nvPr>
        </p:nvSpPr>
        <p:spPr/>
        <p:txBody>
          <a:bodyPr/>
          <a:lstStyle/>
          <a:p>
            <a:r>
              <a:rPr lang="en-US" dirty="0"/>
              <a:t>PRESENTATION</a:t>
            </a:r>
            <a:endParaRPr lang="en-PK" dirty="0"/>
          </a:p>
        </p:txBody>
      </p:sp>
    </p:spTree>
    <p:extLst>
      <p:ext uri="{BB962C8B-B14F-4D97-AF65-F5344CB8AC3E}">
        <p14:creationId xmlns:p14="http://schemas.microsoft.com/office/powerpoint/2010/main" val="3925397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FF0B6ED0-8CFC-411A-9AA3-A047F63F4029}"/>
              </a:ext>
            </a:extLst>
          </p:cNvPr>
          <p:cNvSpPr>
            <a:spLocks noGrp="1" noChangeArrowheads="1"/>
          </p:cNvSpPr>
          <p:nvPr>
            <p:ph type="ctrTitle"/>
          </p:nvPr>
        </p:nvSpPr>
        <p:spPr>
          <a:xfrm>
            <a:off x="2133600" y="1066800"/>
            <a:ext cx="8001000" cy="2743200"/>
          </a:xfrm>
        </p:spPr>
        <p:txBody>
          <a:bodyPr anchor="t">
            <a:normAutofit/>
          </a:bodyPr>
          <a:lstStyle/>
          <a:p>
            <a:pPr algn="ctr">
              <a:defRPr/>
            </a:pPr>
            <a:r>
              <a:rPr lang="en-US" sz="4400" dirty="0"/>
              <a:t>Research Submission and Evaluation System for University</a:t>
            </a:r>
          </a:p>
        </p:txBody>
      </p:sp>
      <p:pic>
        <p:nvPicPr>
          <p:cNvPr id="3075" name="Picture 6" descr="C:\Users\usman.waheed\Desktop\vulogo.jpg">
            <a:extLst>
              <a:ext uri="{FF2B5EF4-FFF2-40B4-BE49-F238E27FC236}">
                <a16:creationId xmlns:a16="http://schemas.microsoft.com/office/drawing/2014/main" id="{D358361D-3476-4504-A630-AA4D56A36C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6831" y="3678573"/>
            <a:ext cx="2014538"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B62FCD9E-757B-46AC-A1AC-887CAF6D0A75}"/>
              </a:ext>
            </a:extLst>
          </p:cNvPr>
          <p:cNvSpPr>
            <a:spLocks noGrp="1" noChangeArrowheads="1"/>
          </p:cNvSpPr>
          <p:nvPr>
            <p:ph type="title"/>
          </p:nvPr>
        </p:nvSpPr>
        <p:spPr/>
        <p:txBody>
          <a:bodyPr>
            <a:normAutofit fontScale="90000"/>
          </a:bodyPr>
          <a:lstStyle/>
          <a:p>
            <a:pPr eaLnBrk="1" hangingPunct="1">
              <a:defRPr/>
            </a:pPr>
            <a:r>
              <a:rPr lang="en-US" sz="5900" dirty="0">
                <a:solidFill>
                  <a:srgbClr val="0000FF"/>
                </a:solidFill>
              </a:rPr>
              <a:t>Group Members Introduction</a:t>
            </a:r>
          </a:p>
        </p:txBody>
      </p:sp>
      <p:sp>
        <p:nvSpPr>
          <p:cNvPr id="135171" name="Rectangle 3">
            <a:extLst>
              <a:ext uri="{FF2B5EF4-FFF2-40B4-BE49-F238E27FC236}">
                <a16:creationId xmlns:a16="http://schemas.microsoft.com/office/drawing/2014/main" id="{7E30D5F9-5E71-4B75-AA8C-C3F4C96FB626}"/>
              </a:ext>
            </a:extLst>
          </p:cNvPr>
          <p:cNvSpPr>
            <a:spLocks noGrp="1" noChangeArrowheads="1"/>
          </p:cNvSpPr>
          <p:nvPr>
            <p:ph idx="1"/>
          </p:nvPr>
        </p:nvSpPr>
        <p:spPr>
          <a:xfrm>
            <a:off x="1981200" y="2514601"/>
            <a:ext cx="8229600" cy="1179810"/>
          </a:xfrm>
        </p:spPr>
        <p:txBody>
          <a:bodyPr>
            <a:spAutoFit/>
          </a:bodyPr>
          <a:lstStyle/>
          <a:p>
            <a:pPr eaLnBrk="1" hangingPunct="1">
              <a:buFont typeface="Wingdings" panose="05000000000000000000" pitchFamily="2" charset="2"/>
              <a:buNone/>
              <a:defRPr/>
            </a:pPr>
            <a:endParaRPr lang="en-US" dirty="0"/>
          </a:p>
          <a:p>
            <a:pPr eaLnBrk="1" hangingPunct="1">
              <a:buFont typeface="Wingdings" panose="05000000000000000000" pitchFamily="2" charset="2"/>
              <a:buNone/>
              <a:defRPr/>
            </a:pPr>
            <a:endParaRPr lang="en-US" dirty="0"/>
          </a:p>
          <a:p>
            <a:pPr algn="ctr">
              <a:buNone/>
              <a:defRPr/>
            </a:pPr>
            <a:r>
              <a:rPr lang="en-US" dirty="0"/>
              <a:t>Ayesha </a:t>
            </a:r>
            <a:r>
              <a:rPr lang="en-US" dirty="0" err="1"/>
              <a:t>Arbi</a:t>
            </a:r>
            <a:r>
              <a:rPr lang="en-US" dirty="0"/>
              <a:t> (BC210409630)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4">
            <a:extLst>
              <a:ext uri="{FF2B5EF4-FFF2-40B4-BE49-F238E27FC236}">
                <a16:creationId xmlns:a16="http://schemas.microsoft.com/office/drawing/2014/main" id="{2899B5D2-53C8-4E35-ACF4-CD24D8BAB869}"/>
              </a:ext>
            </a:extLst>
          </p:cNvPr>
          <p:cNvSpPr>
            <a:spLocks noGrp="1" noChangeArrowheads="1"/>
          </p:cNvSpPr>
          <p:nvPr>
            <p:ph type="ctrTitle"/>
          </p:nvPr>
        </p:nvSpPr>
        <p:spPr>
          <a:xfrm>
            <a:off x="2665828" y="548640"/>
            <a:ext cx="7772400" cy="580292"/>
          </a:xfrm>
        </p:spPr>
        <p:txBody>
          <a:bodyPr>
            <a:normAutofit fontScale="90000"/>
          </a:bodyPr>
          <a:lstStyle/>
          <a:p>
            <a:pPr eaLnBrk="1" hangingPunct="1">
              <a:defRPr/>
            </a:pPr>
            <a:r>
              <a:rPr lang="en-US" sz="3600" dirty="0">
                <a:solidFill>
                  <a:srgbClr val="0000FF"/>
                </a:solidFill>
              </a:rPr>
              <a:t>INTRODUCTION OF PROJECT</a:t>
            </a:r>
            <a:endParaRPr lang="en-US" sz="2800" dirty="0">
              <a:solidFill>
                <a:srgbClr val="0000FF"/>
              </a:solidFill>
            </a:endParaRPr>
          </a:p>
        </p:txBody>
      </p:sp>
      <p:sp>
        <p:nvSpPr>
          <p:cNvPr id="9221" name="Rectangle 5">
            <a:extLst>
              <a:ext uri="{FF2B5EF4-FFF2-40B4-BE49-F238E27FC236}">
                <a16:creationId xmlns:a16="http://schemas.microsoft.com/office/drawing/2014/main" id="{4D9979D8-FFB2-43AE-B6CF-14D54B7CDF64}"/>
              </a:ext>
            </a:extLst>
          </p:cNvPr>
          <p:cNvSpPr>
            <a:spLocks noGrp="1" noChangeArrowheads="1"/>
          </p:cNvSpPr>
          <p:nvPr>
            <p:ph type="subTitle" idx="1"/>
          </p:nvPr>
        </p:nvSpPr>
        <p:spPr>
          <a:xfrm>
            <a:off x="1876424" y="2057400"/>
            <a:ext cx="8791575" cy="4248150"/>
          </a:xfrm>
        </p:spPr>
        <p:txBody>
          <a:bodyPr>
            <a:normAutofit/>
          </a:bodyPr>
          <a:lstStyle/>
          <a:p>
            <a:pPr algn="just"/>
            <a:r>
              <a:rPr lang="en-US" dirty="0"/>
              <a:t>The Research Submission and Evaluation System is a web-based platform designed for universities to streamline the process of submitting, evaluating, and publishing student research papers. It enables students to upload their research work, allows faculty members to evaluate and provide feedback, and helps administrators oversee the entire process efficiently. </a:t>
            </a:r>
          </a:p>
          <a:p>
            <a:pPr algn="just"/>
            <a:r>
              <a:rPr lang="en-US" dirty="0"/>
              <a:t>The system fosters a transparent academic environment by replacing traditional manual methods with digital workflows</a:t>
            </a:r>
            <a:endParaRPr lang="en-US" sz="1800" dirty="0">
              <a:solidFill>
                <a:schemeClr val="tx1"/>
              </a:solidFill>
              <a:effectLst/>
              <a:latin typeface="+mj-lt"/>
              <a:ea typeface="Times New Roman" panose="02020603050405020304" pitchFamily="18" charset="0"/>
            </a:endParaRPr>
          </a:p>
        </p:txBody>
      </p:sp>
      <p:pic>
        <p:nvPicPr>
          <p:cNvPr id="5124" name="Picture 8">
            <a:extLst>
              <a:ext uri="{FF2B5EF4-FFF2-40B4-BE49-F238E27FC236}">
                <a16:creationId xmlns:a16="http://schemas.microsoft.com/office/drawing/2014/main" id="{A90E317F-CB37-4892-99E3-A12C095A7C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29800" y="6305550"/>
            <a:ext cx="8382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6322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Text Box 47">
            <a:extLst>
              <a:ext uri="{FF2B5EF4-FFF2-40B4-BE49-F238E27FC236}">
                <a16:creationId xmlns:a16="http://schemas.microsoft.com/office/drawing/2014/main" id="{15302705-E4BB-4CC8-851A-412E0E0EE58F}"/>
              </a:ext>
            </a:extLst>
          </p:cNvPr>
          <p:cNvSpPr txBox="1">
            <a:spLocks noChangeArrowheads="1"/>
          </p:cNvSpPr>
          <p:nvPr/>
        </p:nvSpPr>
        <p:spPr bwMode="auto">
          <a:xfrm>
            <a:off x="3124200" y="1295401"/>
            <a:ext cx="487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endParaRPr lang="en-PK" altLang="en-PK"/>
          </a:p>
        </p:txBody>
      </p:sp>
      <p:sp>
        <p:nvSpPr>
          <p:cNvPr id="139312" name="Text Box 48">
            <a:extLst>
              <a:ext uri="{FF2B5EF4-FFF2-40B4-BE49-F238E27FC236}">
                <a16:creationId xmlns:a16="http://schemas.microsoft.com/office/drawing/2014/main" id="{3C2EBF78-70B6-4019-82AC-ACD1FF093C62}"/>
              </a:ext>
            </a:extLst>
          </p:cNvPr>
          <p:cNvSpPr txBox="1">
            <a:spLocks noChangeArrowheads="1"/>
          </p:cNvSpPr>
          <p:nvPr/>
        </p:nvSpPr>
        <p:spPr bwMode="auto">
          <a:xfrm>
            <a:off x="2376551" y="411144"/>
            <a:ext cx="4166862" cy="1292662"/>
          </a:xfrm>
          <a:prstGeom prst="rect">
            <a:avLst/>
          </a:prstGeom>
          <a:noFill/>
          <a:ln w="9525">
            <a:noFill/>
            <a:miter lim="800000"/>
            <a:headEnd/>
            <a:tailEnd/>
          </a:ln>
          <a:effectLst/>
        </p:spPr>
        <p:txBody>
          <a:bodyPr wrap="square">
            <a:spAutoFit/>
          </a:bodyPr>
          <a:lstStyle/>
          <a:p>
            <a:pPr>
              <a:spcBef>
                <a:spcPct val="50000"/>
              </a:spcBef>
              <a:defRPr/>
            </a:pPr>
            <a:r>
              <a:rPr lang="en-US" sz="3600" dirty="0">
                <a:solidFill>
                  <a:srgbClr val="0000FF"/>
                </a:solidFill>
                <a:latin typeface="+mj-lt"/>
              </a:rPr>
              <a:t>VU Process Model</a:t>
            </a:r>
          </a:p>
          <a:p>
            <a:pPr>
              <a:spcBef>
                <a:spcPct val="50000"/>
              </a:spcBef>
              <a:defRPr/>
            </a:pPr>
            <a:endParaRPr lang="en-US" sz="2800" b="1" dirty="0">
              <a:latin typeface="+mj-lt"/>
            </a:endParaRPr>
          </a:p>
        </p:txBody>
      </p:sp>
      <p:pic>
        <p:nvPicPr>
          <p:cNvPr id="4098" name="Picture 2">
            <a:extLst>
              <a:ext uri="{FF2B5EF4-FFF2-40B4-BE49-F238E27FC236}">
                <a16:creationId xmlns:a16="http://schemas.microsoft.com/office/drawing/2014/main" id="{B128D7D9-324F-4589-8896-2C0DAA253C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1057475"/>
            <a:ext cx="7351542" cy="5488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zoom dir="in"/>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4">
            <a:extLst>
              <a:ext uri="{FF2B5EF4-FFF2-40B4-BE49-F238E27FC236}">
                <a16:creationId xmlns:a16="http://schemas.microsoft.com/office/drawing/2014/main" id="{942CBE18-2310-401C-B342-F995C53D0A37}"/>
              </a:ext>
            </a:extLst>
          </p:cNvPr>
          <p:cNvSpPr>
            <a:spLocks noGrp="1" noChangeArrowheads="1"/>
          </p:cNvSpPr>
          <p:nvPr>
            <p:ph type="ctrTitle"/>
          </p:nvPr>
        </p:nvSpPr>
        <p:spPr>
          <a:xfrm>
            <a:off x="951817" y="182880"/>
            <a:ext cx="4439593" cy="727427"/>
          </a:xfrm>
        </p:spPr>
        <p:txBody>
          <a:bodyPr>
            <a:noAutofit/>
          </a:bodyPr>
          <a:lstStyle/>
          <a:p>
            <a:pPr eaLnBrk="1" hangingPunct="1">
              <a:defRPr/>
            </a:pPr>
            <a:r>
              <a:rPr lang="en-US" sz="3600" dirty="0">
                <a:solidFill>
                  <a:srgbClr val="0000FF"/>
                </a:solidFill>
              </a:rPr>
              <a:t>Use Case Diagram</a:t>
            </a:r>
          </a:p>
        </p:txBody>
      </p:sp>
      <p:sp>
        <p:nvSpPr>
          <p:cNvPr id="4" name="Rectangle 4">
            <a:extLst>
              <a:ext uri="{FF2B5EF4-FFF2-40B4-BE49-F238E27FC236}">
                <a16:creationId xmlns:a16="http://schemas.microsoft.com/office/drawing/2014/main" id="{A94F7DB2-688C-4514-A509-CFB1FAE6CA7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K"/>
          </a:p>
        </p:txBody>
      </p:sp>
      <p:pic>
        <p:nvPicPr>
          <p:cNvPr id="5122" name="Picture 2" descr="usecase research and submision">
            <a:extLst>
              <a:ext uri="{FF2B5EF4-FFF2-40B4-BE49-F238E27FC236}">
                <a16:creationId xmlns:a16="http://schemas.microsoft.com/office/drawing/2014/main" id="{E7D906D9-2A80-4AD9-AA37-1EA59479D1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8739" y="182880"/>
            <a:ext cx="7040563" cy="6492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4">
            <a:extLst>
              <a:ext uri="{FF2B5EF4-FFF2-40B4-BE49-F238E27FC236}">
                <a16:creationId xmlns:a16="http://schemas.microsoft.com/office/drawing/2014/main" id="{92065671-43C1-4F74-A5E1-FE14E723063A}"/>
              </a:ext>
            </a:extLst>
          </p:cNvPr>
          <p:cNvSpPr>
            <a:spLocks noGrp="1" noChangeArrowheads="1"/>
          </p:cNvSpPr>
          <p:nvPr>
            <p:ph type="ctrTitle"/>
          </p:nvPr>
        </p:nvSpPr>
        <p:spPr>
          <a:xfrm>
            <a:off x="3260183" y="111673"/>
            <a:ext cx="5446552" cy="591375"/>
          </a:xfrm>
        </p:spPr>
        <p:txBody>
          <a:bodyPr>
            <a:noAutofit/>
          </a:bodyPr>
          <a:lstStyle/>
          <a:p>
            <a:pPr eaLnBrk="1" hangingPunct="1">
              <a:defRPr/>
            </a:pPr>
            <a:r>
              <a:rPr lang="en-US" sz="3600" dirty="0">
                <a:solidFill>
                  <a:srgbClr val="0000FF"/>
                </a:solidFill>
              </a:rPr>
              <a:t>Functional Requirements</a:t>
            </a:r>
          </a:p>
        </p:txBody>
      </p:sp>
      <p:sp>
        <p:nvSpPr>
          <p:cNvPr id="3" name="Subtitle 2">
            <a:extLst>
              <a:ext uri="{FF2B5EF4-FFF2-40B4-BE49-F238E27FC236}">
                <a16:creationId xmlns:a16="http://schemas.microsoft.com/office/drawing/2014/main" id="{50D3C562-DE59-4D9D-96AE-5AAAA114ADE9}"/>
              </a:ext>
            </a:extLst>
          </p:cNvPr>
          <p:cNvSpPr>
            <a:spLocks noGrp="1"/>
          </p:cNvSpPr>
          <p:nvPr>
            <p:ph type="subTitle" idx="1"/>
          </p:nvPr>
        </p:nvSpPr>
        <p:spPr>
          <a:xfrm rot="10800000">
            <a:off x="4643926" y="6391118"/>
            <a:ext cx="6807176" cy="71431"/>
          </a:xfrm>
        </p:spPr>
        <p:txBody>
          <a:bodyPr>
            <a:normAutofit fontScale="25000" lnSpcReduction="20000"/>
          </a:bodyPr>
          <a:lstStyle/>
          <a:p>
            <a:endParaRPr lang="en-US" sz="2800" dirty="0"/>
          </a:p>
          <a:p>
            <a:endParaRPr lang="en-US" dirty="0"/>
          </a:p>
        </p:txBody>
      </p:sp>
      <p:sp>
        <p:nvSpPr>
          <p:cNvPr id="5" name="Rectangle 3">
            <a:extLst>
              <a:ext uri="{FF2B5EF4-FFF2-40B4-BE49-F238E27FC236}">
                <a16:creationId xmlns:a16="http://schemas.microsoft.com/office/drawing/2014/main" id="{752B4900-5530-437D-B8DD-6F51F0A7BFC2}"/>
              </a:ext>
            </a:extLst>
          </p:cNvPr>
          <p:cNvSpPr>
            <a:spLocks noChangeArrowheads="1"/>
          </p:cNvSpPr>
          <p:nvPr/>
        </p:nvSpPr>
        <p:spPr bwMode="auto">
          <a:xfrm rot="10800000" flipV="1">
            <a:off x="2672862" y="1195464"/>
            <a:ext cx="920027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 Registration:</a:t>
            </a:r>
            <a:r>
              <a:rPr kumimoji="0" lang="en-US" altLang="en-US" sz="1800" b="0" i="0" u="none" strike="noStrike" cap="none" normalizeH="0" baseline="0" dirty="0">
                <a:ln>
                  <a:noFill/>
                </a:ln>
                <a:solidFill>
                  <a:schemeClr val="tx1"/>
                </a:solidFill>
                <a:effectLst/>
                <a:latin typeface="Arial" panose="020B0604020202020204" pitchFamily="34" charset="0"/>
              </a:rPr>
              <a:t> Students and faculty register with required details.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Role-Based Access:</a:t>
            </a:r>
            <a:r>
              <a:rPr kumimoji="0" lang="en-US" altLang="en-US" sz="1800" b="0" i="0" u="none" strike="noStrike" cap="none" normalizeH="0" baseline="0" dirty="0">
                <a:ln>
                  <a:noFill/>
                </a:ln>
                <a:solidFill>
                  <a:schemeClr val="tx1"/>
                </a:solidFill>
                <a:effectLst/>
                <a:latin typeface="Arial" panose="020B0604020202020204" pitchFamily="34" charset="0"/>
              </a:rPr>
              <a:t> Students submit/view papers; faculty create/evaluate assignments; admin manages users and reports.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Paper Submission:</a:t>
            </a:r>
            <a:r>
              <a:rPr kumimoji="0" lang="en-US" altLang="en-US" sz="1800" b="0" i="0" u="none" strike="noStrike" cap="none" normalizeH="0" baseline="0" dirty="0">
                <a:ln>
                  <a:noFill/>
                </a:ln>
                <a:solidFill>
                  <a:schemeClr val="tx1"/>
                </a:solidFill>
                <a:effectLst/>
                <a:latin typeface="Arial" panose="020B0604020202020204" pitchFamily="34" charset="0"/>
              </a:rPr>
              <a:t> Students upload PDF/Word papers with metadata before deadlines.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Evaluation:</a:t>
            </a:r>
            <a:r>
              <a:rPr kumimoji="0" lang="en-US" altLang="en-US" sz="1800" b="0" i="0" u="none" strike="noStrike" cap="none" normalizeH="0" baseline="0" dirty="0">
                <a:ln>
                  <a:noFill/>
                </a:ln>
                <a:solidFill>
                  <a:schemeClr val="tx1"/>
                </a:solidFill>
                <a:effectLst/>
                <a:latin typeface="Arial" panose="020B0604020202020204" pitchFamily="34" charset="0"/>
              </a:rPr>
              <a:t> Faculty review papers, give ratings/feedback, upload commented files, and publish accepted 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Versioning:</a:t>
            </a:r>
            <a:r>
              <a:rPr kumimoji="0" lang="en-US" altLang="en-US" sz="1800" b="0" i="0" u="none" strike="noStrike" cap="none" normalizeH="0" baseline="0" dirty="0">
                <a:ln>
                  <a:noFill/>
                </a:ln>
                <a:solidFill>
                  <a:schemeClr val="tx1"/>
                </a:solidFill>
                <a:effectLst/>
                <a:latin typeface="Arial" panose="020B0604020202020204" pitchFamily="34" charset="0"/>
              </a:rPr>
              <a:t> Students can update papers with all versions logged.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Notifications:</a:t>
            </a:r>
            <a:r>
              <a:rPr kumimoji="0" lang="en-US" altLang="en-US" sz="1800" b="0" i="0" u="none" strike="noStrike" cap="none" normalizeH="0" baseline="0" dirty="0">
                <a:ln>
                  <a:noFill/>
                </a:ln>
                <a:solidFill>
                  <a:schemeClr val="tx1"/>
                </a:solidFill>
                <a:effectLst/>
                <a:latin typeface="Arial" panose="020B0604020202020204" pitchFamily="34" charset="0"/>
              </a:rPr>
              <a:t> Email alerts for submissions, evaluations, feedback, and pending tasks.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Search &amp; Filter:</a:t>
            </a:r>
            <a:r>
              <a:rPr kumimoji="0" lang="en-US" altLang="en-US" sz="1800" b="0" i="0" u="none" strike="noStrike" cap="none" normalizeH="0" baseline="0" dirty="0">
                <a:ln>
                  <a:noFill/>
                </a:ln>
                <a:solidFill>
                  <a:schemeClr val="tx1"/>
                </a:solidFill>
                <a:effectLst/>
                <a:latin typeface="Arial" panose="020B0604020202020204" pitchFamily="34" charset="0"/>
              </a:rPr>
              <a:t> Find published papers by ID, program, category, date, or author.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Reports:</a:t>
            </a:r>
            <a:r>
              <a:rPr kumimoji="0" lang="en-US" altLang="en-US" sz="1800" b="0" i="0" u="none" strike="noStrike" cap="none" normalizeH="0" baseline="0" dirty="0">
                <a:ln>
                  <a:noFill/>
                </a:ln>
                <a:solidFill>
                  <a:schemeClr val="tx1"/>
                </a:solidFill>
                <a:effectLst/>
                <a:latin typeface="Arial" panose="020B0604020202020204" pitchFamily="34" charset="0"/>
              </a:rPr>
              <a:t> Admin and faculty generate submission and evaluation reports.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Admin Panel:</a:t>
            </a:r>
            <a:r>
              <a:rPr kumimoji="0" lang="en-US" altLang="en-US" sz="1800" b="0" i="0" u="none" strike="noStrike" cap="none" normalizeH="0" baseline="0" dirty="0">
                <a:ln>
                  <a:noFill/>
                </a:ln>
                <a:solidFill>
                  <a:schemeClr val="tx1"/>
                </a:solidFill>
                <a:effectLst/>
                <a:latin typeface="Arial" panose="020B0604020202020204" pitchFamily="34" charset="0"/>
              </a:rPr>
              <a:t> Manage users, track submissions, ensure timely evaluations.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Responsive Design:</a:t>
            </a:r>
            <a:r>
              <a:rPr kumimoji="0" lang="en-US" altLang="en-US" sz="1800" b="0" i="0" u="none" strike="noStrike" cap="none" normalizeH="0" baseline="0" dirty="0">
                <a:ln>
                  <a:noFill/>
                </a:ln>
                <a:solidFill>
                  <a:schemeClr val="tx1"/>
                </a:solidFill>
                <a:effectLst/>
                <a:latin typeface="Arial" panose="020B0604020202020204" pitchFamily="34" charset="0"/>
              </a:rPr>
              <a:t> Works smoothly on desktop, tablet, and mobile.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4">
            <a:extLst>
              <a:ext uri="{FF2B5EF4-FFF2-40B4-BE49-F238E27FC236}">
                <a16:creationId xmlns:a16="http://schemas.microsoft.com/office/drawing/2014/main" id="{3082C84E-DCBA-44F3-8091-F11DC702423C}"/>
              </a:ext>
            </a:extLst>
          </p:cNvPr>
          <p:cNvSpPr>
            <a:spLocks noGrp="1" noChangeArrowheads="1"/>
          </p:cNvSpPr>
          <p:nvPr>
            <p:ph type="title"/>
          </p:nvPr>
        </p:nvSpPr>
        <p:spPr/>
        <p:txBody>
          <a:bodyPr/>
          <a:lstStyle/>
          <a:p>
            <a:pPr eaLnBrk="1" hangingPunct="1">
              <a:defRPr/>
            </a:pPr>
            <a:r>
              <a:rPr lang="en-GB" dirty="0">
                <a:solidFill>
                  <a:srgbClr val="0000FF"/>
                </a:solidFill>
              </a:rPr>
              <a:t>Architectural</a:t>
            </a:r>
            <a:r>
              <a:rPr lang="en-GB" i="1" dirty="0">
                <a:solidFill>
                  <a:srgbClr val="0000FF"/>
                </a:solidFill>
              </a:rPr>
              <a:t> </a:t>
            </a:r>
            <a:r>
              <a:rPr lang="en-GB" dirty="0">
                <a:solidFill>
                  <a:srgbClr val="0000FF"/>
                </a:solidFill>
              </a:rPr>
              <a:t>Design</a:t>
            </a:r>
            <a:endParaRPr lang="en-US" dirty="0">
              <a:solidFill>
                <a:srgbClr val="0000FF"/>
              </a:solidFill>
            </a:endParaRPr>
          </a:p>
        </p:txBody>
      </p:sp>
      <p:sp>
        <p:nvSpPr>
          <p:cNvPr id="9219" name="Rectangle 10">
            <a:extLst>
              <a:ext uri="{FF2B5EF4-FFF2-40B4-BE49-F238E27FC236}">
                <a16:creationId xmlns:a16="http://schemas.microsoft.com/office/drawing/2014/main" id="{B034EEDE-FFF9-478B-8E3C-430257E1963B}"/>
              </a:ext>
            </a:extLst>
          </p:cNvPr>
          <p:cNvSpPr>
            <a:spLocks noChangeArrowheads="1"/>
          </p:cNvSpPr>
          <p:nvPr/>
        </p:nvSpPr>
        <p:spPr bwMode="auto">
          <a:xfrm>
            <a:off x="1524001" y="120122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PK" altLang="en-PK"/>
          </a:p>
        </p:txBody>
      </p:sp>
      <p:sp>
        <p:nvSpPr>
          <p:cNvPr id="2" name="Rectangle 2">
            <a:extLst>
              <a:ext uri="{FF2B5EF4-FFF2-40B4-BE49-F238E27FC236}">
                <a16:creationId xmlns:a16="http://schemas.microsoft.com/office/drawing/2014/main" id="{C417E9E2-136E-42F0-A608-F1F7DDD4F5BF}"/>
              </a:ext>
            </a:extLst>
          </p:cNvPr>
          <p:cNvSpPr>
            <a:spLocks noChangeArrowheads="1"/>
          </p:cNvSpPr>
          <p:nvPr/>
        </p:nvSpPr>
        <p:spPr bwMode="auto">
          <a:xfrm>
            <a:off x="5050301" y="1066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 name="Object 2">
            <a:extLst>
              <a:ext uri="{FF2B5EF4-FFF2-40B4-BE49-F238E27FC236}">
                <a16:creationId xmlns:a16="http://schemas.microsoft.com/office/drawing/2014/main" id="{038A5B01-2EFD-423C-B90D-F59C369EFCF5}"/>
              </a:ext>
            </a:extLst>
          </p:cNvPr>
          <p:cNvGraphicFramePr>
            <a:graphicFrameLocks noChangeAspect="1"/>
          </p:cNvGraphicFramePr>
          <p:nvPr>
            <p:extLst>
              <p:ext uri="{D42A27DB-BD31-4B8C-83A1-F6EECF244321}">
                <p14:modId xmlns:p14="http://schemas.microsoft.com/office/powerpoint/2010/main" val="1336467707"/>
              </p:ext>
            </p:extLst>
          </p:nvPr>
        </p:nvGraphicFramePr>
        <p:xfrm>
          <a:off x="5050301" y="1066800"/>
          <a:ext cx="5372100" cy="4724400"/>
        </p:xfrm>
        <a:graphic>
          <a:graphicData uri="http://schemas.openxmlformats.org/presentationml/2006/ole">
            <mc:AlternateContent xmlns:mc="http://schemas.openxmlformats.org/markup-compatibility/2006">
              <mc:Choice xmlns:v="urn:schemas-microsoft-com:vml" Requires="v">
                <p:oleObj spid="_x0000_s3111" name="Visio" r:id="rId3" imgW="12144257" imgH="9305857" progId="Visio.Drawing.15">
                  <p:embed/>
                </p:oleObj>
              </mc:Choice>
              <mc:Fallback>
                <p:oleObj name="Visio" r:id="rId3" imgW="12144257" imgH="9305857"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0301" y="1066800"/>
                        <a:ext cx="5372100" cy="472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45E2395F-B67C-4EB8-9FE6-0FB37C57E661}"/>
              </a:ext>
            </a:extLst>
          </p:cNvPr>
          <p:cNvSpPr>
            <a:spLocks noGrp="1" noChangeArrowheads="1"/>
          </p:cNvSpPr>
          <p:nvPr>
            <p:ph type="title"/>
          </p:nvPr>
        </p:nvSpPr>
        <p:spPr/>
        <p:txBody>
          <a:bodyPr/>
          <a:lstStyle/>
          <a:p>
            <a:pPr eaLnBrk="1" hangingPunct="1">
              <a:defRPr/>
            </a:pPr>
            <a:r>
              <a:rPr lang="en-US" dirty="0">
                <a:solidFill>
                  <a:srgbClr val="0000FF"/>
                </a:solidFill>
              </a:rPr>
              <a:t>Team Structure</a:t>
            </a:r>
          </a:p>
        </p:txBody>
      </p:sp>
      <p:sp>
        <p:nvSpPr>
          <p:cNvPr id="3" name="Content Placeholder 2">
            <a:extLst>
              <a:ext uri="{FF2B5EF4-FFF2-40B4-BE49-F238E27FC236}">
                <a16:creationId xmlns:a16="http://schemas.microsoft.com/office/drawing/2014/main" id="{C1CD8E5C-C8D1-479F-BE47-2214C1F66ED2}"/>
              </a:ext>
            </a:extLst>
          </p:cNvPr>
          <p:cNvSpPr>
            <a:spLocks noGrp="1"/>
          </p:cNvSpPr>
          <p:nvPr>
            <p:ph idx="1"/>
          </p:nvPr>
        </p:nvSpPr>
        <p:spPr>
          <a:xfrm>
            <a:off x="2589212" y="2133600"/>
            <a:ext cx="5091748" cy="3777622"/>
          </a:xfrm>
        </p:spPr>
        <p:txBody>
          <a:bodyPr/>
          <a:lstStyle/>
          <a:p>
            <a:r>
              <a:rPr lang="en-US" dirty="0"/>
              <a:t>Supervisor:</a:t>
            </a:r>
          </a:p>
          <a:p>
            <a:pPr lvl="1"/>
            <a:r>
              <a:rPr lang="en-US" dirty="0"/>
              <a:t>Muhammad Saeed Amjad</a:t>
            </a:r>
          </a:p>
          <a:p>
            <a:r>
              <a:rPr lang="en-US" dirty="0"/>
              <a:t>Student:</a:t>
            </a:r>
          </a:p>
          <a:p>
            <a:pPr lvl="1"/>
            <a:r>
              <a:rPr lang="en-US" dirty="0"/>
              <a:t>Ayesha </a:t>
            </a:r>
            <a:r>
              <a:rPr lang="en-US" dirty="0" err="1"/>
              <a:t>Arbi</a:t>
            </a:r>
            <a:endParaRPr lang="en-US" dirty="0"/>
          </a:p>
          <a:p>
            <a:pPr marL="457200" lvl="1" indent="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14D54C86-D886-47D5-AD12-5B7CB4862CC2}"/>
              </a:ext>
            </a:extLst>
          </p:cNvPr>
          <p:cNvSpPr>
            <a:spLocks noGrp="1" noChangeArrowheads="1"/>
          </p:cNvSpPr>
          <p:nvPr>
            <p:ph type="title"/>
          </p:nvPr>
        </p:nvSpPr>
        <p:spPr/>
        <p:txBody>
          <a:bodyPr/>
          <a:lstStyle/>
          <a:p>
            <a:pPr eaLnBrk="1" hangingPunct="1">
              <a:defRPr/>
            </a:pPr>
            <a:r>
              <a:rPr lang="en-US" dirty="0">
                <a:solidFill>
                  <a:srgbClr val="0000FF"/>
                </a:solidFill>
              </a:rPr>
              <a:t>Project Schedule</a:t>
            </a:r>
          </a:p>
        </p:txBody>
      </p:sp>
      <p:sp>
        <p:nvSpPr>
          <p:cNvPr id="11268" name="Rectangle 5">
            <a:extLst>
              <a:ext uri="{FF2B5EF4-FFF2-40B4-BE49-F238E27FC236}">
                <a16:creationId xmlns:a16="http://schemas.microsoft.com/office/drawing/2014/main" id="{6135079A-CE07-43DA-9B8B-7D69914D52F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latin typeface="Arial" panose="020B0604020202020204" pitchFamily="34" charset="0"/>
            </a:endParaRPr>
          </a:p>
        </p:txBody>
      </p:sp>
      <p:pic>
        <p:nvPicPr>
          <p:cNvPr id="4098" name="Picture 2" descr="C:\Users\Usama\AppData\Local\Microsoft\Windows\Clipboard\HistoryData\{4E8DBA18-3522-4EC4-B869-ECBA8701FDEF}\{61714257-75B2-4D22-9D59-97E16276FA58}\ResourceMap\{7775770F-308D-47E5-A861-D9D151EC320E}">
            <a:extLst>
              <a:ext uri="{FF2B5EF4-FFF2-40B4-BE49-F238E27FC236}">
                <a16:creationId xmlns:a16="http://schemas.microsoft.com/office/drawing/2014/main" id="{1F795030-50CB-4607-BA68-CDAF3A5D44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7438" y="1262063"/>
            <a:ext cx="8113344" cy="4702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406058" y="158262"/>
            <a:ext cx="7620001" cy="817447"/>
          </a:xfrm>
        </p:spPr>
        <p:txBody>
          <a:bodyPr>
            <a:normAutofit fontScale="90000"/>
          </a:bodyPr>
          <a:lstStyle/>
          <a:p>
            <a:pPr eaLnBrk="1" hangingPunct="1">
              <a:defRPr/>
            </a:pPr>
            <a:r>
              <a:rPr lang="en-US"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sp>
        <p:nvSpPr>
          <p:cNvPr id="3" name="Rectangle 3">
            <a:extLst>
              <a:ext uri="{FF2B5EF4-FFF2-40B4-BE49-F238E27FC236}">
                <a16:creationId xmlns:a16="http://schemas.microsoft.com/office/drawing/2014/main" id="{52B2141C-2581-4D73-9B90-72A398789DD3}"/>
              </a:ext>
            </a:extLst>
          </p:cNvPr>
          <p:cNvSpPr>
            <a:spLocks noChangeArrowheads="1"/>
          </p:cNvSpPr>
          <p:nvPr/>
        </p:nvSpPr>
        <p:spPr bwMode="auto">
          <a:xfrm>
            <a:off x="2853983" y="49859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K"/>
          </a:p>
        </p:txBody>
      </p:sp>
      <p:pic>
        <p:nvPicPr>
          <p:cNvPr id="7171" name="Picture 3" descr="admin sequence">
            <a:extLst>
              <a:ext uri="{FF2B5EF4-FFF2-40B4-BE49-F238E27FC236}">
                <a16:creationId xmlns:a16="http://schemas.microsoft.com/office/drawing/2014/main" id="{4D6F17BD-ECBB-4606-905B-53739166971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9097"/>
          <a:stretch/>
        </p:blipFill>
        <p:spPr bwMode="auto">
          <a:xfrm>
            <a:off x="6780627" y="147639"/>
            <a:ext cx="4695825" cy="671036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4">
            <a:extLst>
              <a:ext uri="{FF2B5EF4-FFF2-40B4-BE49-F238E27FC236}">
                <a16:creationId xmlns:a16="http://schemas.microsoft.com/office/drawing/2014/main" id="{F43C1608-C02C-4A5A-846E-AE30CB44152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anose="020B0604020202020204" pitchFamily="34" charset="0"/>
                <a:ea typeface="Times New Roman" panose="02020603050405020304" pitchFamily="18" charset="0"/>
              </a:rPr>
              <a:t>Admin:</a:t>
            </a:r>
            <a:endParaRPr kumimoji="0" lang="en-US" altLang="en-US" sz="1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46878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379385" y="34030"/>
            <a:ext cx="7620001" cy="817447"/>
          </a:xfrm>
        </p:spPr>
        <p:txBody>
          <a:bodyPr>
            <a:normAutofit fontScale="90000"/>
          </a:bodyPr>
          <a:lstStyle/>
          <a:p>
            <a:pPr eaLnBrk="1" hangingPunct="1">
              <a:defRPr/>
            </a:pPr>
            <a:r>
              <a:rPr lang="en-US"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pic>
        <p:nvPicPr>
          <p:cNvPr id="5" name="Picture 2" descr="teacher seqence">
            <a:extLst>
              <a:ext uri="{FF2B5EF4-FFF2-40B4-BE49-F238E27FC236}">
                <a16:creationId xmlns:a16="http://schemas.microsoft.com/office/drawing/2014/main" id="{B0F3318E-877E-4270-A71A-F1829BDF856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898"/>
          <a:stretch/>
        </p:blipFill>
        <p:spPr bwMode="auto">
          <a:xfrm>
            <a:off x="7792479" y="126609"/>
            <a:ext cx="3848100" cy="6570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284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421588" y="160639"/>
            <a:ext cx="7620001" cy="817447"/>
          </a:xfrm>
        </p:spPr>
        <p:txBody>
          <a:bodyPr>
            <a:normAutofit fontScale="90000"/>
          </a:bodyPr>
          <a:lstStyle/>
          <a:p>
            <a:pPr eaLnBrk="1" hangingPunct="1">
              <a:defRPr/>
            </a:pPr>
            <a:r>
              <a:rPr lang="en-US"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sp>
        <p:nvSpPr>
          <p:cNvPr id="5" name="Rectangle 6">
            <a:extLst>
              <a:ext uri="{FF2B5EF4-FFF2-40B4-BE49-F238E27FC236}">
                <a16:creationId xmlns:a16="http://schemas.microsoft.com/office/drawing/2014/main" id="{494E2F50-DD68-4701-810C-129ACFC4A298}"/>
              </a:ext>
            </a:extLst>
          </p:cNvPr>
          <p:cNvSpPr>
            <a:spLocks noChangeArrowheads="1"/>
          </p:cNvSpPr>
          <p:nvPr/>
        </p:nvSpPr>
        <p:spPr bwMode="auto">
          <a:xfrm>
            <a:off x="2475471" y="537686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K"/>
          </a:p>
        </p:txBody>
      </p:sp>
      <p:sp>
        <p:nvSpPr>
          <p:cNvPr id="7" name="Rectangle 7">
            <a:extLst>
              <a:ext uri="{FF2B5EF4-FFF2-40B4-BE49-F238E27FC236}">
                <a16:creationId xmlns:a16="http://schemas.microsoft.com/office/drawing/2014/main" id="{A0B2A9C2-347E-4BEE-9B4C-310CCD146384}"/>
              </a:ext>
            </a:extLst>
          </p:cNvPr>
          <p:cNvSpPr>
            <a:spLocks noChangeArrowheads="1"/>
          </p:cNvSpPr>
          <p:nvPr/>
        </p:nvSpPr>
        <p:spPr bwMode="auto">
          <a:xfrm>
            <a:off x="590550" y="92106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6" name="Picture 1" descr="student sequence">
            <a:extLst>
              <a:ext uri="{FF2B5EF4-FFF2-40B4-BE49-F238E27FC236}">
                <a16:creationId xmlns:a16="http://schemas.microsoft.com/office/drawing/2014/main" id="{D5A1151B-6113-4D3E-B6A7-8903E5BCC1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941"/>
          <a:stretch/>
        </p:blipFill>
        <p:spPr bwMode="auto">
          <a:xfrm>
            <a:off x="7244791" y="1"/>
            <a:ext cx="49434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1677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175" name="Rectangle 583">
            <a:extLst>
              <a:ext uri="{FF2B5EF4-FFF2-40B4-BE49-F238E27FC236}">
                <a16:creationId xmlns:a16="http://schemas.microsoft.com/office/drawing/2014/main" id="{880F3050-F6A0-4725-ACE3-FA73F174A4E4}"/>
              </a:ext>
            </a:extLst>
          </p:cNvPr>
          <p:cNvSpPr>
            <a:spLocks noGrp="1" noChangeArrowheads="1"/>
          </p:cNvSpPr>
          <p:nvPr>
            <p:ph type="title"/>
          </p:nvPr>
        </p:nvSpPr>
        <p:spPr>
          <a:xfrm>
            <a:off x="555496" y="-99465"/>
            <a:ext cx="8229600" cy="762000"/>
          </a:xfrm>
        </p:spPr>
        <p:txBody>
          <a:bodyPr/>
          <a:lstStyle/>
          <a:p>
            <a:pPr eaLnBrk="1" hangingPunct="1">
              <a:defRPr/>
            </a:pPr>
            <a:r>
              <a:rPr lang="en-US" dirty="0">
                <a:solidFill>
                  <a:srgbClr val="0000FF"/>
                </a:solidFill>
              </a:rPr>
              <a:t>Class Diagram</a:t>
            </a:r>
          </a:p>
        </p:txBody>
      </p:sp>
      <p:sp>
        <p:nvSpPr>
          <p:cNvPr id="13315" name="Rectangle 585">
            <a:extLst>
              <a:ext uri="{FF2B5EF4-FFF2-40B4-BE49-F238E27FC236}">
                <a16:creationId xmlns:a16="http://schemas.microsoft.com/office/drawing/2014/main" id="{21D1A1D8-43C6-4D9F-8CCC-ED032D0C9089}"/>
              </a:ext>
            </a:extLst>
          </p:cNvPr>
          <p:cNvSpPr>
            <a:spLocks noChangeArrowheads="1"/>
          </p:cNvSpPr>
          <p:nvPr/>
        </p:nvSpPr>
        <p:spPr bwMode="auto">
          <a:xfrm>
            <a:off x="1524001" y="11916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PK" altLang="en-PK"/>
          </a:p>
        </p:txBody>
      </p:sp>
      <p:sp>
        <p:nvSpPr>
          <p:cNvPr id="14" name="Rectangle 4">
            <a:extLst>
              <a:ext uri="{FF2B5EF4-FFF2-40B4-BE49-F238E27FC236}">
                <a16:creationId xmlns:a16="http://schemas.microsoft.com/office/drawing/2014/main" id="{6BE1B781-856B-41D1-9B6C-26B4D77A6B5B}"/>
              </a:ext>
            </a:extLst>
          </p:cNvPr>
          <p:cNvSpPr>
            <a:spLocks noChangeArrowheads="1"/>
          </p:cNvSpPr>
          <p:nvPr/>
        </p:nvSpPr>
        <p:spPr bwMode="auto">
          <a:xfrm>
            <a:off x="6537452" y="3286550"/>
            <a:ext cx="1230172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K"/>
          </a:p>
        </p:txBody>
      </p:sp>
      <p:sp>
        <p:nvSpPr>
          <p:cNvPr id="2" name="Rectangle 72">
            <a:extLst>
              <a:ext uri="{FF2B5EF4-FFF2-40B4-BE49-F238E27FC236}">
                <a16:creationId xmlns:a16="http://schemas.microsoft.com/office/drawing/2014/main" id="{3950D80C-67A8-4EFF-AEA4-193E14FA7E2C}"/>
              </a:ext>
            </a:extLst>
          </p:cNvPr>
          <p:cNvSpPr>
            <a:spLocks noChangeArrowheads="1"/>
          </p:cNvSpPr>
          <p:nvPr/>
        </p:nvSpPr>
        <p:spPr bwMode="auto">
          <a:xfrm>
            <a:off x="153376" y="1677799"/>
            <a:ext cx="19410682"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K"/>
          </a:p>
        </p:txBody>
      </p:sp>
      <p:sp>
        <p:nvSpPr>
          <p:cNvPr id="5" name="Rectangle 5">
            <a:extLst>
              <a:ext uri="{FF2B5EF4-FFF2-40B4-BE49-F238E27FC236}">
                <a16:creationId xmlns:a16="http://schemas.microsoft.com/office/drawing/2014/main" id="{BBAA1D13-FF95-4965-929E-F729EEBB7BE3}"/>
              </a:ext>
            </a:extLst>
          </p:cNvPr>
          <p:cNvSpPr>
            <a:spLocks noChangeArrowheads="1"/>
          </p:cNvSpPr>
          <p:nvPr/>
        </p:nvSpPr>
        <p:spPr bwMode="auto">
          <a:xfrm>
            <a:off x="3416300" y="63243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42900" algn="just" defTabSz="914400" rtl="0" eaLnBrk="0" fontAlgn="base" latinLnBrk="0" hangingPunct="0">
              <a:lnSpc>
                <a:spcPct val="100000"/>
              </a:lnSpc>
              <a:spcBef>
                <a:spcPct val="0"/>
              </a:spcBef>
              <a:spcAft>
                <a:spcPct val="0"/>
              </a:spcAft>
              <a:buClrTx/>
              <a:buSzTx/>
              <a:buFontTx/>
              <a:buNone/>
              <a:tabLst/>
            </a:pPr>
            <a:endParaRPr kumimoji="0" lang="en-US" altLang="en-PK" sz="18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DEF92320-6B3E-4CEB-9A4E-8F05210A1525}"/>
              </a:ext>
            </a:extLst>
          </p:cNvPr>
          <p:cNvSpPr>
            <a:spLocks noChangeArrowheads="1"/>
          </p:cNvSpPr>
          <p:nvPr/>
        </p:nvSpPr>
        <p:spPr bwMode="auto">
          <a:xfrm>
            <a:off x="2569029" y="63243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42900" algn="just" defTabSz="914400" rtl="0" eaLnBrk="0" fontAlgn="base" latinLnBrk="0" hangingPunct="0">
              <a:lnSpc>
                <a:spcPct val="100000"/>
              </a:lnSpc>
              <a:spcBef>
                <a:spcPct val="0"/>
              </a:spcBef>
              <a:spcAft>
                <a:spcPct val="0"/>
              </a:spcAft>
              <a:buClrTx/>
              <a:buSzTx/>
              <a:buFontTx/>
              <a:buNone/>
              <a:tabLst/>
            </a:pPr>
            <a:endParaRPr kumimoji="0" lang="en-US" altLang="en-PK" sz="1800" b="0" i="0" u="none" strike="noStrike" cap="none" normalizeH="0" baseline="0" dirty="0">
              <a:ln>
                <a:noFill/>
              </a:ln>
              <a:solidFill>
                <a:schemeClr val="tx1"/>
              </a:solidFill>
              <a:effectLst/>
              <a:latin typeface="Arial" panose="020B0604020202020204" pitchFamily="34" charset="0"/>
            </a:endParaRPr>
          </a:p>
        </p:txBody>
      </p:sp>
      <p:pic>
        <p:nvPicPr>
          <p:cNvPr id="8194" name="Picture 2" descr="class digarm">
            <a:extLst>
              <a:ext uri="{FF2B5EF4-FFF2-40B4-BE49-F238E27FC236}">
                <a16:creationId xmlns:a16="http://schemas.microsoft.com/office/drawing/2014/main" id="{D8736372-0569-41DC-9712-E2597B1E57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1197" r="26353"/>
          <a:stretch>
            <a:fillRect/>
          </a:stretch>
        </p:blipFill>
        <p:spPr bwMode="auto">
          <a:xfrm>
            <a:off x="5161574" y="66891"/>
            <a:ext cx="6877050" cy="6724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53170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5">
            <a:extLst>
              <a:ext uri="{FF2B5EF4-FFF2-40B4-BE49-F238E27FC236}">
                <a16:creationId xmlns:a16="http://schemas.microsoft.com/office/drawing/2014/main" id="{8D3FFA6B-CE06-488F-89B6-07EB93980461}"/>
              </a:ext>
            </a:extLst>
          </p:cNvPr>
          <p:cNvSpPr>
            <a:spLocks noChangeArrowheads="1"/>
          </p:cNvSpPr>
          <p:nvPr/>
        </p:nvSpPr>
        <p:spPr bwMode="auto">
          <a:xfrm>
            <a:off x="1524001" y="159174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PK" altLang="en-PK"/>
          </a:p>
        </p:txBody>
      </p:sp>
      <p:sp>
        <p:nvSpPr>
          <p:cNvPr id="14339" name="Rectangle 6">
            <a:extLst>
              <a:ext uri="{FF2B5EF4-FFF2-40B4-BE49-F238E27FC236}">
                <a16:creationId xmlns:a16="http://schemas.microsoft.com/office/drawing/2014/main" id="{EE0D7A0C-3E62-4E10-9297-9C68BDA901DB}"/>
              </a:ext>
            </a:extLst>
          </p:cNvPr>
          <p:cNvSpPr>
            <a:spLocks noChangeArrowheads="1"/>
          </p:cNvSpPr>
          <p:nvPr/>
        </p:nvSpPr>
        <p:spPr bwMode="auto">
          <a:xfrm>
            <a:off x="1524001" y="489692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latin typeface="Arial" panose="020B0604020202020204" pitchFamily="34" charset="0"/>
            </a:endParaRPr>
          </a:p>
        </p:txBody>
      </p:sp>
      <p:sp>
        <p:nvSpPr>
          <p:cNvPr id="60424" name="Rectangle 8">
            <a:extLst>
              <a:ext uri="{FF2B5EF4-FFF2-40B4-BE49-F238E27FC236}">
                <a16:creationId xmlns:a16="http://schemas.microsoft.com/office/drawing/2014/main" id="{206DC729-3C83-4E2F-A9F5-A91A3D7A9B1F}"/>
              </a:ext>
            </a:extLst>
          </p:cNvPr>
          <p:cNvSpPr>
            <a:spLocks noGrp="1" noChangeArrowheads="1"/>
          </p:cNvSpPr>
          <p:nvPr>
            <p:ph type="title"/>
          </p:nvPr>
        </p:nvSpPr>
        <p:spPr>
          <a:xfrm>
            <a:off x="1524001" y="-66295"/>
            <a:ext cx="8229600" cy="762000"/>
          </a:xfrm>
        </p:spPr>
        <p:txBody>
          <a:bodyPr/>
          <a:lstStyle/>
          <a:p>
            <a:pPr eaLnBrk="1" hangingPunct="1">
              <a:defRPr/>
            </a:pPr>
            <a:r>
              <a:rPr lang="en-US" dirty="0">
                <a:solidFill>
                  <a:srgbClr val="0000FF"/>
                </a:solidFill>
              </a:rPr>
              <a:t>ERD</a:t>
            </a:r>
          </a:p>
        </p:txBody>
      </p:sp>
      <p:sp>
        <p:nvSpPr>
          <p:cNvPr id="2" name="Rectangle 2">
            <a:extLst>
              <a:ext uri="{FF2B5EF4-FFF2-40B4-BE49-F238E27FC236}">
                <a16:creationId xmlns:a16="http://schemas.microsoft.com/office/drawing/2014/main" id="{CE7701EB-2C95-4438-9775-A190738C4602}"/>
              </a:ext>
            </a:extLst>
          </p:cNvPr>
          <p:cNvSpPr>
            <a:spLocks noChangeArrowheads="1"/>
          </p:cNvSpPr>
          <p:nvPr/>
        </p:nvSpPr>
        <p:spPr bwMode="auto">
          <a:xfrm>
            <a:off x="1796905" y="1961079"/>
            <a:ext cx="1818884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K"/>
          </a:p>
        </p:txBody>
      </p:sp>
      <p:pic>
        <p:nvPicPr>
          <p:cNvPr id="9218" name="Picture 2" descr="erd 1">
            <a:extLst>
              <a:ext uri="{FF2B5EF4-FFF2-40B4-BE49-F238E27FC236}">
                <a16:creationId xmlns:a16="http://schemas.microsoft.com/office/drawing/2014/main" id="{E89130E5-250B-48BE-BD76-3BA80F3FE9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7886" y="98475"/>
            <a:ext cx="6686550" cy="6759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Rectangle 5">
            <a:extLst>
              <a:ext uri="{FF2B5EF4-FFF2-40B4-BE49-F238E27FC236}">
                <a16:creationId xmlns:a16="http://schemas.microsoft.com/office/drawing/2014/main" id="{EC71CDB6-E057-46BF-8124-811F98C95792}"/>
              </a:ext>
            </a:extLst>
          </p:cNvPr>
          <p:cNvSpPr>
            <a:spLocks noGrp="1" noChangeArrowheads="1"/>
          </p:cNvSpPr>
          <p:nvPr>
            <p:ph type="ctrTitle"/>
          </p:nvPr>
        </p:nvSpPr>
        <p:spPr>
          <a:xfrm>
            <a:off x="1079500" y="88900"/>
            <a:ext cx="3721100" cy="838200"/>
          </a:xfrm>
        </p:spPr>
        <p:txBody>
          <a:bodyPr>
            <a:normAutofit/>
          </a:bodyPr>
          <a:lstStyle/>
          <a:p>
            <a:pPr eaLnBrk="1" hangingPunct="1">
              <a:defRPr/>
            </a:pPr>
            <a:r>
              <a:rPr lang="en-US" sz="3600" dirty="0">
                <a:solidFill>
                  <a:srgbClr val="0000FF"/>
                </a:solidFill>
              </a:rPr>
              <a:t>Database Diagram</a:t>
            </a:r>
          </a:p>
        </p:txBody>
      </p:sp>
      <p:sp>
        <p:nvSpPr>
          <p:cNvPr id="2" name="Rectangle 2">
            <a:extLst>
              <a:ext uri="{FF2B5EF4-FFF2-40B4-BE49-F238E27FC236}">
                <a16:creationId xmlns:a16="http://schemas.microsoft.com/office/drawing/2014/main" id="{80F5E015-B630-4DD0-93AC-1FA4D3DA2C44}"/>
              </a:ext>
            </a:extLst>
          </p:cNvPr>
          <p:cNvSpPr>
            <a:spLocks noChangeArrowheads="1"/>
          </p:cNvSpPr>
          <p:nvPr/>
        </p:nvSpPr>
        <p:spPr bwMode="auto">
          <a:xfrm>
            <a:off x="4965700" y="-1651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K"/>
          </a:p>
        </p:txBody>
      </p:sp>
      <p:pic>
        <p:nvPicPr>
          <p:cNvPr id="10242" name="Picture 2" descr="db">
            <a:extLst>
              <a:ext uri="{FF2B5EF4-FFF2-40B4-BE49-F238E27FC236}">
                <a16:creationId xmlns:a16="http://schemas.microsoft.com/office/drawing/2014/main" id="{9689A46F-250A-43CA-B1BA-A1B1F8797F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9994" y="927099"/>
            <a:ext cx="7571243" cy="5670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DE2CEE6C-8941-44D3-AF95-5672BBD9EADE}"/>
              </a:ext>
            </a:extLst>
          </p:cNvPr>
          <p:cNvSpPr>
            <a:spLocks noGrp="1" noChangeArrowheads="1"/>
          </p:cNvSpPr>
          <p:nvPr>
            <p:ph type="ctrTitle"/>
          </p:nvPr>
        </p:nvSpPr>
        <p:spPr>
          <a:xfrm>
            <a:off x="2133600" y="457200"/>
            <a:ext cx="7772400" cy="838200"/>
          </a:xfrm>
        </p:spPr>
        <p:txBody>
          <a:bodyPr>
            <a:normAutofit/>
          </a:bodyPr>
          <a:lstStyle/>
          <a:p>
            <a:pPr eaLnBrk="1" hangingPunct="1">
              <a:defRPr/>
            </a:pPr>
            <a:r>
              <a:rPr lang="en-US" sz="3600" dirty="0">
                <a:solidFill>
                  <a:srgbClr val="0000FF"/>
                </a:solidFill>
              </a:rPr>
              <a:t>User Interfaces</a:t>
            </a:r>
          </a:p>
        </p:txBody>
      </p:sp>
      <p:pic>
        <p:nvPicPr>
          <p:cNvPr id="6145" name="Picture 1">
            <a:extLst>
              <a:ext uri="{FF2B5EF4-FFF2-40B4-BE49-F238E27FC236}">
                <a16:creationId xmlns:a16="http://schemas.microsoft.com/office/drawing/2014/main" id="{6B240320-AC95-48A8-82DD-88E030A6AC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9810" y="15354300"/>
            <a:ext cx="5372100" cy="2447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5">
            <a:extLst>
              <a:ext uri="{FF2B5EF4-FFF2-40B4-BE49-F238E27FC236}">
                <a16:creationId xmlns:a16="http://schemas.microsoft.com/office/drawing/2014/main" id="{E1E490D9-5DFF-48A7-96D3-3641AA82B686}"/>
              </a:ext>
            </a:extLst>
          </p:cNvPr>
          <p:cNvSpPr>
            <a:spLocks noChangeArrowheads="1"/>
          </p:cNvSpPr>
          <p:nvPr/>
        </p:nvSpPr>
        <p:spPr bwMode="auto">
          <a:xfrm>
            <a:off x="2869810" y="1295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6">
            <a:extLst>
              <a:ext uri="{FF2B5EF4-FFF2-40B4-BE49-F238E27FC236}">
                <a16:creationId xmlns:a16="http://schemas.microsoft.com/office/drawing/2014/main" id="{EC2BBCB2-8D40-4506-AB8D-AF96BD904967}"/>
              </a:ext>
            </a:extLst>
          </p:cNvPr>
          <p:cNvSpPr>
            <a:spLocks noChangeArrowheads="1"/>
          </p:cNvSpPr>
          <p:nvPr/>
        </p:nvSpPr>
        <p:spPr bwMode="auto">
          <a:xfrm>
            <a:off x="2869810" y="4495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7">
            <a:extLst>
              <a:ext uri="{FF2B5EF4-FFF2-40B4-BE49-F238E27FC236}">
                <a16:creationId xmlns:a16="http://schemas.microsoft.com/office/drawing/2014/main" id="{C7C61CC1-180C-45A7-B8AA-E270741C14E5}"/>
              </a:ext>
            </a:extLst>
          </p:cNvPr>
          <p:cNvSpPr>
            <a:spLocks noChangeArrowheads="1"/>
          </p:cNvSpPr>
          <p:nvPr/>
        </p:nvSpPr>
        <p:spPr bwMode="auto">
          <a:xfrm>
            <a:off x="2869810" y="85915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8">
            <a:extLst>
              <a:ext uri="{FF2B5EF4-FFF2-40B4-BE49-F238E27FC236}">
                <a16:creationId xmlns:a16="http://schemas.microsoft.com/office/drawing/2014/main" id="{E81C13AF-968E-42C3-BF1D-065002B1D611}"/>
              </a:ext>
            </a:extLst>
          </p:cNvPr>
          <p:cNvSpPr>
            <a:spLocks noChangeArrowheads="1"/>
          </p:cNvSpPr>
          <p:nvPr/>
        </p:nvSpPr>
        <p:spPr bwMode="auto">
          <a:xfrm>
            <a:off x="2869810" y="148971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9">
            <a:extLst>
              <a:ext uri="{FF2B5EF4-FFF2-40B4-BE49-F238E27FC236}">
                <a16:creationId xmlns:a16="http://schemas.microsoft.com/office/drawing/2014/main" id="{D7C6E495-58AF-409F-9054-C76699CF5C24}"/>
              </a:ext>
            </a:extLst>
          </p:cNvPr>
          <p:cNvSpPr>
            <a:spLocks noChangeArrowheads="1"/>
          </p:cNvSpPr>
          <p:nvPr/>
        </p:nvSpPr>
        <p:spPr bwMode="auto">
          <a:xfrm>
            <a:off x="2869810" y="178022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1" i="0" u="sng" strike="noStrike" cap="none" normalizeH="0" baseline="0">
                <a:ln>
                  <a:noFill/>
                </a:ln>
                <a:solidFill>
                  <a:schemeClr val="tx1"/>
                </a:solidFill>
                <a:effectLst/>
                <a:latin typeface="Arial" panose="020B0604020202020204" pitchFamily="34" charset="0"/>
                <a:ea typeface="Times New Roman" panose="02020603050405020304" pitchFamily="18" charset="0"/>
              </a:rPr>
            </a:br>
            <a:endParaRPr kumimoji="0" lang="en-US" altLang="en-US" sz="1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0B400A36-1D98-4A09-8002-77152DCAD8F6}"/>
              </a:ext>
            </a:extLst>
          </p:cNvPr>
          <p:cNvPicPr>
            <a:picLocks noChangeAspect="1"/>
          </p:cNvPicPr>
          <p:nvPr/>
        </p:nvPicPr>
        <p:blipFill>
          <a:blip r:embed="rId3"/>
          <a:stretch>
            <a:fillRect/>
          </a:stretch>
        </p:blipFill>
        <p:spPr>
          <a:xfrm>
            <a:off x="5174272" y="962025"/>
            <a:ext cx="5219700" cy="51816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DE2CEE6C-8941-44D3-AF95-5672BBD9EADE}"/>
              </a:ext>
            </a:extLst>
          </p:cNvPr>
          <p:cNvSpPr>
            <a:spLocks noGrp="1" noChangeArrowheads="1"/>
          </p:cNvSpPr>
          <p:nvPr>
            <p:ph type="ctrTitle"/>
          </p:nvPr>
        </p:nvSpPr>
        <p:spPr>
          <a:xfrm>
            <a:off x="2133600" y="457200"/>
            <a:ext cx="7772400" cy="838200"/>
          </a:xfrm>
        </p:spPr>
        <p:txBody>
          <a:bodyPr>
            <a:normAutofit/>
          </a:bodyPr>
          <a:lstStyle/>
          <a:p>
            <a:pPr eaLnBrk="1" hangingPunct="1">
              <a:defRPr/>
            </a:pPr>
            <a:r>
              <a:rPr lang="en-US" sz="3600" dirty="0">
                <a:solidFill>
                  <a:srgbClr val="0000FF"/>
                </a:solidFill>
              </a:rPr>
              <a:t>User Interfaces</a:t>
            </a:r>
          </a:p>
        </p:txBody>
      </p:sp>
      <p:pic>
        <p:nvPicPr>
          <p:cNvPr id="2" name="Picture 1">
            <a:extLst>
              <a:ext uri="{FF2B5EF4-FFF2-40B4-BE49-F238E27FC236}">
                <a16:creationId xmlns:a16="http://schemas.microsoft.com/office/drawing/2014/main" id="{663E51EE-56C0-45F7-90ED-8D282B0C1626}"/>
              </a:ext>
            </a:extLst>
          </p:cNvPr>
          <p:cNvPicPr>
            <a:picLocks noChangeAspect="1"/>
          </p:cNvPicPr>
          <p:nvPr/>
        </p:nvPicPr>
        <p:blipFill>
          <a:blip r:embed="rId2"/>
          <a:stretch>
            <a:fillRect/>
          </a:stretch>
        </p:blipFill>
        <p:spPr>
          <a:xfrm>
            <a:off x="3524250" y="1428750"/>
            <a:ext cx="5143500" cy="4000500"/>
          </a:xfrm>
          <a:prstGeom prst="rect">
            <a:avLst/>
          </a:prstGeom>
        </p:spPr>
      </p:pic>
    </p:spTree>
    <p:extLst>
      <p:ext uri="{BB962C8B-B14F-4D97-AF65-F5344CB8AC3E}">
        <p14:creationId xmlns:p14="http://schemas.microsoft.com/office/powerpoint/2010/main" val="10531155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DE2CEE6C-8941-44D3-AF95-5672BBD9EADE}"/>
              </a:ext>
            </a:extLst>
          </p:cNvPr>
          <p:cNvSpPr>
            <a:spLocks noGrp="1" noChangeArrowheads="1"/>
          </p:cNvSpPr>
          <p:nvPr>
            <p:ph type="ctrTitle"/>
          </p:nvPr>
        </p:nvSpPr>
        <p:spPr>
          <a:xfrm>
            <a:off x="1992923" y="0"/>
            <a:ext cx="7772400" cy="838200"/>
          </a:xfrm>
        </p:spPr>
        <p:txBody>
          <a:bodyPr>
            <a:normAutofit/>
          </a:bodyPr>
          <a:lstStyle/>
          <a:p>
            <a:pPr eaLnBrk="1" hangingPunct="1">
              <a:defRPr/>
            </a:pPr>
            <a:r>
              <a:rPr lang="en-US" sz="3600" dirty="0">
                <a:solidFill>
                  <a:srgbClr val="0000FF"/>
                </a:solidFill>
              </a:rPr>
              <a:t>User Interfaces</a:t>
            </a:r>
          </a:p>
        </p:txBody>
      </p:sp>
      <p:pic>
        <p:nvPicPr>
          <p:cNvPr id="2" name="Picture 1">
            <a:extLst>
              <a:ext uri="{FF2B5EF4-FFF2-40B4-BE49-F238E27FC236}">
                <a16:creationId xmlns:a16="http://schemas.microsoft.com/office/drawing/2014/main" id="{091B6325-BA60-4F8E-BC5E-A02BC9F58FA3}"/>
              </a:ext>
            </a:extLst>
          </p:cNvPr>
          <p:cNvPicPr>
            <a:picLocks noChangeAspect="1"/>
          </p:cNvPicPr>
          <p:nvPr/>
        </p:nvPicPr>
        <p:blipFill>
          <a:blip r:embed="rId2"/>
          <a:stretch>
            <a:fillRect/>
          </a:stretch>
        </p:blipFill>
        <p:spPr>
          <a:xfrm>
            <a:off x="815925" y="1005877"/>
            <a:ext cx="11141613" cy="5310517"/>
          </a:xfrm>
          <a:prstGeom prst="rect">
            <a:avLst/>
          </a:prstGeom>
        </p:spPr>
      </p:pic>
    </p:spTree>
    <p:extLst>
      <p:ext uri="{BB962C8B-B14F-4D97-AF65-F5344CB8AC3E}">
        <p14:creationId xmlns:p14="http://schemas.microsoft.com/office/powerpoint/2010/main" val="2643771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DE2CEE6C-8941-44D3-AF95-5672BBD9EADE}"/>
              </a:ext>
            </a:extLst>
          </p:cNvPr>
          <p:cNvSpPr>
            <a:spLocks noGrp="1" noChangeArrowheads="1"/>
          </p:cNvSpPr>
          <p:nvPr>
            <p:ph type="ctrTitle"/>
          </p:nvPr>
        </p:nvSpPr>
        <p:spPr>
          <a:xfrm>
            <a:off x="2133600" y="457200"/>
            <a:ext cx="7772400" cy="838200"/>
          </a:xfrm>
        </p:spPr>
        <p:txBody>
          <a:bodyPr>
            <a:normAutofit/>
          </a:bodyPr>
          <a:lstStyle/>
          <a:p>
            <a:pPr eaLnBrk="1" hangingPunct="1">
              <a:defRPr/>
            </a:pPr>
            <a:r>
              <a:rPr lang="en-US" sz="3600" dirty="0">
                <a:solidFill>
                  <a:srgbClr val="0000FF"/>
                </a:solidFill>
              </a:rPr>
              <a:t>User Interfaces</a:t>
            </a:r>
          </a:p>
        </p:txBody>
      </p:sp>
      <p:pic>
        <p:nvPicPr>
          <p:cNvPr id="3" name="Picture 2">
            <a:extLst>
              <a:ext uri="{FF2B5EF4-FFF2-40B4-BE49-F238E27FC236}">
                <a16:creationId xmlns:a16="http://schemas.microsoft.com/office/drawing/2014/main" id="{598FDB54-7AF2-4F74-A86F-454D2B2C536F}"/>
              </a:ext>
            </a:extLst>
          </p:cNvPr>
          <p:cNvPicPr>
            <a:picLocks noChangeAspect="1"/>
          </p:cNvPicPr>
          <p:nvPr/>
        </p:nvPicPr>
        <p:blipFill>
          <a:blip r:embed="rId2"/>
          <a:stretch>
            <a:fillRect/>
          </a:stretch>
        </p:blipFill>
        <p:spPr>
          <a:xfrm>
            <a:off x="478302" y="1936469"/>
            <a:ext cx="11451101" cy="3606202"/>
          </a:xfrm>
          <a:prstGeom prst="rect">
            <a:avLst/>
          </a:prstGeom>
        </p:spPr>
      </p:pic>
    </p:spTree>
    <p:extLst>
      <p:ext uri="{BB962C8B-B14F-4D97-AF65-F5344CB8AC3E}">
        <p14:creationId xmlns:p14="http://schemas.microsoft.com/office/powerpoint/2010/main" val="12027331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5F2B52D0-83BF-4D2A-A3BC-E64CD0B5DB6D}"/>
              </a:ext>
            </a:extLst>
          </p:cNvPr>
          <p:cNvSpPr>
            <a:spLocks noGrp="1" noChangeArrowheads="1"/>
          </p:cNvSpPr>
          <p:nvPr>
            <p:ph type="title"/>
          </p:nvPr>
        </p:nvSpPr>
        <p:spPr>
          <a:xfrm>
            <a:off x="2592198" y="1166070"/>
            <a:ext cx="8560076" cy="1108046"/>
          </a:xfrm>
        </p:spPr>
        <p:txBody>
          <a:bodyPr/>
          <a:lstStyle/>
          <a:p>
            <a:pPr eaLnBrk="1" hangingPunct="1">
              <a:defRPr/>
            </a:pPr>
            <a:r>
              <a:rPr lang="en-US" dirty="0">
                <a:solidFill>
                  <a:srgbClr val="0000FF"/>
                </a:solidFill>
              </a:rPr>
              <a:t>Tools</a:t>
            </a:r>
          </a:p>
        </p:txBody>
      </p:sp>
      <p:sp>
        <p:nvSpPr>
          <p:cNvPr id="65539" name="Rectangle 3">
            <a:extLst>
              <a:ext uri="{FF2B5EF4-FFF2-40B4-BE49-F238E27FC236}">
                <a16:creationId xmlns:a16="http://schemas.microsoft.com/office/drawing/2014/main" id="{53521641-1D21-4C4D-9E1C-AEC0FC0006BC}"/>
              </a:ext>
            </a:extLst>
          </p:cNvPr>
          <p:cNvSpPr>
            <a:spLocks noGrp="1" noChangeArrowheads="1"/>
          </p:cNvSpPr>
          <p:nvPr>
            <p:ph idx="1"/>
          </p:nvPr>
        </p:nvSpPr>
        <p:spPr>
          <a:xfrm>
            <a:off x="2181138" y="2188128"/>
            <a:ext cx="8751116" cy="2481743"/>
          </a:xfrm>
        </p:spPr>
        <p:txBody>
          <a:bodyPr>
            <a:normAutofit/>
          </a:bodyPr>
          <a:lstStyle/>
          <a:p>
            <a:pPr eaLnBrk="1" hangingPunct="1">
              <a:defRPr/>
            </a:pPr>
            <a:endParaRPr lang="en-US" dirty="0"/>
          </a:p>
          <a:p>
            <a:pPr eaLnBrk="1" hangingPunct="1">
              <a:defRPr/>
            </a:pPr>
            <a:r>
              <a:rPr lang="en-US" b="1" dirty="0"/>
              <a:t>Languages: </a:t>
            </a:r>
            <a:r>
              <a:rPr lang="en-US" dirty="0"/>
              <a:t>HTML, CSS, PHP</a:t>
            </a:r>
          </a:p>
          <a:p>
            <a:pPr eaLnBrk="1" hangingPunct="1">
              <a:defRPr/>
            </a:pPr>
            <a:r>
              <a:rPr lang="en-US" b="1" dirty="0"/>
              <a:t>Database Tool: </a:t>
            </a:r>
            <a:r>
              <a:rPr lang="en-US" dirty="0" err="1"/>
              <a:t>MySql</a:t>
            </a:r>
            <a:endParaRPr lang="en-US" dirty="0"/>
          </a:p>
          <a:p>
            <a:pPr eaLnBrk="1" hangingPunct="1">
              <a:defRPr/>
            </a:pPr>
            <a:r>
              <a:rPr lang="en-US" b="1" dirty="0"/>
              <a:t>Other Tools: </a:t>
            </a:r>
            <a:r>
              <a:rPr lang="en-US" dirty="0"/>
              <a:t>Microsoft Office (Word, Visio, PowerPoint, MS Project) + VS Code</a:t>
            </a:r>
          </a:p>
          <a:p>
            <a:pPr eaLnBrk="1" hangingPunct="1">
              <a:defRPr/>
            </a:pPr>
            <a:endParaRPr lang="en-US" dirty="0"/>
          </a:p>
          <a:p>
            <a:pPr marL="0" indent="0" eaLnBrk="1" hangingPunct="1">
              <a:buNone/>
              <a:defRPr/>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5F2B52D0-83BF-4D2A-A3BC-E64CD0B5DB6D}"/>
              </a:ext>
            </a:extLst>
          </p:cNvPr>
          <p:cNvSpPr>
            <a:spLocks noGrp="1" noChangeArrowheads="1"/>
          </p:cNvSpPr>
          <p:nvPr>
            <p:ph type="title"/>
          </p:nvPr>
        </p:nvSpPr>
        <p:spPr>
          <a:xfrm>
            <a:off x="3859662" y="1577129"/>
            <a:ext cx="4932000" cy="3322041"/>
          </a:xfrm>
        </p:spPr>
        <p:txBody>
          <a:bodyPr>
            <a:normAutofit/>
          </a:bodyPr>
          <a:lstStyle/>
          <a:p>
            <a:pPr eaLnBrk="1" hangingPunct="1">
              <a:defRPr/>
            </a:pPr>
            <a:r>
              <a:rPr lang="en-US" sz="8800" dirty="0"/>
              <a:t>THANKS</a:t>
            </a:r>
          </a:p>
        </p:txBody>
      </p:sp>
      <p:sp>
        <p:nvSpPr>
          <p:cNvPr id="65539" name="Rectangle 3">
            <a:extLst>
              <a:ext uri="{FF2B5EF4-FFF2-40B4-BE49-F238E27FC236}">
                <a16:creationId xmlns:a16="http://schemas.microsoft.com/office/drawing/2014/main" id="{53521641-1D21-4C4D-9E1C-AEC0FC0006BC}"/>
              </a:ext>
            </a:extLst>
          </p:cNvPr>
          <p:cNvSpPr>
            <a:spLocks noGrp="1" noChangeArrowheads="1"/>
          </p:cNvSpPr>
          <p:nvPr>
            <p:ph idx="1"/>
          </p:nvPr>
        </p:nvSpPr>
        <p:spPr>
          <a:xfrm>
            <a:off x="2181138" y="2188128"/>
            <a:ext cx="8751116" cy="2481743"/>
          </a:xfrm>
        </p:spPr>
        <p:txBody>
          <a:bodyPr>
            <a:normAutofit/>
          </a:bodyPr>
          <a:lstStyle/>
          <a:p>
            <a:pPr eaLnBrk="1" hangingPunct="1">
              <a:defRPr/>
            </a:pPr>
            <a:endParaRPr lang="en-US" dirty="0"/>
          </a:p>
          <a:p>
            <a:pPr marL="0" indent="0" eaLnBrk="1" hangingPunct="1">
              <a:buNone/>
              <a:defRPr/>
            </a:pPr>
            <a:endParaRPr lang="en-US" dirty="0"/>
          </a:p>
        </p:txBody>
      </p:sp>
    </p:spTree>
    <p:extLst>
      <p:ext uri="{BB962C8B-B14F-4D97-AF65-F5344CB8AC3E}">
        <p14:creationId xmlns:p14="http://schemas.microsoft.com/office/powerpoint/2010/main" val="233727955"/>
      </p:ext>
    </p:extLst>
  </p:cSld>
  <p:clrMapOvr>
    <a:masterClrMapping/>
  </p:clrMapOvr>
</p:sld>
</file>

<file path=ppt/theme/theme1.xml><?xml version="1.0" encoding="utf-8"?>
<a:theme xmlns:a="http://schemas.openxmlformats.org/drawingml/2006/main" name="Wisp">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266</TotalTime>
  <Words>316</Words>
  <Application>Microsoft Office PowerPoint</Application>
  <PresentationFormat>Widescreen</PresentationFormat>
  <Paragraphs>51</Paragraphs>
  <Slides>23</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0" baseType="lpstr">
      <vt:lpstr>Arial</vt:lpstr>
      <vt:lpstr>Tahoma</vt:lpstr>
      <vt:lpstr>Times New Roman</vt:lpstr>
      <vt:lpstr>Wingdings</vt:lpstr>
      <vt:lpstr>Wingdings 3</vt:lpstr>
      <vt:lpstr>Wisp</vt:lpstr>
      <vt:lpstr>Visio</vt:lpstr>
      <vt:lpstr>PowerPoint Presentation</vt:lpstr>
      <vt:lpstr>Project</vt:lpstr>
      <vt:lpstr>Research Submission and Evaluation System for University</vt:lpstr>
      <vt:lpstr>Group Members Introduction</vt:lpstr>
      <vt:lpstr>INTRODUCTION OF PROJECT</vt:lpstr>
      <vt:lpstr>PowerPoint Presentation</vt:lpstr>
      <vt:lpstr>Use Case Diagram</vt:lpstr>
      <vt:lpstr>Functional Requirements</vt:lpstr>
      <vt:lpstr>Architectural Design</vt:lpstr>
      <vt:lpstr>Team Structure</vt:lpstr>
      <vt:lpstr>Project Schedule</vt:lpstr>
      <vt:lpstr>Sequence Diagrams</vt:lpstr>
      <vt:lpstr>Sequence Diagrams</vt:lpstr>
      <vt:lpstr>Sequence Diagrams</vt:lpstr>
      <vt:lpstr>Class Diagram</vt:lpstr>
      <vt:lpstr>ERD</vt:lpstr>
      <vt:lpstr>Database Diagram</vt:lpstr>
      <vt:lpstr>User Interfaces</vt:lpstr>
      <vt:lpstr>User Interfaces</vt:lpstr>
      <vt:lpstr>User Interfaces</vt:lpstr>
      <vt:lpstr>User Interfaces</vt:lpstr>
      <vt:lpstr>Tools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Nimra Shafaqat</dc:creator>
  <cp:lastModifiedBy>Usama</cp:lastModifiedBy>
  <cp:revision>221</cp:revision>
  <dcterms:created xsi:type="dcterms:W3CDTF">2024-05-09T09:05:37Z</dcterms:created>
  <dcterms:modified xsi:type="dcterms:W3CDTF">2025-11-22T18:17:21Z</dcterms:modified>
</cp:coreProperties>
</file>