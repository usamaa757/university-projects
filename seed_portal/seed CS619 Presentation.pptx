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805" r:id="rId1"/>
  </p:sldMasterIdLst>
  <p:sldIdLst>
    <p:sldId id="336" r:id="rId2"/>
    <p:sldId id="256" r:id="rId3"/>
    <p:sldId id="337" r:id="rId4"/>
    <p:sldId id="338" r:id="rId5"/>
    <p:sldId id="346" r:id="rId6"/>
    <p:sldId id="341" r:id="rId7"/>
    <p:sldId id="260" r:id="rId8"/>
    <p:sldId id="262" r:id="rId9"/>
    <p:sldId id="273" r:id="rId10"/>
    <p:sldId id="344" r:id="rId11"/>
    <p:sldId id="278" r:id="rId12"/>
    <p:sldId id="376" r:id="rId13"/>
    <p:sldId id="377" r:id="rId14"/>
    <p:sldId id="378" r:id="rId15"/>
    <p:sldId id="403" r:id="rId16"/>
    <p:sldId id="285" r:id="rId17"/>
    <p:sldId id="286" r:id="rId18"/>
    <p:sldId id="345" r:id="rId19"/>
    <p:sldId id="368" r:id="rId20"/>
    <p:sldId id="405" r:id="rId21"/>
    <p:sldId id="290" r:id="rId22"/>
    <p:sldId id="36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11/23/2025</a:t>
            </a:fld>
            <a:endParaRPr lang="en-PK"/>
          </a:p>
        </p:txBody>
      </p:sp>
      <p:sp>
        <p:nvSpPr>
          <p:cNvPr id="5" name="Footer Placeholder 4"/>
          <p:cNvSpPr>
            <a:spLocks noGrp="1"/>
          </p:cNvSpPr>
          <p:nvPr>
            <p:ph type="ftr" sz="quarter" idx="11"/>
          </p:nvPr>
        </p:nvSpPr>
        <p:spPr/>
        <p:txBody>
          <a:bodyPr/>
          <a:lstStyle/>
          <a:p>
            <a:endParaRPr lang="en-PK"/>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456306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11/23/2025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05024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11/23/2025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97453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C87A38-B940-40B9-9CBB-EFD0F33F588B}" type="datetimeFigureOut">
              <a:rPr lang="en-PK" smtClean="0"/>
              <a:t>11/23/2025</a:t>
            </a:fld>
            <a:endParaRPr lang="en-PK"/>
          </a:p>
        </p:txBody>
      </p:sp>
      <p:sp>
        <p:nvSpPr>
          <p:cNvPr id="6" name="Footer Placeholder 5"/>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08935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C87A38-B940-40B9-9CBB-EFD0F33F588B}" type="datetimeFigureOut">
              <a:rPr lang="en-PK" smtClean="0"/>
              <a:t>11/23/2025</a:t>
            </a:fld>
            <a:endParaRPr lang="en-PK"/>
          </a:p>
        </p:txBody>
      </p:sp>
      <p:sp>
        <p:nvSpPr>
          <p:cNvPr id="8" name="Footer Placeholder 7"/>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266911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C87A38-B940-40B9-9CBB-EFD0F33F588B}" type="datetimeFigureOut">
              <a:rPr lang="en-PK" smtClean="0"/>
              <a:t>11/23/2025</a:t>
            </a:fld>
            <a:endParaRPr lang="en-PK"/>
          </a:p>
        </p:txBody>
      </p:sp>
      <p:sp>
        <p:nvSpPr>
          <p:cNvPr id="4" name="Footer Placeholder 3"/>
          <p:cNvSpPr>
            <a:spLocks noGrp="1"/>
          </p:cNvSpPr>
          <p:nvPr>
            <p:ph type="ftr" sz="quarter" idx="11"/>
          </p:nvPr>
        </p:nvSpPr>
        <p:spPr/>
        <p:txBody>
          <a:bodyPr/>
          <a:lstStyle/>
          <a:p>
            <a:endParaRPr lang="en-PK"/>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85201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C87A38-B940-40B9-9CBB-EFD0F33F588B}" type="datetimeFigureOut">
              <a:rPr lang="en-PK" smtClean="0"/>
              <a:t>11/23/2025</a:t>
            </a:fld>
            <a:endParaRPr lang="en-PK"/>
          </a:p>
        </p:txBody>
      </p:sp>
      <p:sp>
        <p:nvSpPr>
          <p:cNvPr id="3" name="Footer Placeholder 2"/>
          <p:cNvSpPr>
            <a:spLocks noGrp="1"/>
          </p:cNvSpPr>
          <p:nvPr>
            <p:ph type="ftr" sz="quarter" idx="11"/>
          </p:nvPr>
        </p:nvSpPr>
        <p:spPr/>
        <p:txBody>
          <a:bodyPr/>
          <a:lstStyle/>
          <a:p>
            <a:endParaRPr lang="en-PK"/>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532135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11/23/2025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17246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11/23/2025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162943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11/23/2025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73632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11/23/2025</a:t>
            </a:fld>
            <a:endParaRPr lang="en-PK"/>
          </a:p>
        </p:txBody>
      </p:sp>
      <p:sp>
        <p:nvSpPr>
          <p:cNvPr id="5" name="Footer Placeholder 4"/>
          <p:cNvSpPr>
            <a:spLocks noGrp="1"/>
          </p:cNvSpPr>
          <p:nvPr>
            <p:ph type="ftr" sz="quarter" idx="11"/>
          </p:nvPr>
        </p:nvSpPr>
        <p:spPr/>
        <p:txBody>
          <a:bodyPr/>
          <a:lstStyle/>
          <a:p>
            <a:endParaRPr lang="en-PK"/>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6487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11/23/2025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148220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11/23/2025</a:t>
            </a:fld>
            <a:endParaRPr lang="en-PK"/>
          </a:p>
        </p:txBody>
      </p:sp>
      <p:sp>
        <p:nvSpPr>
          <p:cNvPr id="6" name="Footer Placeholder 5"/>
          <p:cNvSpPr>
            <a:spLocks noGrp="1"/>
          </p:cNvSpPr>
          <p:nvPr>
            <p:ph type="ftr" sz="quarter" idx="11"/>
          </p:nvPr>
        </p:nvSpPr>
        <p:spPr/>
        <p:txBody>
          <a:bodyPr/>
          <a:lstStyle/>
          <a:p>
            <a:endParaRPr lang="en-PK"/>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789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11/23/2025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58046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11/23/2025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70877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11/23/2025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54524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3C87A38-B940-40B9-9CBB-EFD0F33F588B}" type="datetimeFigureOut">
              <a:rPr lang="en-PK" smtClean="0"/>
              <a:t>11/23/2025</a:t>
            </a:fld>
            <a:endParaRPr lang="en-PK"/>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PK"/>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9E98913-74CA-43B1-9369-69902D5C23D8}" type="slidenum">
              <a:rPr lang="en-PK" smtClean="0"/>
              <a:t>‹#›</a:t>
            </a:fld>
            <a:endParaRPr lang="en-PK"/>
          </a:p>
        </p:txBody>
      </p:sp>
    </p:spTree>
    <p:extLst>
      <p:ext uri="{BB962C8B-B14F-4D97-AF65-F5344CB8AC3E}">
        <p14:creationId xmlns:p14="http://schemas.microsoft.com/office/powerpoint/2010/main" val="176423234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t3">
            <a:extLst>
              <a:ext uri="{FF2B5EF4-FFF2-40B4-BE49-F238E27FC236}">
                <a16:creationId xmlns:a16="http://schemas.microsoft.com/office/drawing/2014/main" id="{8619FF7B-B84C-45A0-BC6E-3F96480C8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6246" y="125834"/>
            <a:ext cx="8704976" cy="5935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EEEB-AAF2-4637-8557-FEAE1AF6FBFB}"/>
              </a:ext>
            </a:extLst>
          </p:cNvPr>
          <p:cNvSpPr>
            <a:spLocks noGrp="1"/>
          </p:cNvSpPr>
          <p:nvPr>
            <p:ph type="ctrTitle"/>
          </p:nvPr>
        </p:nvSpPr>
        <p:spPr/>
        <p:txBody>
          <a:bodyPr/>
          <a:lstStyle/>
          <a:p>
            <a:r>
              <a:rPr lang="en-US" dirty="0"/>
              <a:t>Project</a:t>
            </a:r>
            <a:endParaRPr lang="en-PK" dirty="0"/>
          </a:p>
        </p:txBody>
      </p:sp>
      <p:sp>
        <p:nvSpPr>
          <p:cNvPr id="3" name="Subtitle 2">
            <a:extLst>
              <a:ext uri="{FF2B5EF4-FFF2-40B4-BE49-F238E27FC236}">
                <a16:creationId xmlns:a16="http://schemas.microsoft.com/office/drawing/2014/main" id="{9A542A5A-808A-4634-BD80-06BE33E05D29}"/>
              </a:ext>
            </a:extLst>
          </p:cNvPr>
          <p:cNvSpPr>
            <a:spLocks noGrp="1"/>
          </p:cNvSpPr>
          <p:nvPr>
            <p:ph type="subTitle" idx="1"/>
          </p:nvPr>
        </p:nvSpPr>
        <p:spPr/>
        <p:txBody>
          <a:bodyPr/>
          <a:lstStyle/>
          <a:p>
            <a:r>
              <a:rPr lang="en-US" dirty="0"/>
              <a:t>PRESENTATION</a:t>
            </a:r>
            <a:endParaRPr lang="en-PK" dirty="0"/>
          </a:p>
        </p:txBody>
      </p:sp>
    </p:spTree>
    <p:extLst>
      <p:ext uri="{BB962C8B-B14F-4D97-AF65-F5344CB8AC3E}">
        <p14:creationId xmlns:p14="http://schemas.microsoft.com/office/powerpoint/2010/main" val="3925397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F0B6ED0-8CFC-411A-9AA3-A047F63F4029}"/>
              </a:ext>
            </a:extLst>
          </p:cNvPr>
          <p:cNvSpPr>
            <a:spLocks noGrp="1" noChangeArrowheads="1"/>
          </p:cNvSpPr>
          <p:nvPr>
            <p:ph type="ctrTitle"/>
          </p:nvPr>
        </p:nvSpPr>
        <p:spPr>
          <a:xfrm>
            <a:off x="2133600" y="1066800"/>
            <a:ext cx="8001000" cy="2743200"/>
          </a:xfrm>
        </p:spPr>
        <p:txBody>
          <a:bodyPr anchor="t">
            <a:normAutofit/>
          </a:bodyPr>
          <a:lstStyle/>
          <a:p>
            <a:pPr algn="ctr">
              <a:defRPr/>
            </a:pPr>
            <a:r>
              <a:rPr lang="en-US" sz="4400" dirty="0"/>
              <a:t>Online portal for tracking Seeds Record for Cultivation </a:t>
            </a:r>
          </a:p>
        </p:txBody>
      </p:sp>
      <p:pic>
        <p:nvPicPr>
          <p:cNvPr id="3075" name="Picture 6" descr="C:\Users\usman.waheed\Desktop\vulogo.jpg">
            <a:extLst>
              <a:ext uri="{FF2B5EF4-FFF2-40B4-BE49-F238E27FC236}">
                <a16:creationId xmlns:a16="http://schemas.microsoft.com/office/drawing/2014/main" id="{D358361D-3476-4504-A630-AA4D56A36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831" y="3678573"/>
            <a:ext cx="20145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B62FCD9E-757B-46AC-A1AC-887CAF6D0A75}"/>
              </a:ext>
            </a:extLst>
          </p:cNvPr>
          <p:cNvSpPr>
            <a:spLocks noGrp="1" noChangeArrowheads="1"/>
          </p:cNvSpPr>
          <p:nvPr>
            <p:ph type="title"/>
          </p:nvPr>
        </p:nvSpPr>
        <p:spPr/>
        <p:txBody>
          <a:bodyPr>
            <a:normAutofit fontScale="90000"/>
          </a:bodyPr>
          <a:lstStyle/>
          <a:p>
            <a:pPr eaLnBrk="1" hangingPunct="1">
              <a:defRPr/>
            </a:pPr>
            <a:r>
              <a:rPr lang="en-US" sz="5900" dirty="0">
                <a:solidFill>
                  <a:srgbClr val="0000FF"/>
                </a:solidFill>
              </a:rPr>
              <a:t>Group Members Introduction</a:t>
            </a:r>
          </a:p>
        </p:txBody>
      </p:sp>
      <p:sp>
        <p:nvSpPr>
          <p:cNvPr id="135171" name="Rectangle 3">
            <a:extLst>
              <a:ext uri="{FF2B5EF4-FFF2-40B4-BE49-F238E27FC236}">
                <a16:creationId xmlns:a16="http://schemas.microsoft.com/office/drawing/2014/main" id="{7E30D5F9-5E71-4B75-AA8C-C3F4C96FB626}"/>
              </a:ext>
            </a:extLst>
          </p:cNvPr>
          <p:cNvSpPr>
            <a:spLocks noGrp="1" noChangeArrowheads="1"/>
          </p:cNvSpPr>
          <p:nvPr>
            <p:ph idx="1"/>
          </p:nvPr>
        </p:nvSpPr>
        <p:spPr>
          <a:xfrm>
            <a:off x="1981200" y="2514601"/>
            <a:ext cx="8229600" cy="1179810"/>
          </a:xfrm>
        </p:spPr>
        <p:txBody>
          <a:bodyPr>
            <a:spAutoFit/>
          </a:bodyPr>
          <a:lstStyle/>
          <a:p>
            <a:pPr eaLnBrk="1" hangingPunct="1">
              <a:buFont typeface="Wingdings" panose="05000000000000000000" pitchFamily="2" charset="2"/>
              <a:buNone/>
              <a:defRPr/>
            </a:pPr>
            <a:endParaRPr lang="en-US" dirty="0"/>
          </a:p>
          <a:p>
            <a:pPr eaLnBrk="1" hangingPunct="1">
              <a:buFont typeface="Wingdings" panose="05000000000000000000" pitchFamily="2" charset="2"/>
              <a:buNone/>
              <a:defRPr/>
            </a:pPr>
            <a:endParaRPr lang="en-US" dirty="0"/>
          </a:p>
          <a:p>
            <a:pPr algn="ctr">
              <a:buNone/>
              <a:defRPr/>
            </a:pPr>
            <a:r>
              <a:rPr lang="en-US" dirty="0"/>
              <a:t> (BC230422757)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2899B5D2-53C8-4E35-ACF4-CD24D8BAB869}"/>
              </a:ext>
            </a:extLst>
          </p:cNvPr>
          <p:cNvSpPr>
            <a:spLocks noGrp="1" noChangeArrowheads="1"/>
          </p:cNvSpPr>
          <p:nvPr>
            <p:ph type="ctrTitle"/>
          </p:nvPr>
        </p:nvSpPr>
        <p:spPr>
          <a:xfrm>
            <a:off x="2665828" y="548640"/>
            <a:ext cx="7772400" cy="580292"/>
          </a:xfrm>
        </p:spPr>
        <p:txBody>
          <a:bodyPr>
            <a:normAutofit fontScale="90000"/>
          </a:bodyPr>
          <a:lstStyle/>
          <a:p>
            <a:pPr eaLnBrk="1" hangingPunct="1">
              <a:defRPr/>
            </a:pPr>
            <a:r>
              <a:rPr lang="en-US" sz="3600" dirty="0">
                <a:solidFill>
                  <a:srgbClr val="0000FF"/>
                </a:solidFill>
              </a:rPr>
              <a:t>INTRODUCTION OF PROJECT</a:t>
            </a:r>
            <a:endParaRPr lang="en-US" sz="2800" dirty="0">
              <a:solidFill>
                <a:srgbClr val="0000FF"/>
              </a:solidFill>
            </a:endParaRPr>
          </a:p>
        </p:txBody>
      </p:sp>
      <p:sp>
        <p:nvSpPr>
          <p:cNvPr id="9221" name="Rectangle 5">
            <a:extLst>
              <a:ext uri="{FF2B5EF4-FFF2-40B4-BE49-F238E27FC236}">
                <a16:creationId xmlns:a16="http://schemas.microsoft.com/office/drawing/2014/main" id="{4D9979D8-FFB2-43AE-B6CF-14D54B7CDF64}"/>
              </a:ext>
            </a:extLst>
          </p:cNvPr>
          <p:cNvSpPr>
            <a:spLocks noGrp="1" noChangeArrowheads="1"/>
          </p:cNvSpPr>
          <p:nvPr>
            <p:ph type="subTitle" idx="1"/>
          </p:nvPr>
        </p:nvSpPr>
        <p:spPr>
          <a:xfrm>
            <a:off x="1876425" y="1480624"/>
            <a:ext cx="9208917" cy="4824925"/>
          </a:xfrm>
        </p:spPr>
        <p:txBody>
          <a:bodyPr>
            <a:normAutofit/>
          </a:bodyPr>
          <a:lstStyle/>
          <a:p>
            <a:pPr algn="just"/>
            <a:r>
              <a:rPr lang="en-US" dirty="0"/>
              <a:t>The "Online Portal for Tracking Seeds Record for Cultivation" is a web-based solution tailored to modernize the seed management practices within Pakistan's agricultural sector. Traditional paper-based systems are often inefficient, error-prone, and lack real-time accessibility. This portal addresses these issues by offering a centralized, digital platform where users can view, upload, and manage seed data with ease.</a:t>
            </a:r>
          </a:p>
          <a:p>
            <a:pPr algn="just"/>
            <a:r>
              <a:rPr lang="en-US" dirty="0"/>
              <a:t>It supports diverse stakeholders including farmers, researchers, and agricultural firms by enabling them to track seed origins, assess performance in different climates, and make informed cultivation decisions. The system also facilitates seed transactions and provides secure access controls. With an intuitive interface accessible on both web and mobile devices, the platform ensures a seamless experience even for users with minimal technical knowledge.</a:t>
            </a:r>
            <a:endParaRPr lang="en-US" sz="1800" dirty="0">
              <a:solidFill>
                <a:schemeClr val="tx1"/>
              </a:solidFill>
              <a:effectLst/>
              <a:latin typeface="+mj-lt"/>
              <a:ea typeface="Times New Roman" panose="02020603050405020304" pitchFamily="18" charset="0"/>
            </a:endParaRPr>
          </a:p>
        </p:txBody>
      </p:sp>
    </p:spTree>
    <p:extLst>
      <p:ext uri="{BB962C8B-B14F-4D97-AF65-F5344CB8AC3E}">
        <p14:creationId xmlns:p14="http://schemas.microsoft.com/office/powerpoint/2010/main" val="3566322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Text Box 47">
            <a:extLst>
              <a:ext uri="{FF2B5EF4-FFF2-40B4-BE49-F238E27FC236}">
                <a16:creationId xmlns:a16="http://schemas.microsoft.com/office/drawing/2014/main" id="{15302705-E4BB-4CC8-851A-412E0E0EE58F}"/>
              </a:ext>
            </a:extLst>
          </p:cNvPr>
          <p:cNvSpPr txBox="1">
            <a:spLocks noChangeArrowheads="1"/>
          </p:cNvSpPr>
          <p:nvPr/>
        </p:nvSpPr>
        <p:spPr bwMode="auto">
          <a:xfrm>
            <a:off x="3124200" y="1295401"/>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endParaRPr lang="en-PK" altLang="en-PK"/>
          </a:p>
        </p:txBody>
      </p:sp>
      <p:sp>
        <p:nvSpPr>
          <p:cNvPr id="139312" name="Text Box 48">
            <a:extLst>
              <a:ext uri="{FF2B5EF4-FFF2-40B4-BE49-F238E27FC236}">
                <a16:creationId xmlns:a16="http://schemas.microsoft.com/office/drawing/2014/main" id="{3C2EBF78-70B6-4019-82AC-ACD1FF093C62}"/>
              </a:ext>
            </a:extLst>
          </p:cNvPr>
          <p:cNvSpPr txBox="1">
            <a:spLocks noChangeArrowheads="1"/>
          </p:cNvSpPr>
          <p:nvPr/>
        </p:nvSpPr>
        <p:spPr bwMode="auto">
          <a:xfrm>
            <a:off x="2376551" y="411144"/>
            <a:ext cx="4166862" cy="1292662"/>
          </a:xfrm>
          <a:prstGeom prst="rect">
            <a:avLst/>
          </a:prstGeom>
          <a:noFill/>
          <a:ln w="9525">
            <a:noFill/>
            <a:miter lim="800000"/>
            <a:headEnd/>
            <a:tailEnd/>
          </a:ln>
          <a:effectLst/>
        </p:spPr>
        <p:txBody>
          <a:bodyPr wrap="square">
            <a:spAutoFit/>
          </a:bodyPr>
          <a:lstStyle/>
          <a:p>
            <a:pPr>
              <a:spcBef>
                <a:spcPct val="50000"/>
              </a:spcBef>
              <a:defRPr/>
            </a:pPr>
            <a:r>
              <a:rPr lang="en-US" sz="3600" dirty="0">
                <a:solidFill>
                  <a:srgbClr val="0000FF"/>
                </a:solidFill>
                <a:latin typeface="+mj-lt"/>
              </a:rPr>
              <a:t>VU Process Model</a:t>
            </a:r>
          </a:p>
          <a:p>
            <a:pPr>
              <a:spcBef>
                <a:spcPct val="50000"/>
              </a:spcBef>
              <a:defRPr/>
            </a:pPr>
            <a:endParaRPr lang="en-US" sz="2800" b="1" dirty="0">
              <a:latin typeface="+mj-lt"/>
            </a:endParaRPr>
          </a:p>
        </p:txBody>
      </p:sp>
      <p:pic>
        <p:nvPicPr>
          <p:cNvPr id="5" name="Picture 4" descr="vu process">
            <a:extLst>
              <a:ext uri="{FF2B5EF4-FFF2-40B4-BE49-F238E27FC236}">
                <a16:creationId xmlns:a16="http://schemas.microsoft.com/office/drawing/2014/main" id="{BB779FC9-C6F2-4CD9-AA35-C83A19683CC7}"/>
              </a:ext>
            </a:extLst>
          </p:cNvPr>
          <p:cNvPicPr/>
          <p:nvPr/>
        </p:nvPicPr>
        <p:blipFill>
          <a:blip r:embed="rId2">
            <a:extLst>
              <a:ext uri="{28A0092B-C50C-407E-A947-70E740481C1C}">
                <a14:useLocalDpi xmlns:a14="http://schemas.microsoft.com/office/drawing/2010/main" val="0"/>
              </a:ext>
            </a:extLst>
          </a:blip>
          <a:srcRect l="2449" t="2127" r="1633" b="1891"/>
          <a:stretch>
            <a:fillRect/>
          </a:stretch>
        </p:blipFill>
        <p:spPr bwMode="auto">
          <a:xfrm>
            <a:off x="3857625" y="1495425"/>
            <a:ext cx="5061292" cy="4398938"/>
          </a:xfrm>
          <a:prstGeom prst="rect">
            <a:avLst/>
          </a:prstGeom>
          <a:noFill/>
          <a:ln>
            <a:noFill/>
          </a:ln>
        </p:spPr>
      </p:pic>
    </p:spTree>
  </p:cSld>
  <p:clrMapOvr>
    <a:masterClrMapping/>
  </p:clrMapOvr>
  <p:transition spd="slow">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942CBE18-2310-401C-B342-F995C53D0A37}"/>
              </a:ext>
            </a:extLst>
          </p:cNvPr>
          <p:cNvSpPr>
            <a:spLocks noGrp="1" noChangeArrowheads="1"/>
          </p:cNvSpPr>
          <p:nvPr>
            <p:ph type="ctrTitle"/>
          </p:nvPr>
        </p:nvSpPr>
        <p:spPr>
          <a:xfrm>
            <a:off x="951817" y="182880"/>
            <a:ext cx="4439593" cy="727427"/>
          </a:xfrm>
        </p:spPr>
        <p:txBody>
          <a:bodyPr>
            <a:noAutofit/>
          </a:bodyPr>
          <a:lstStyle/>
          <a:p>
            <a:pPr eaLnBrk="1" hangingPunct="1">
              <a:defRPr/>
            </a:pPr>
            <a:r>
              <a:rPr lang="en-US" sz="3600" dirty="0">
                <a:solidFill>
                  <a:srgbClr val="0000FF"/>
                </a:solidFill>
              </a:rPr>
              <a:t>Use Case Diagram</a:t>
            </a:r>
          </a:p>
        </p:txBody>
      </p:sp>
      <p:sp>
        <p:nvSpPr>
          <p:cNvPr id="4" name="Rectangle 4">
            <a:extLst>
              <a:ext uri="{FF2B5EF4-FFF2-40B4-BE49-F238E27FC236}">
                <a16:creationId xmlns:a16="http://schemas.microsoft.com/office/drawing/2014/main" id="{A94F7DB2-688C-4514-A509-CFB1FAE6CA7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5" name="Picture 4">
            <a:extLst>
              <a:ext uri="{FF2B5EF4-FFF2-40B4-BE49-F238E27FC236}">
                <a16:creationId xmlns:a16="http://schemas.microsoft.com/office/drawing/2014/main" id="{048AB0B7-1A20-47D1-B7C7-ADFFD33D818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593813" y="182880"/>
            <a:ext cx="4633400" cy="64852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a:extLst>
              <a:ext uri="{FF2B5EF4-FFF2-40B4-BE49-F238E27FC236}">
                <a16:creationId xmlns:a16="http://schemas.microsoft.com/office/drawing/2014/main" id="{92065671-43C1-4F74-A5E1-FE14E723063A}"/>
              </a:ext>
            </a:extLst>
          </p:cNvPr>
          <p:cNvSpPr>
            <a:spLocks noGrp="1" noChangeArrowheads="1"/>
          </p:cNvSpPr>
          <p:nvPr>
            <p:ph type="ctrTitle"/>
          </p:nvPr>
        </p:nvSpPr>
        <p:spPr>
          <a:xfrm>
            <a:off x="3048000" y="113492"/>
            <a:ext cx="5446552" cy="591375"/>
          </a:xfrm>
        </p:spPr>
        <p:txBody>
          <a:bodyPr>
            <a:noAutofit/>
          </a:bodyPr>
          <a:lstStyle/>
          <a:p>
            <a:pPr eaLnBrk="1" hangingPunct="1">
              <a:defRPr/>
            </a:pPr>
            <a:r>
              <a:rPr lang="en-US" sz="3600" dirty="0">
                <a:solidFill>
                  <a:srgbClr val="0000FF"/>
                </a:solidFill>
              </a:rPr>
              <a:t>Functional Requirements</a:t>
            </a:r>
          </a:p>
        </p:txBody>
      </p:sp>
      <p:sp>
        <p:nvSpPr>
          <p:cNvPr id="3" name="Subtitle 2">
            <a:extLst>
              <a:ext uri="{FF2B5EF4-FFF2-40B4-BE49-F238E27FC236}">
                <a16:creationId xmlns:a16="http://schemas.microsoft.com/office/drawing/2014/main" id="{50D3C562-DE59-4D9D-96AE-5AAAA114ADE9}"/>
              </a:ext>
            </a:extLst>
          </p:cNvPr>
          <p:cNvSpPr>
            <a:spLocks noGrp="1"/>
          </p:cNvSpPr>
          <p:nvPr>
            <p:ph type="subTitle" idx="1"/>
          </p:nvPr>
        </p:nvSpPr>
        <p:spPr>
          <a:xfrm rot="10800000">
            <a:off x="4643926" y="6391118"/>
            <a:ext cx="6807176" cy="71431"/>
          </a:xfrm>
        </p:spPr>
        <p:txBody>
          <a:bodyPr>
            <a:normAutofit fontScale="25000" lnSpcReduction="20000"/>
          </a:bodyPr>
          <a:lstStyle/>
          <a:p>
            <a:endParaRPr lang="en-US" sz="2800" dirty="0"/>
          </a:p>
          <a:p>
            <a:endParaRPr lang="en-US" dirty="0"/>
          </a:p>
        </p:txBody>
      </p:sp>
      <p:sp>
        <p:nvSpPr>
          <p:cNvPr id="5" name="Rectangle 3">
            <a:extLst>
              <a:ext uri="{FF2B5EF4-FFF2-40B4-BE49-F238E27FC236}">
                <a16:creationId xmlns:a16="http://schemas.microsoft.com/office/drawing/2014/main" id="{752B4900-5530-437D-B8DD-6F51F0A7BFC2}"/>
              </a:ext>
            </a:extLst>
          </p:cNvPr>
          <p:cNvSpPr>
            <a:spLocks noChangeArrowheads="1"/>
          </p:cNvSpPr>
          <p:nvPr/>
        </p:nvSpPr>
        <p:spPr bwMode="auto">
          <a:xfrm rot="10800000" flipV="1">
            <a:off x="2250832" y="981866"/>
            <a:ext cx="920027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mj-lt"/>
              </a:rPr>
              <a:t>End-User: </a:t>
            </a:r>
            <a:endParaRPr lang="en-US" dirty="0">
              <a:latin typeface="+mj-lt"/>
            </a:endParaRPr>
          </a:p>
          <a:p>
            <a:r>
              <a:rPr lang="en-US" dirty="0">
                <a:latin typeface="+mj-lt"/>
              </a:rPr>
              <a:t>➢ The end-user visits the seeds web portal through domain name. </a:t>
            </a:r>
          </a:p>
          <a:p>
            <a:r>
              <a:rPr lang="en-US" dirty="0">
                <a:latin typeface="+mj-lt"/>
              </a:rPr>
              <a:t>➢ The user searches the different categories of seeds. </a:t>
            </a:r>
          </a:p>
          <a:p>
            <a:r>
              <a:rPr lang="en-US" dirty="0">
                <a:latin typeface="+mj-lt"/>
              </a:rPr>
              <a:t>➢ The user searches the required seeds with its full detail. </a:t>
            </a:r>
          </a:p>
          <a:p>
            <a:r>
              <a:rPr lang="en-US" dirty="0">
                <a:latin typeface="+mj-lt"/>
              </a:rPr>
              <a:t>➢ The user can search the seed agent (farmer, Researcher or firm) profile </a:t>
            </a:r>
          </a:p>
          <a:p>
            <a:r>
              <a:rPr lang="en-US" dirty="0">
                <a:latin typeface="+mj-lt"/>
              </a:rPr>
              <a:t>➢ The user can place the order to buy/sell the seeds </a:t>
            </a:r>
          </a:p>
          <a:p>
            <a:r>
              <a:rPr lang="en-US" dirty="0">
                <a:latin typeface="+mj-lt"/>
              </a:rPr>
              <a:t>➢ The user can manage transaction and payment processing </a:t>
            </a:r>
          </a:p>
          <a:p>
            <a:r>
              <a:rPr lang="en-US" b="1" dirty="0">
                <a:latin typeface="+mj-lt"/>
              </a:rPr>
              <a:t>Seed Agent: </a:t>
            </a:r>
            <a:endParaRPr lang="en-US" dirty="0">
              <a:latin typeface="+mj-lt"/>
            </a:endParaRPr>
          </a:p>
          <a:p>
            <a:r>
              <a:rPr lang="en-US" dirty="0">
                <a:latin typeface="+mj-lt"/>
              </a:rPr>
              <a:t>➢ The seed agent will register to the portal first by providing the requisite information on form </a:t>
            </a:r>
          </a:p>
          <a:p>
            <a:r>
              <a:rPr lang="en-US" dirty="0">
                <a:latin typeface="+mj-lt"/>
              </a:rPr>
              <a:t>➢ After Admin approval, the agent can login and upload the seed detail to the portal after </a:t>
            </a:r>
          </a:p>
          <a:p>
            <a:r>
              <a:rPr lang="en-US" dirty="0">
                <a:latin typeface="+mj-lt"/>
              </a:rPr>
              <a:t>authentication </a:t>
            </a:r>
          </a:p>
          <a:p>
            <a:r>
              <a:rPr lang="en-US" dirty="0">
                <a:latin typeface="+mj-lt"/>
              </a:rPr>
              <a:t>➢ Provide relevant contact information </a:t>
            </a:r>
          </a:p>
          <a:p>
            <a:r>
              <a:rPr lang="en-US" dirty="0">
                <a:latin typeface="+mj-lt"/>
              </a:rPr>
              <a:t>➢ Provide online payment methods </a:t>
            </a:r>
          </a:p>
          <a:p>
            <a:r>
              <a:rPr lang="en-US" b="1" dirty="0">
                <a:latin typeface="+mj-lt"/>
              </a:rPr>
              <a:t>Admin: </a:t>
            </a:r>
            <a:endParaRPr lang="en-US" dirty="0">
              <a:latin typeface="+mj-lt"/>
            </a:endParaRPr>
          </a:p>
          <a:p>
            <a:r>
              <a:rPr lang="en-US" dirty="0">
                <a:latin typeface="+mj-lt"/>
              </a:rPr>
              <a:t>➢ The Admin will login to the system </a:t>
            </a:r>
          </a:p>
          <a:p>
            <a:r>
              <a:rPr lang="en-US" dirty="0">
                <a:latin typeface="+mj-lt"/>
              </a:rPr>
              <a:t>➢ The Admin will grant approval to the registered farmers, Researchers, Agriculture centers </a:t>
            </a:r>
          </a:p>
          <a:p>
            <a:r>
              <a:rPr lang="en-US" dirty="0">
                <a:latin typeface="+mj-lt"/>
              </a:rPr>
              <a:t>➢ The Admin will provide user name and password to the farmers, Researchers and Agriculture Centers or firms. </a:t>
            </a:r>
          </a:p>
          <a:p>
            <a:r>
              <a:rPr lang="en-US" dirty="0">
                <a:latin typeface="+mj-lt"/>
              </a:rPr>
              <a:t>➢ The Admin will provide analytical dashboard for making better decisions</a:t>
            </a:r>
          </a:p>
        </p:txBody>
      </p:sp>
      <p:sp>
        <p:nvSpPr>
          <p:cNvPr id="2" name="Rectangle 1">
            <a:extLst>
              <a:ext uri="{FF2B5EF4-FFF2-40B4-BE49-F238E27FC236}">
                <a16:creationId xmlns:a16="http://schemas.microsoft.com/office/drawing/2014/main" id="{8650829A-1006-46B0-AA7F-5708C057574B}"/>
              </a:ext>
            </a:extLst>
          </p:cNvPr>
          <p:cNvSpPr/>
          <p:nvPr/>
        </p:nvSpPr>
        <p:spPr>
          <a:xfrm>
            <a:off x="2723275" y="1017423"/>
            <a:ext cx="7855629" cy="276999"/>
          </a:xfrm>
          <a:prstGeom prst="rect">
            <a:avLst/>
          </a:prstGeom>
        </p:spPr>
        <p:txBody>
          <a:bodyPr wrap="square">
            <a:spAutoFit/>
          </a:bodyPr>
          <a:lstStyle/>
          <a:p>
            <a:pPr marL="457200" marR="0">
              <a:spcBef>
                <a:spcPts val="0"/>
              </a:spcBef>
              <a:spcAft>
                <a:spcPts val="0"/>
              </a:spcAft>
            </a:pPr>
            <a:r>
              <a:rPr lang="en-US" sz="1200" dirty="0">
                <a:latin typeface="Times New Roman" panose="02020603050405020304" pitchFamily="18" charset="0"/>
                <a:ea typeface="Times New Roman" panose="02020603050405020304"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a:extLst>
              <a:ext uri="{FF2B5EF4-FFF2-40B4-BE49-F238E27FC236}">
                <a16:creationId xmlns:a16="http://schemas.microsoft.com/office/drawing/2014/main" id="{3082C84E-DCBA-44F3-8091-F11DC702423C}"/>
              </a:ext>
            </a:extLst>
          </p:cNvPr>
          <p:cNvSpPr>
            <a:spLocks noGrp="1" noChangeArrowheads="1"/>
          </p:cNvSpPr>
          <p:nvPr>
            <p:ph type="title"/>
          </p:nvPr>
        </p:nvSpPr>
        <p:spPr/>
        <p:txBody>
          <a:bodyPr/>
          <a:lstStyle/>
          <a:p>
            <a:pPr eaLnBrk="1" hangingPunct="1">
              <a:defRPr/>
            </a:pPr>
            <a:r>
              <a:rPr lang="en-GB" dirty="0">
                <a:solidFill>
                  <a:srgbClr val="0000FF"/>
                </a:solidFill>
              </a:rPr>
              <a:t>Architectural</a:t>
            </a:r>
            <a:r>
              <a:rPr lang="en-GB" i="1" dirty="0">
                <a:solidFill>
                  <a:srgbClr val="0000FF"/>
                </a:solidFill>
              </a:rPr>
              <a:t> </a:t>
            </a:r>
            <a:r>
              <a:rPr lang="en-GB" dirty="0">
                <a:solidFill>
                  <a:srgbClr val="0000FF"/>
                </a:solidFill>
              </a:rPr>
              <a:t>Design</a:t>
            </a:r>
            <a:endParaRPr lang="en-US" dirty="0">
              <a:solidFill>
                <a:srgbClr val="0000FF"/>
              </a:solidFill>
            </a:endParaRPr>
          </a:p>
        </p:txBody>
      </p:sp>
      <p:sp>
        <p:nvSpPr>
          <p:cNvPr id="9219" name="Rectangle 10">
            <a:extLst>
              <a:ext uri="{FF2B5EF4-FFF2-40B4-BE49-F238E27FC236}">
                <a16:creationId xmlns:a16="http://schemas.microsoft.com/office/drawing/2014/main" id="{B034EEDE-FFF9-478B-8E3C-430257E1963B}"/>
              </a:ext>
            </a:extLst>
          </p:cNvPr>
          <p:cNvSpPr>
            <a:spLocks noChangeArrowheads="1"/>
          </p:cNvSpPr>
          <p:nvPr/>
        </p:nvSpPr>
        <p:spPr bwMode="auto">
          <a:xfrm>
            <a:off x="1524001" y="12012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2" name="Rectangle 2">
            <a:extLst>
              <a:ext uri="{FF2B5EF4-FFF2-40B4-BE49-F238E27FC236}">
                <a16:creationId xmlns:a16="http://schemas.microsoft.com/office/drawing/2014/main" id="{C417E9E2-136E-42F0-A608-F1F7DDD4F5BF}"/>
              </a:ext>
            </a:extLst>
          </p:cNvPr>
          <p:cNvSpPr>
            <a:spLocks noChangeArrowheads="1"/>
          </p:cNvSpPr>
          <p:nvPr/>
        </p:nvSpPr>
        <p:spPr bwMode="auto">
          <a:xfrm>
            <a:off x="5050301" y="1066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120" name="Picture 1">
            <a:extLst>
              <a:ext uri="{FF2B5EF4-FFF2-40B4-BE49-F238E27FC236}">
                <a16:creationId xmlns:a16="http://schemas.microsoft.com/office/drawing/2014/main" id="{6336268F-24AB-43E1-83B1-5BC07E24BA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1661" y="-9525"/>
            <a:ext cx="4019550" cy="686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45E2395F-B67C-4EB8-9FE6-0FB37C57E661}"/>
              </a:ext>
            </a:extLst>
          </p:cNvPr>
          <p:cNvSpPr>
            <a:spLocks noGrp="1" noChangeArrowheads="1"/>
          </p:cNvSpPr>
          <p:nvPr>
            <p:ph type="title"/>
          </p:nvPr>
        </p:nvSpPr>
        <p:spPr/>
        <p:txBody>
          <a:bodyPr/>
          <a:lstStyle/>
          <a:p>
            <a:pPr eaLnBrk="1" hangingPunct="1">
              <a:defRPr/>
            </a:pPr>
            <a:r>
              <a:rPr lang="en-US" dirty="0">
                <a:solidFill>
                  <a:srgbClr val="0000FF"/>
                </a:solidFill>
              </a:rPr>
              <a:t>Team Structure</a:t>
            </a:r>
          </a:p>
        </p:txBody>
      </p:sp>
      <p:sp>
        <p:nvSpPr>
          <p:cNvPr id="3" name="Content Placeholder 2">
            <a:extLst>
              <a:ext uri="{FF2B5EF4-FFF2-40B4-BE49-F238E27FC236}">
                <a16:creationId xmlns:a16="http://schemas.microsoft.com/office/drawing/2014/main" id="{C1CD8E5C-C8D1-479F-BE47-2214C1F66ED2}"/>
              </a:ext>
            </a:extLst>
          </p:cNvPr>
          <p:cNvSpPr>
            <a:spLocks noGrp="1"/>
          </p:cNvSpPr>
          <p:nvPr>
            <p:ph idx="1"/>
          </p:nvPr>
        </p:nvSpPr>
        <p:spPr>
          <a:xfrm>
            <a:off x="2589212" y="2133600"/>
            <a:ext cx="5091748" cy="3777622"/>
          </a:xfrm>
        </p:spPr>
        <p:txBody>
          <a:bodyPr/>
          <a:lstStyle/>
          <a:p>
            <a:r>
              <a:rPr lang="en-US" dirty="0"/>
              <a:t>Supervisor:</a:t>
            </a:r>
          </a:p>
          <a:p>
            <a:pPr lvl="1"/>
            <a:r>
              <a:rPr lang="en-US" dirty="0"/>
              <a:t>Haseeb Kamal</a:t>
            </a:r>
          </a:p>
          <a:p>
            <a:r>
              <a:rPr lang="en-US" dirty="0"/>
              <a:t>Student:</a:t>
            </a:r>
          </a:p>
          <a:p>
            <a:pPr lvl="1"/>
            <a:r>
              <a:rPr lang="en-US" dirty="0"/>
              <a:t>Sadia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4D54C86-D886-47D5-AD12-5B7CB4862CC2}"/>
              </a:ext>
            </a:extLst>
          </p:cNvPr>
          <p:cNvSpPr>
            <a:spLocks noGrp="1" noChangeArrowheads="1"/>
          </p:cNvSpPr>
          <p:nvPr>
            <p:ph type="title"/>
          </p:nvPr>
        </p:nvSpPr>
        <p:spPr/>
        <p:txBody>
          <a:bodyPr/>
          <a:lstStyle/>
          <a:p>
            <a:pPr eaLnBrk="1" hangingPunct="1">
              <a:defRPr/>
            </a:pPr>
            <a:r>
              <a:rPr lang="en-US" dirty="0">
                <a:solidFill>
                  <a:srgbClr val="0000FF"/>
                </a:solidFill>
              </a:rPr>
              <a:t>Project Schedule</a:t>
            </a:r>
          </a:p>
        </p:txBody>
      </p:sp>
      <p:sp>
        <p:nvSpPr>
          <p:cNvPr id="11268" name="Rectangle 5">
            <a:extLst>
              <a:ext uri="{FF2B5EF4-FFF2-40B4-BE49-F238E27FC236}">
                <a16:creationId xmlns:a16="http://schemas.microsoft.com/office/drawing/2014/main" id="{6135079A-CE07-43DA-9B8B-7D69914D52F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pic>
        <p:nvPicPr>
          <p:cNvPr id="4098" name="Picture 2" descr="C:\Users\Usama\AppData\Local\Microsoft\Windows\Clipboard\HistoryData\{4E8DBA18-3522-4EC4-B869-ECBA8701FDEF}\{61714257-75B2-4D22-9D59-97E16276FA58}\ResourceMap\{7775770F-308D-47E5-A861-D9D151EC320E}">
            <a:extLst>
              <a:ext uri="{FF2B5EF4-FFF2-40B4-BE49-F238E27FC236}">
                <a16:creationId xmlns:a16="http://schemas.microsoft.com/office/drawing/2014/main" id="{1F795030-50CB-4607-BA68-CDAF3A5D44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38" y="1262063"/>
            <a:ext cx="8113344" cy="4702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06058" y="158262"/>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3" name="Rectangle 3">
            <a:extLst>
              <a:ext uri="{FF2B5EF4-FFF2-40B4-BE49-F238E27FC236}">
                <a16:creationId xmlns:a16="http://schemas.microsoft.com/office/drawing/2014/main" id="{52B2141C-2581-4D73-9B90-72A398789DD3}"/>
              </a:ext>
            </a:extLst>
          </p:cNvPr>
          <p:cNvSpPr>
            <a:spLocks noChangeArrowheads="1"/>
          </p:cNvSpPr>
          <p:nvPr/>
        </p:nvSpPr>
        <p:spPr bwMode="auto">
          <a:xfrm>
            <a:off x="2853983" y="49859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
        <p:nvSpPr>
          <p:cNvPr id="2" name="Rectangle 4">
            <a:extLst>
              <a:ext uri="{FF2B5EF4-FFF2-40B4-BE49-F238E27FC236}">
                <a16:creationId xmlns:a16="http://schemas.microsoft.com/office/drawing/2014/main" id="{F43C1608-C02C-4A5A-846E-AE30CB44152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Admin:</a:t>
            </a: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50" name="Picture 2" descr="admin sequence">
            <a:extLst>
              <a:ext uri="{FF2B5EF4-FFF2-40B4-BE49-F238E27FC236}">
                <a16:creationId xmlns:a16="http://schemas.microsoft.com/office/drawing/2014/main" id="{118BB094-B134-434F-817D-C50E187E3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834" y="-257175"/>
            <a:ext cx="4543425" cy="711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6878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379385" y="34030"/>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2" name="Picture 2" descr="user sequence diagram">
            <a:extLst>
              <a:ext uri="{FF2B5EF4-FFF2-40B4-BE49-F238E27FC236}">
                <a16:creationId xmlns:a16="http://schemas.microsoft.com/office/drawing/2014/main" id="{76C7CED6-25E6-4882-8CBB-82252D91B7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4381" y="0"/>
            <a:ext cx="4171950" cy="669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284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421588"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5" name="Rectangle 6">
            <a:extLst>
              <a:ext uri="{FF2B5EF4-FFF2-40B4-BE49-F238E27FC236}">
                <a16:creationId xmlns:a16="http://schemas.microsoft.com/office/drawing/2014/main" id="{494E2F50-DD68-4701-810C-129ACFC4A298}"/>
              </a:ext>
            </a:extLst>
          </p:cNvPr>
          <p:cNvSpPr>
            <a:spLocks noChangeArrowheads="1"/>
          </p:cNvSpPr>
          <p:nvPr/>
        </p:nvSpPr>
        <p:spPr bwMode="auto">
          <a:xfrm>
            <a:off x="2475471" y="537686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
        <p:nvSpPr>
          <p:cNvPr id="7" name="Rectangle 7">
            <a:extLst>
              <a:ext uri="{FF2B5EF4-FFF2-40B4-BE49-F238E27FC236}">
                <a16:creationId xmlns:a16="http://schemas.microsoft.com/office/drawing/2014/main" id="{A0B2A9C2-347E-4BEE-9B4C-310CCD146384}"/>
              </a:ext>
            </a:extLst>
          </p:cNvPr>
          <p:cNvSpPr>
            <a:spLocks noChangeArrowheads="1"/>
          </p:cNvSpPr>
          <p:nvPr/>
        </p:nvSpPr>
        <p:spPr bwMode="auto">
          <a:xfrm>
            <a:off x="590550" y="9210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 name="Picture 2" descr="agent sequence diagram">
            <a:extLst>
              <a:ext uri="{FF2B5EF4-FFF2-40B4-BE49-F238E27FC236}">
                <a16:creationId xmlns:a16="http://schemas.microsoft.com/office/drawing/2014/main" id="{7021E900-0F21-48CB-A25A-A774F5EBD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6550" y="26905"/>
            <a:ext cx="4229100" cy="683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1677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75" name="Rectangle 583">
            <a:extLst>
              <a:ext uri="{FF2B5EF4-FFF2-40B4-BE49-F238E27FC236}">
                <a16:creationId xmlns:a16="http://schemas.microsoft.com/office/drawing/2014/main" id="{880F3050-F6A0-4725-ACE3-FA73F174A4E4}"/>
              </a:ext>
            </a:extLst>
          </p:cNvPr>
          <p:cNvSpPr>
            <a:spLocks noGrp="1" noChangeArrowheads="1"/>
          </p:cNvSpPr>
          <p:nvPr>
            <p:ph type="title"/>
          </p:nvPr>
        </p:nvSpPr>
        <p:spPr>
          <a:xfrm>
            <a:off x="555496" y="-99465"/>
            <a:ext cx="8229600" cy="762000"/>
          </a:xfrm>
        </p:spPr>
        <p:txBody>
          <a:bodyPr/>
          <a:lstStyle/>
          <a:p>
            <a:pPr eaLnBrk="1" hangingPunct="1">
              <a:defRPr/>
            </a:pPr>
            <a:r>
              <a:rPr lang="en-US" dirty="0">
                <a:solidFill>
                  <a:srgbClr val="0000FF"/>
                </a:solidFill>
              </a:rPr>
              <a:t>Class Diagram</a:t>
            </a:r>
          </a:p>
        </p:txBody>
      </p:sp>
      <p:sp>
        <p:nvSpPr>
          <p:cNvPr id="13315" name="Rectangle 585">
            <a:extLst>
              <a:ext uri="{FF2B5EF4-FFF2-40B4-BE49-F238E27FC236}">
                <a16:creationId xmlns:a16="http://schemas.microsoft.com/office/drawing/2014/main" id="{21D1A1D8-43C6-4D9F-8CCC-ED032D0C9089}"/>
              </a:ext>
            </a:extLst>
          </p:cNvPr>
          <p:cNvSpPr>
            <a:spLocks noChangeArrowheads="1"/>
          </p:cNvSpPr>
          <p:nvPr/>
        </p:nvSpPr>
        <p:spPr bwMode="auto">
          <a:xfrm>
            <a:off x="1524001" y="11916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 name="Rectangle 4">
            <a:extLst>
              <a:ext uri="{FF2B5EF4-FFF2-40B4-BE49-F238E27FC236}">
                <a16:creationId xmlns:a16="http://schemas.microsoft.com/office/drawing/2014/main" id="{6BE1B781-856B-41D1-9B6C-26B4D77A6B5B}"/>
              </a:ext>
            </a:extLst>
          </p:cNvPr>
          <p:cNvSpPr>
            <a:spLocks noChangeArrowheads="1"/>
          </p:cNvSpPr>
          <p:nvPr/>
        </p:nvSpPr>
        <p:spPr bwMode="auto">
          <a:xfrm>
            <a:off x="6537452" y="3286550"/>
            <a:ext cx="1230172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2" name="Rectangle 72">
            <a:extLst>
              <a:ext uri="{FF2B5EF4-FFF2-40B4-BE49-F238E27FC236}">
                <a16:creationId xmlns:a16="http://schemas.microsoft.com/office/drawing/2014/main" id="{3950D80C-67A8-4EFF-AEA4-193E14FA7E2C}"/>
              </a:ext>
            </a:extLst>
          </p:cNvPr>
          <p:cNvSpPr>
            <a:spLocks noChangeArrowheads="1"/>
          </p:cNvSpPr>
          <p:nvPr/>
        </p:nvSpPr>
        <p:spPr bwMode="auto">
          <a:xfrm>
            <a:off x="153376" y="1677799"/>
            <a:ext cx="1941068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5" name="Rectangle 5">
            <a:extLst>
              <a:ext uri="{FF2B5EF4-FFF2-40B4-BE49-F238E27FC236}">
                <a16:creationId xmlns:a16="http://schemas.microsoft.com/office/drawing/2014/main" id="{BBAA1D13-FF95-4965-929E-F729EEBB7BE3}"/>
              </a:ext>
            </a:extLst>
          </p:cNvPr>
          <p:cNvSpPr>
            <a:spLocks noChangeArrowheads="1"/>
          </p:cNvSpPr>
          <p:nvPr/>
        </p:nvSpPr>
        <p:spPr bwMode="auto">
          <a:xfrm>
            <a:off x="3416300" y="6324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42900" algn="just"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DEF92320-6B3E-4CEB-9A4E-8F05210A1525}"/>
              </a:ext>
            </a:extLst>
          </p:cNvPr>
          <p:cNvSpPr>
            <a:spLocks noChangeArrowheads="1"/>
          </p:cNvSpPr>
          <p:nvPr/>
        </p:nvSpPr>
        <p:spPr bwMode="auto">
          <a:xfrm>
            <a:off x="2569029" y="6324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42900" algn="just"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dirty="0">
              <a:ln>
                <a:noFill/>
              </a:ln>
              <a:solidFill>
                <a:schemeClr val="tx1"/>
              </a:solidFill>
              <a:effectLst/>
              <a:latin typeface="Arial" panose="020B0604020202020204" pitchFamily="34" charset="0"/>
            </a:endParaRPr>
          </a:p>
        </p:txBody>
      </p:sp>
      <p:pic>
        <p:nvPicPr>
          <p:cNvPr id="5122" name="Picture 2">
            <a:extLst>
              <a:ext uri="{FF2B5EF4-FFF2-40B4-BE49-F238E27FC236}">
                <a16:creationId xmlns:a16="http://schemas.microsoft.com/office/drawing/2014/main" id="{60AC35C4-0D2D-4EBE-9C11-C7CE45393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3379" r="33334"/>
          <a:stretch>
            <a:fillRect/>
          </a:stretch>
        </p:blipFill>
        <p:spPr bwMode="auto">
          <a:xfrm>
            <a:off x="4670296" y="1"/>
            <a:ext cx="60483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3170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a:extLst>
              <a:ext uri="{FF2B5EF4-FFF2-40B4-BE49-F238E27FC236}">
                <a16:creationId xmlns:a16="http://schemas.microsoft.com/office/drawing/2014/main" id="{8D3FFA6B-CE06-488F-89B6-07EB93980461}"/>
              </a:ext>
            </a:extLst>
          </p:cNvPr>
          <p:cNvSpPr>
            <a:spLocks noChangeArrowheads="1"/>
          </p:cNvSpPr>
          <p:nvPr/>
        </p:nvSpPr>
        <p:spPr bwMode="auto">
          <a:xfrm>
            <a:off x="1524001" y="15917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339" name="Rectangle 6">
            <a:extLst>
              <a:ext uri="{FF2B5EF4-FFF2-40B4-BE49-F238E27FC236}">
                <a16:creationId xmlns:a16="http://schemas.microsoft.com/office/drawing/2014/main" id="{EE0D7A0C-3E62-4E10-9297-9C68BDA901DB}"/>
              </a:ext>
            </a:extLst>
          </p:cNvPr>
          <p:cNvSpPr>
            <a:spLocks noChangeArrowheads="1"/>
          </p:cNvSpPr>
          <p:nvPr/>
        </p:nvSpPr>
        <p:spPr bwMode="auto">
          <a:xfrm>
            <a:off x="1524001" y="48969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sp>
        <p:nvSpPr>
          <p:cNvPr id="60424" name="Rectangle 8">
            <a:extLst>
              <a:ext uri="{FF2B5EF4-FFF2-40B4-BE49-F238E27FC236}">
                <a16:creationId xmlns:a16="http://schemas.microsoft.com/office/drawing/2014/main" id="{206DC729-3C83-4E2F-A9F5-A91A3D7A9B1F}"/>
              </a:ext>
            </a:extLst>
          </p:cNvPr>
          <p:cNvSpPr>
            <a:spLocks noGrp="1" noChangeArrowheads="1"/>
          </p:cNvSpPr>
          <p:nvPr>
            <p:ph type="title"/>
          </p:nvPr>
        </p:nvSpPr>
        <p:spPr>
          <a:xfrm>
            <a:off x="1524001" y="-66295"/>
            <a:ext cx="8229600" cy="762000"/>
          </a:xfrm>
        </p:spPr>
        <p:txBody>
          <a:bodyPr/>
          <a:lstStyle/>
          <a:p>
            <a:pPr eaLnBrk="1" hangingPunct="1">
              <a:defRPr/>
            </a:pPr>
            <a:r>
              <a:rPr lang="en-US" dirty="0">
                <a:solidFill>
                  <a:srgbClr val="0000FF"/>
                </a:solidFill>
              </a:rPr>
              <a:t>ERD</a:t>
            </a:r>
          </a:p>
        </p:txBody>
      </p:sp>
      <p:sp>
        <p:nvSpPr>
          <p:cNvPr id="2" name="Rectangle 2">
            <a:extLst>
              <a:ext uri="{FF2B5EF4-FFF2-40B4-BE49-F238E27FC236}">
                <a16:creationId xmlns:a16="http://schemas.microsoft.com/office/drawing/2014/main" id="{CE7701EB-2C95-4438-9775-A190738C4602}"/>
              </a:ext>
            </a:extLst>
          </p:cNvPr>
          <p:cNvSpPr>
            <a:spLocks noChangeArrowheads="1"/>
          </p:cNvSpPr>
          <p:nvPr/>
        </p:nvSpPr>
        <p:spPr bwMode="auto">
          <a:xfrm>
            <a:off x="1796905" y="1961079"/>
            <a:ext cx="1818884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pic>
        <p:nvPicPr>
          <p:cNvPr id="1026" name="Picture 2" descr="erd">
            <a:extLst>
              <a:ext uri="{FF2B5EF4-FFF2-40B4-BE49-F238E27FC236}">
                <a16:creationId xmlns:a16="http://schemas.microsoft.com/office/drawing/2014/main" id="{432F95DB-CECC-4BD1-BC8D-00A937D78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336" t="49368"/>
          <a:stretch>
            <a:fillRect/>
          </a:stretch>
        </p:blipFill>
        <p:spPr bwMode="auto">
          <a:xfrm>
            <a:off x="4267274" y="0"/>
            <a:ext cx="7746535" cy="6611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a:extLst>
              <a:ext uri="{FF2B5EF4-FFF2-40B4-BE49-F238E27FC236}">
                <a16:creationId xmlns:a16="http://schemas.microsoft.com/office/drawing/2014/main" id="{EC71CDB6-E057-46BF-8124-811F98C95792}"/>
              </a:ext>
            </a:extLst>
          </p:cNvPr>
          <p:cNvSpPr>
            <a:spLocks noGrp="1" noChangeArrowheads="1"/>
          </p:cNvSpPr>
          <p:nvPr>
            <p:ph type="ctrTitle"/>
          </p:nvPr>
        </p:nvSpPr>
        <p:spPr>
          <a:xfrm>
            <a:off x="1079500" y="88900"/>
            <a:ext cx="3721100" cy="838200"/>
          </a:xfrm>
        </p:spPr>
        <p:txBody>
          <a:bodyPr>
            <a:normAutofit/>
          </a:bodyPr>
          <a:lstStyle/>
          <a:p>
            <a:pPr eaLnBrk="1" hangingPunct="1">
              <a:defRPr/>
            </a:pPr>
            <a:r>
              <a:rPr lang="en-US" sz="3600" dirty="0">
                <a:solidFill>
                  <a:srgbClr val="0000FF"/>
                </a:solidFill>
              </a:rPr>
              <a:t>Database Diagram</a:t>
            </a:r>
          </a:p>
        </p:txBody>
      </p:sp>
      <p:sp>
        <p:nvSpPr>
          <p:cNvPr id="2" name="Rectangle 2">
            <a:extLst>
              <a:ext uri="{FF2B5EF4-FFF2-40B4-BE49-F238E27FC236}">
                <a16:creationId xmlns:a16="http://schemas.microsoft.com/office/drawing/2014/main" id="{80F5E015-B630-4DD0-93AC-1FA4D3DA2C44}"/>
              </a:ext>
            </a:extLst>
          </p:cNvPr>
          <p:cNvSpPr>
            <a:spLocks noChangeArrowheads="1"/>
          </p:cNvSpPr>
          <p:nvPr/>
        </p:nvSpPr>
        <p:spPr bwMode="auto">
          <a:xfrm>
            <a:off x="4965700" y="-165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6146" name="Picture 2" descr="db">
            <a:extLst>
              <a:ext uri="{FF2B5EF4-FFF2-40B4-BE49-F238E27FC236}">
                <a16:creationId xmlns:a16="http://schemas.microsoft.com/office/drawing/2014/main" id="{5704B128-0BF8-47EA-B2EB-C08203824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5700" y="229846"/>
            <a:ext cx="7105650"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209800" y="19050"/>
            <a:ext cx="7772400" cy="838200"/>
          </a:xfrm>
        </p:spPr>
        <p:txBody>
          <a:bodyPr>
            <a:normAutofit/>
          </a:bodyPr>
          <a:lstStyle/>
          <a:p>
            <a:pPr eaLnBrk="1" hangingPunct="1">
              <a:defRPr/>
            </a:pPr>
            <a:r>
              <a:rPr lang="en-US" sz="3600" dirty="0">
                <a:solidFill>
                  <a:srgbClr val="0000FF"/>
                </a:solidFill>
              </a:rPr>
              <a:t>User Interfaces</a:t>
            </a:r>
          </a:p>
        </p:txBody>
      </p:sp>
      <p:pic>
        <p:nvPicPr>
          <p:cNvPr id="6145" name="Picture 1">
            <a:extLst>
              <a:ext uri="{FF2B5EF4-FFF2-40B4-BE49-F238E27FC236}">
                <a16:creationId xmlns:a16="http://schemas.microsoft.com/office/drawing/2014/main" id="{6B240320-AC95-48A8-82DD-88E030A6A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810" y="15354300"/>
            <a:ext cx="5372100" cy="2447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E1E490D9-5DFF-48A7-96D3-3641AA82B686}"/>
              </a:ext>
            </a:extLst>
          </p:cNvPr>
          <p:cNvSpPr>
            <a:spLocks noChangeArrowheads="1"/>
          </p:cNvSpPr>
          <p:nvPr/>
        </p:nvSpPr>
        <p:spPr bwMode="auto">
          <a:xfrm>
            <a:off x="2869810" y="1295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6">
            <a:extLst>
              <a:ext uri="{FF2B5EF4-FFF2-40B4-BE49-F238E27FC236}">
                <a16:creationId xmlns:a16="http://schemas.microsoft.com/office/drawing/2014/main" id="{EC2BBCB2-8D40-4506-AB8D-AF96BD904967}"/>
              </a:ext>
            </a:extLst>
          </p:cNvPr>
          <p:cNvSpPr>
            <a:spLocks noChangeArrowheads="1"/>
          </p:cNvSpPr>
          <p:nvPr/>
        </p:nvSpPr>
        <p:spPr bwMode="auto">
          <a:xfrm>
            <a:off x="2869810" y="4495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7">
            <a:extLst>
              <a:ext uri="{FF2B5EF4-FFF2-40B4-BE49-F238E27FC236}">
                <a16:creationId xmlns:a16="http://schemas.microsoft.com/office/drawing/2014/main" id="{C7C61CC1-180C-45A7-B8AA-E270741C14E5}"/>
              </a:ext>
            </a:extLst>
          </p:cNvPr>
          <p:cNvSpPr>
            <a:spLocks noChangeArrowheads="1"/>
          </p:cNvSpPr>
          <p:nvPr/>
        </p:nvSpPr>
        <p:spPr bwMode="auto">
          <a:xfrm>
            <a:off x="2869810" y="85915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8">
            <a:extLst>
              <a:ext uri="{FF2B5EF4-FFF2-40B4-BE49-F238E27FC236}">
                <a16:creationId xmlns:a16="http://schemas.microsoft.com/office/drawing/2014/main" id="{E81C13AF-968E-42C3-BF1D-065002B1D611}"/>
              </a:ext>
            </a:extLst>
          </p:cNvPr>
          <p:cNvSpPr>
            <a:spLocks noChangeArrowheads="1"/>
          </p:cNvSpPr>
          <p:nvPr/>
        </p:nvSpPr>
        <p:spPr bwMode="auto">
          <a:xfrm>
            <a:off x="2869810" y="148971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9">
            <a:extLst>
              <a:ext uri="{FF2B5EF4-FFF2-40B4-BE49-F238E27FC236}">
                <a16:creationId xmlns:a16="http://schemas.microsoft.com/office/drawing/2014/main" id="{D7C6E495-58AF-409F-9054-C76699CF5C24}"/>
              </a:ext>
            </a:extLst>
          </p:cNvPr>
          <p:cNvSpPr>
            <a:spLocks noChangeArrowheads="1"/>
          </p:cNvSpPr>
          <p:nvPr/>
        </p:nvSpPr>
        <p:spPr bwMode="auto">
          <a:xfrm>
            <a:off x="2869810" y="178022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1" i="0" u="sng"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179E2CC4-95B6-4E2B-BC93-DA8496A91EEF}"/>
              </a:ext>
            </a:extLst>
          </p:cNvPr>
          <p:cNvPicPr>
            <a:picLocks noChangeAspect="1"/>
          </p:cNvPicPr>
          <p:nvPr/>
        </p:nvPicPr>
        <p:blipFill>
          <a:blip r:embed="rId3"/>
          <a:stretch>
            <a:fillRect/>
          </a:stretch>
        </p:blipFill>
        <p:spPr>
          <a:xfrm>
            <a:off x="112541" y="996380"/>
            <a:ext cx="12192000" cy="55700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3" name="Picture 2">
            <a:extLst>
              <a:ext uri="{FF2B5EF4-FFF2-40B4-BE49-F238E27FC236}">
                <a16:creationId xmlns:a16="http://schemas.microsoft.com/office/drawing/2014/main" id="{B656B9E5-ED8B-48AB-9030-FE67B5336AF7}"/>
              </a:ext>
            </a:extLst>
          </p:cNvPr>
          <p:cNvPicPr>
            <a:picLocks noChangeAspect="1"/>
          </p:cNvPicPr>
          <p:nvPr/>
        </p:nvPicPr>
        <p:blipFill>
          <a:blip r:embed="rId2"/>
          <a:stretch>
            <a:fillRect/>
          </a:stretch>
        </p:blipFill>
        <p:spPr>
          <a:xfrm>
            <a:off x="5665617" y="828675"/>
            <a:ext cx="4743450" cy="5200650"/>
          </a:xfrm>
          <a:prstGeom prst="rect">
            <a:avLst/>
          </a:prstGeom>
        </p:spPr>
      </p:pic>
    </p:spTree>
    <p:extLst>
      <p:ext uri="{BB962C8B-B14F-4D97-AF65-F5344CB8AC3E}">
        <p14:creationId xmlns:p14="http://schemas.microsoft.com/office/powerpoint/2010/main" val="1053115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1992923" y="0"/>
            <a:ext cx="7772400" cy="838200"/>
          </a:xfrm>
        </p:spPr>
        <p:txBody>
          <a:bodyPr>
            <a:normAutofit/>
          </a:bodyPr>
          <a:lstStyle/>
          <a:p>
            <a:pPr eaLnBrk="1" hangingPunct="1">
              <a:defRPr/>
            </a:pPr>
            <a:r>
              <a:rPr lang="en-US" sz="3600" dirty="0">
                <a:solidFill>
                  <a:srgbClr val="0000FF"/>
                </a:solidFill>
              </a:rPr>
              <a:t>User Interfaces</a:t>
            </a:r>
          </a:p>
        </p:txBody>
      </p:sp>
      <p:pic>
        <p:nvPicPr>
          <p:cNvPr id="3" name="Picture 2">
            <a:extLst>
              <a:ext uri="{FF2B5EF4-FFF2-40B4-BE49-F238E27FC236}">
                <a16:creationId xmlns:a16="http://schemas.microsoft.com/office/drawing/2014/main" id="{80733DC4-4926-48EA-B03E-0AC4A1A4C81B}"/>
              </a:ext>
            </a:extLst>
          </p:cNvPr>
          <p:cNvPicPr>
            <a:picLocks noChangeAspect="1"/>
          </p:cNvPicPr>
          <p:nvPr/>
        </p:nvPicPr>
        <p:blipFill>
          <a:blip r:embed="rId2"/>
          <a:stretch>
            <a:fillRect/>
          </a:stretch>
        </p:blipFill>
        <p:spPr>
          <a:xfrm>
            <a:off x="0" y="777356"/>
            <a:ext cx="12192000" cy="5303288"/>
          </a:xfrm>
          <a:prstGeom prst="rect">
            <a:avLst/>
          </a:prstGeom>
        </p:spPr>
      </p:pic>
    </p:spTree>
    <p:extLst>
      <p:ext uri="{BB962C8B-B14F-4D97-AF65-F5344CB8AC3E}">
        <p14:creationId xmlns:p14="http://schemas.microsoft.com/office/powerpoint/2010/main" val="955541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2592198" y="1166070"/>
            <a:ext cx="8560076" cy="1108046"/>
          </a:xfrm>
        </p:spPr>
        <p:txBody>
          <a:bodyPr/>
          <a:lstStyle/>
          <a:p>
            <a:pPr eaLnBrk="1" hangingPunct="1">
              <a:defRPr/>
            </a:pPr>
            <a:r>
              <a:rPr lang="en-US" dirty="0">
                <a:solidFill>
                  <a:srgbClr val="0000FF"/>
                </a:solidFill>
              </a:rPr>
              <a:t>Tools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eaLnBrk="1" hangingPunct="1">
              <a:defRPr/>
            </a:pPr>
            <a:r>
              <a:rPr lang="en-US" b="1" dirty="0"/>
              <a:t>Languages: </a:t>
            </a:r>
            <a:r>
              <a:rPr lang="en-US" dirty="0"/>
              <a:t>HTML, CSS</a:t>
            </a:r>
            <a:r>
              <a:rPr lang="en-US"/>
              <a:t>, PHP</a:t>
            </a:r>
            <a:endParaRPr lang="en-US" dirty="0"/>
          </a:p>
          <a:p>
            <a:pPr eaLnBrk="1" hangingPunct="1">
              <a:defRPr/>
            </a:pPr>
            <a:r>
              <a:rPr lang="en-US" b="1" dirty="0"/>
              <a:t>Database Tool: </a:t>
            </a:r>
            <a:r>
              <a:rPr lang="en-US" dirty="0" err="1"/>
              <a:t>MySql</a:t>
            </a:r>
            <a:endParaRPr lang="en-US" dirty="0"/>
          </a:p>
          <a:p>
            <a:pPr eaLnBrk="1" hangingPunct="1">
              <a:defRPr/>
            </a:pPr>
            <a:r>
              <a:rPr lang="en-US" b="1" dirty="0"/>
              <a:t>Other Tools: </a:t>
            </a:r>
            <a:r>
              <a:rPr lang="en-US" dirty="0"/>
              <a:t>Microsoft Office (Word, Visio, PowerPoint, MS Project) + VS Code</a:t>
            </a:r>
          </a:p>
          <a:p>
            <a:pPr eaLnBrk="1" hangingPunct="1">
              <a:defRPr/>
            </a:pPr>
            <a:endParaRPr lang="en-US" dirty="0"/>
          </a:p>
          <a:p>
            <a:pPr marL="0" indent="0" eaLnBrk="1" hangingPunct="1">
              <a:buNone/>
              <a:defRPr/>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3859662" y="1577129"/>
            <a:ext cx="4932000" cy="3322041"/>
          </a:xfrm>
        </p:spPr>
        <p:txBody>
          <a:bodyPr>
            <a:normAutofit/>
          </a:bodyPr>
          <a:lstStyle/>
          <a:p>
            <a:pPr eaLnBrk="1" hangingPunct="1">
              <a:defRPr/>
            </a:pPr>
            <a:r>
              <a:rPr lang="en-US" sz="8800" dirty="0"/>
              <a:t>THANKS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marL="0" indent="0" eaLnBrk="1" hangingPunct="1">
              <a:buNone/>
              <a:defRPr/>
            </a:pPr>
            <a:endParaRPr lang="en-US" dirty="0"/>
          </a:p>
        </p:txBody>
      </p:sp>
    </p:spTree>
    <p:extLst>
      <p:ext uri="{BB962C8B-B14F-4D97-AF65-F5344CB8AC3E}">
        <p14:creationId xmlns:p14="http://schemas.microsoft.com/office/powerpoint/2010/main" val="233727955"/>
      </p:ext>
    </p:extLst>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307</TotalTime>
  <Words>410</Words>
  <Application>Microsoft Office PowerPoint</Application>
  <PresentationFormat>Widescreen</PresentationFormat>
  <Paragraphs>59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Tahoma</vt:lpstr>
      <vt:lpstr>Times New Roman</vt:lpstr>
      <vt:lpstr>Wingdings</vt:lpstr>
      <vt:lpstr>Wingdings 3</vt:lpstr>
      <vt:lpstr>Wisp</vt:lpstr>
      <vt:lpstr>PowerPoint Presentation</vt:lpstr>
      <vt:lpstr>Project</vt:lpstr>
      <vt:lpstr>Online portal for tracking Seeds Record for Cultivation </vt:lpstr>
      <vt:lpstr>Group Members Introduction</vt:lpstr>
      <vt:lpstr>INTRODUCTION OF PROJECT</vt:lpstr>
      <vt:lpstr>PowerPoint Presentation</vt:lpstr>
      <vt:lpstr>Use Case Diagram</vt:lpstr>
      <vt:lpstr>Functional Requirements</vt:lpstr>
      <vt:lpstr>Architectural Design</vt:lpstr>
      <vt:lpstr>Team Structure</vt:lpstr>
      <vt:lpstr>Project Schedule</vt:lpstr>
      <vt:lpstr>Sequence Diagrams</vt:lpstr>
      <vt:lpstr>Sequence Diagrams</vt:lpstr>
      <vt:lpstr>Sequence Diagrams</vt:lpstr>
      <vt:lpstr>Class Diagram</vt:lpstr>
      <vt:lpstr>ERD</vt:lpstr>
      <vt:lpstr>Database Diagram</vt:lpstr>
      <vt:lpstr>User Interfaces</vt:lpstr>
      <vt:lpstr>User Interfaces</vt:lpstr>
      <vt:lpstr>User Interfaces</vt:lpstr>
      <vt:lpstr>Tools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Nimra Shafaqat</dc:creator>
  <cp:lastModifiedBy>Usama</cp:lastModifiedBy>
  <cp:revision>287</cp:revision>
  <dcterms:created xsi:type="dcterms:W3CDTF">2024-05-09T09:05:37Z</dcterms:created>
  <dcterms:modified xsi:type="dcterms:W3CDTF">2025-11-22T19:13:14Z</dcterms:modified>
</cp:coreProperties>
</file>